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8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441"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question: Does the application need plain text, exact positions, or structured fields?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concept before showing commands. A virtual environment keeps this course setup separate from other Python projects. It is a directory, not a service, and deactivation does not delete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direct visual inspection before adding complexity.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concept before showing commands. A virtual environment keeps this course setup separate from other Python projects. It is a directory, not a service, and deactivation does not delete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python opens the Microsoft Store or is not recognized, disable the Windows App Installer aliases for python.exe and python3.exe, then reopen PowerShell. The general PaddlePaddle installation guide currently lists Python 3.9 through 3.13. The exact PaddlePaddle 3.2.0 release provides Windows x86-64 wheels for Python 3.9 through 3.12, so the course standardizes on Python 3.11.</a:t>
            </a:r>
          </a:p>
          <a:p>
            <a:endParaRPr/>
          </a:p>
          <a:p>
            <a:r>
              <a:t>[Sources]</a:t>
            </a:r>
          </a:p>
          <a:p>
            <a:r>
              <a:t>- Python downloads for Windows: https://www.python.org/downloads/windows/</a:t>
            </a:r>
          </a:p>
          <a:p>
            <a:r>
              <a:t>- PaddlePaddle installation guide: https://www.paddlepaddle.org.cn/documentation/docs/en/install/index_en.html</a:t>
            </a:r>
          </a:p>
          <a:p>
            <a:r>
              <a:t>- PaddlePaddle 3.2.0 files: https://pypi.org/project/paddlepaddle/3.2.0/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these commands in PowerShell. If python is unknown, select or install Python 3.11 before continuing. The environment is placed outside the long project path because PaddlePaddle contains deeply nested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Verification prevents packages from accidentally being installed into the Microsoft Store Python location or another global interpreter. The execution-policy change applies only to the current PowerShell process.</a:t>
            </a:r>
            <a:endParaRPr lang="de-DE" dirty="0"/>
          </a:p>
          <a:p>
            <a:endParaRPr lang="de-DE" dirty="0"/>
          </a:p>
          <a:p>
            <a:r>
              <a:rPr lang="de-DE" dirty="0"/>
              <a:t>Der Befehl startet Python und führt direkt den kleinen Code hinter -c aus:</a:t>
            </a:r>
          </a:p>
          <a:p>
            <a:pPr rtl="0"/>
            <a:r>
              <a:rPr lang="de-DE" dirty="0" err="1"/>
              <a:t>python</a:t>
            </a:r>
            <a:r>
              <a:rPr lang="de-DE" dirty="0"/>
              <a:t> -c "</a:t>
            </a:r>
            <a:r>
              <a:rPr lang="de-DE" dirty="0" err="1"/>
              <a:t>import</a:t>
            </a:r>
            <a:r>
              <a:rPr lang="de-DE" dirty="0"/>
              <a:t> </a:t>
            </a:r>
            <a:r>
              <a:rPr lang="de-DE" dirty="0" err="1"/>
              <a:t>sys</a:t>
            </a:r>
            <a:r>
              <a:rPr lang="de-DE" dirty="0"/>
              <a:t>; </a:t>
            </a:r>
            <a:r>
              <a:rPr lang="de-DE" dirty="0" err="1"/>
              <a:t>print</a:t>
            </a:r>
            <a:r>
              <a:rPr lang="de-DE" dirty="0"/>
              <a:t>(</a:t>
            </a:r>
            <a:r>
              <a:rPr lang="de-DE" dirty="0" err="1"/>
              <a:t>sys.executable</a:t>
            </a:r>
            <a:r>
              <a:rPr lang="de-DE" dirty="0"/>
              <a:t>)"</a:t>
            </a:r>
          </a:p>
          <a:p>
            <a:r>
              <a:rPr lang="de-DE" dirty="0" err="1"/>
              <a:t>sys.executable</a:t>
            </a:r>
            <a:r>
              <a:rPr lang="de-DE" dirty="0"/>
              <a:t> zeigt den vollständigen Pfad zu genau dem Python-Interpreter, der gerade verwendet wird.</a:t>
            </a:r>
          </a:p>
          <a:p>
            <a:r>
              <a:rPr lang="de-DE" dirty="0"/>
              <a:t>In deiner aktivierten Umgebung </a:t>
            </a:r>
            <a:r>
              <a:rPr lang="de-DE" dirty="0" err="1"/>
              <a:t>here</a:t>
            </a:r>
            <a:r>
              <a:rPr lang="de-DE" dirty="0"/>
              <a:t> sollte ungefähr so etwas erscheinen:</a:t>
            </a:r>
          </a:p>
          <a:p>
            <a:pPr rtl="0"/>
            <a:r>
              <a:rPr lang="de-DE" dirty="0"/>
              <a:t>C:\Users\katha\Dropbox\06 Programmieren\26_plan_archive-test\</a:t>
            </a:r>
            <a:r>
              <a:rPr lang="de-DE" dirty="0" err="1"/>
              <a:t>here</a:t>
            </a:r>
            <a:r>
              <a:rPr lang="de-DE" dirty="0"/>
              <a:t>\Scripts\python.exe</a:t>
            </a:r>
          </a:p>
          <a:p>
            <a:r>
              <a:rPr lang="de-DE" dirty="0"/>
              <a:t>Damit kannst du prüfen, ob wirklich das Python aus deiner virtuellen Umgebung verwendet wird und nicht irgendeine globale Python-Installation.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PowerShell in the ocr_examples directory before installing. requirements.txt selects the CPU package index and the packages required by the three course scripts.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VS Code uses the selected interpreter for running files and debugging. Existing terminals may still point to the previous interpreter, so open a new terminal after the selection.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run may download model files. Every script locates the included synthetic example.png relative to its own file. Students can reactivate the saved environment later with C:\venvs\paddleocr\Scripts\Activate.ps1.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library contains reusable code that students import into a script. PaddleOCR provides the Python interface for configuring and running its OCR pipeline.</a:t>
            </a:r>
          </a:p>
          <a:p>
            <a:endParaRPr/>
          </a:p>
          <a:p>
            <a:r>
              <a:t>[Sources]</a:t>
            </a:r>
          </a:p>
          <a:p>
            <a:r>
              <a:t>- PaddleOCR Quick Start: https://www.paddleocr.ai/main/en/quick_start.html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install two related Python packages. PaddleOCR provides the high-level OCR interface. PaddlePaddle supplies the numerical runtime that executes the models on the CPU.</a:t>
            </a:r>
          </a:p>
          <a:p>
            <a:endParaRPr/>
          </a:p>
          <a:p>
            <a:r>
              <a:t>[Sources]</a:t>
            </a:r>
          </a:p>
          <a:p>
            <a:r>
              <a:t>- PaddleOCR installation: https://www.paddleocr.ai/main/en/version3.x/installation.html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script exposes the smallest working PaddleOCR program. The optional orientation and document preprocessing modules stay disabled to keep the first run focused.</a:t>
            </a:r>
          </a:p>
          <a:p>
            <a:endParaRPr/>
          </a:p>
          <a:p>
            <a:r>
              <a:t>[Sources]</a:t>
            </a:r>
          </a:p>
          <a:p>
            <a:r>
              <a:t>- PaddleOCR Quick Start: https://www.paddleocr.ai/main/en/quick_start.html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script keeps PaddleOCR's native result format and visualization. These files help students inspect the pipeline before transforming the output into a course-specific evidence schema.</a:t>
            </a:r>
          </a:p>
          <a:p>
            <a:endParaRPr/>
          </a:p>
          <a:p>
            <a:r>
              <a:t>[Sources]</a:t>
            </a:r>
          </a:p>
          <a:p>
            <a:r>
              <a:t>- PaddleOCR result export: https://www.paddleocr.ai/main/en/version3.x/module_usage/text_recognition.html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Preserve original image coordinates. They enable overlays, error analysis, and traceability.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Preprocessing may help or destroy characters. Measure its effect instead of assuming it is beneficial.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third script converts </a:t>
            </a:r>
            <a:r>
              <a:rPr dirty="0" err="1"/>
              <a:t>PaddleOCR's</a:t>
            </a:r>
            <a:r>
              <a:rPr dirty="0"/>
              <a:t> native arrays into a small evidence schema while preserving the original polygon coordinates. Raw output remains separate. Evidence, later interpretation, and final results remain separate stages.</a:t>
            </a:r>
            <a:endParaRPr lang="de-DE" dirty="0"/>
          </a:p>
          <a:p>
            <a:r>
              <a:rPr lang="de-DE" dirty="0"/>
              <a:t>(reduzierte Infos – nur was gebraucht wird)</a:t>
            </a:r>
          </a:p>
          <a:p>
            <a:r>
              <a:rPr lang="de-DE" dirty="0" err="1"/>
              <a:t>use_doc_orientation_classify</a:t>
            </a:r>
            <a:r>
              <a:rPr lang="de-DE" dirty="0"/>
              <a:t>: Erkennt, ob das gesamte Dokument z. B. um 90°, 180° oder 270° gedreht ist, und korrigiert die Orientierung vor der OCR. True ist sinnvoll bei Scans/Fotos, die falsch gedreht sein können.</a:t>
            </a:r>
          </a:p>
          <a:p>
            <a:r>
              <a:rPr lang="de-DE" dirty="0" err="1"/>
              <a:t>use_doc_unwarping</a:t>
            </a:r>
            <a:r>
              <a:rPr lang="de-DE" dirty="0"/>
              <a:t>: Versucht geometrische Verzerrungen des Dokuments zu korrigieren, etwa fotografierte, perspektivisch verzerrte oder gebogene Seiten. Bei einem normalen geraden Scan bringt das meist wenig und kostet zusätzliche Rechenzeit.</a:t>
            </a:r>
          </a:p>
          <a:p>
            <a:r>
              <a:rPr lang="de-DE" dirty="0" err="1"/>
              <a:t>use_textline_orientation</a:t>
            </a:r>
            <a:r>
              <a:rPr lang="de-DE" dirty="0"/>
              <a:t>: Prüft die Orientierung einzelner Textzeilen. Das hilft beispielsweise bei kopfstehendem oder unterschiedlich orientiertem Text.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OCR as a small machine-learning workflow: inputs, preprocessing, inference, ground truth comparison, and error analysis. The exact percentages of effort vary by project, so focus on the principle rather than inventing a fixed ratio.</a:t>
            </a:r>
          </a:p>
          <a:p>
            <a:endParaRPr/>
          </a:p>
          <a:p>
            <a:r>
              <a:t>[Sources]</a:t>
            </a:r>
          </a:p>
          <a:p>
            <a:r>
              <a:t>- OCR-D Quality Assurance: https://ocr-d.de/en/spec/ocrd_eval.html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Difficult images may benefit from explicit preprocessing. Examples include rescaling, binarization, noise removal, dilation or erosion, and deskewing. Never overwrite the original image. Store derived variants separately.</a:t>
            </a:r>
          </a:p>
          <a:p>
            <a:endParaRPr/>
          </a:p>
          <a:p>
            <a:r>
              <a:t>[Sources]</a:t>
            </a:r>
          </a:p>
          <a:p>
            <a:r>
              <a:t>- OpenCV Image Thresholding: https://docs.opencv.org/4.12.0/d7/d4d/tutorial_py_thresholding.html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Examples of postprocessing include Unicode normalization, whitespace cleanup, locale-aware number parsing, token merging, field matching, dictionaries, and validation rules. Preserve Evidence → Resolver → Result: raw OCR remains immutable evidence; corrections and interpretations create new derived data.</a:t>
            </a:r>
          </a:p>
          <a:p>
            <a:endParaRPr/>
          </a:p>
          <a:p>
            <a:r>
              <a:t>[Sources]</a:t>
            </a:r>
          </a:p>
          <a:p>
            <a:r>
              <a:t>- OCR-D Quality Assurance and normalization: https://ocr-d.de/en/spec/ocrd_eval.html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Ground truth is the reference annotation used to judge OCR predictions. It may contain text, regions, coordinates, field labels, or all of these. For this course, create only synthetic ground truth inside the repository.</a:t>
            </a:r>
          </a:p>
          <a:p>
            <a:endParaRPr/>
          </a:p>
          <a:p>
            <a:r>
              <a:t>[Sources]</a:t>
            </a:r>
          </a:p>
          <a:p>
            <a:r>
              <a:t>- OCR-D Ground Truth Guidelines: https://ocr-d.de/en/gt-guidelines/trans/</a:t>
            </a:r>
          </a:p>
          <a:p>
            <a:r>
              <a:t>- OCR-D Quality Assurance: https://ocr-d.de/en/spec/ocrd_eval.html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useful evaluation is repeatable and localizes errors. Normalize ground truth and predictions in the same way before comparing them. Separate a development set used for tuning from a final test set when the exercise grows.</a:t>
            </a:r>
          </a:p>
          <a:p>
            <a:endParaRPr/>
          </a:p>
          <a:p>
            <a:r>
              <a:t>[Sources]</a:t>
            </a:r>
          </a:p>
          <a:p>
            <a:r>
              <a:t>- OCR-D Quality Assurance: https://ocr-d.de/en/spec/ocrd_eval.html</a:t>
            </a:r>
          </a:p>
          <a:p>
            <a:r>
              <a:t>- OCR-D Evaluation Workflow: https://ocr-d.de/en/workflows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TP means true positive, FP false positive, and FN false negative. F1 is the harmonic mean and reaches 1 only when both precision and recall are high. Always state the evaluation unit and matching rule.</a:t>
            </a:r>
          </a:p>
          <a:p>
            <a:endParaRPr/>
          </a:p>
          <a:p>
            <a:r>
              <a:t>[Sources]</a:t>
            </a:r>
          </a:p>
          <a:p>
            <a:r>
              <a:t>- scikit-learn precision, recall and F-score documentation: https://scikit-learn.org/stable/modules/generated/sklearn.metrics.precision_recall_fscore_support.html</a:t>
            </a:r>
          </a:p>
          <a:p>
            <a:r>
              <a:t>- OCR-D Quality Assurance: https://ocr-d.de/en/spec/ocrd_eval.html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five cases. Images 1 and 2 are true positives. Image 3 is a true negative because neither ground truth nor OCR contains a TOTAL field. Image 4 is a false positive: SUBTOTAL was incorrectly returned as TOTAL. Image 5 is a false negative: the faint TOTAL field was missed.</a:t>
            </a:r>
          </a:p>
          <a:p>
            <a:endParaRPr/>
          </a:p>
          <a:p>
            <a:r>
              <a:t>[Sources]</a:t>
            </a:r>
          </a:p>
          <a:p>
            <a:r>
              <a:t>- Synthetic course dataset: deliverables/fscore_dataset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each number directly to the preceding slide. Precision asks how reliable positive predictions are. Recall asks how many real positives were found. F1 balances both. TN is excluded, which is why accuracy and F1 answer different questions.</a:t>
            </a:r>
          </a:p>
          <a:p>
            <a:endParaRPr/>
          </a:p>
          <a:p>
            <a:r>
              <a:t>[Sources]</a:t>
            </a:r>
          </a:p>
          <a:p>
            <a:r>
              <a:t>- scikit-learn precision, recall and F-score documentation: https://scikit-learn.org/stable/modules/generated/sklearn.metrics.precision_recall_fscore_support.html</a:t>
            </a:r>
          </a:p>
          <a:p>
            <a:r>
              <a:t>- Synthetic course dataset: deliverables/fscore_dataset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PaddleOCR provides the common starting point for the exercise. Students do not need to install every alternative. The final section signals that OCR engines remain replaceable and that a fair comparison requires identical inputs, ground truth, preprocessing conditions, and metrics.</a:t>
            </a:r>
          </a:p>
          <a:p>
            <a:endParaRPr/>
          </a:p>
          <a:p>
            <a:r>
              <a:t>[Sources]</a:t>
            </a:r>
          </a:p>
          <a:p>
            <a:r>
              <a:t>- PaddleOCR Quick Start: https://www.paddleocr.ai/main/en/quick_start.html</a:t>
            </a:r>
          </a:p>
          <a:p>
            <a:r>
              <a:t>- Tesseract documentation: https://tesseract-ocr.github.io/tessdoc/</a:t>
            </a:r>
          </a:p>
          <a:p>
            <a:r>
              <a:t>- EasyOCR repository: https://github.com/JaidedAI/EasyOCR</a:t>
            </a:r>
          </a:p>
          <a:p>
            <a:r>
              <a:t>- docTR documentation: https://mindee.github.io/doctr/</a:t>
            </a:r>
          </a:p>
          <a:p>
            <a:r>
              <a:t>- Kraken documentation: https://kraken.re/main/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PaddleOCR provides the common starting point for the exercise. Students do not need to install every alternative. The final section signals that OCR engines remain replaceable and that a fair comparison requires identical inputs, ground truth, preprocessing conditions, and metrics.</a:t>
            </a:r>
          </a:p>
          <a:p>
            <a:endParaRPr/>
          </a:p>
          <a:p>
            <a:r>
              <a:t>[Sources]</a:t>
            </a:r>
          </a:p>
          <a:p>
            <a:r>
              <a:t>- PaddleOCR Quick Start: https://www.paddleocr.ai/main/en/quick_start.html</a:t>
            </a:r>
          </a:p>
          <a:p>
            <a:r>
              <a:t>- Tesseract documentation: https://tesseract-ocr.github.io/tessdoc/</a:t>
            </a:r>
          </a:p>
          <a:p>
            <a:r>
              <a:t>- EasyOCR repository: https://github.com/JaidedAI/EasyOCR</a:t>
            </a:r>
          </a:p>
          <a:p>
            <a:r>
              <a:t>- docTR documentation: https://mindee.github.io/doctr/</a:t>
            </a:r>
          </a:p>
          <a:p>
            <a:r>
              <a:t>- Kraken documentation: https://kraken.re/main/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PaddleOCR provides the common starting point for the exercise. Students do not need to install every alternative. The final section signals that OCR engines remain replaceable and that a fair comparison requires identical inputs, ground truth, preprocessing conditions, and metrics.</a:t>
            </a:r>
          </a:p>
          <a:p>
            <a:endParaRPr/>
          </a:p>
          <a:p>
            <a:r>
              <a:t>[Sources]</a:t>
            </a:r>
          </a:p>
          <a:p>
            <a:r>
              <a:t>- PaddleOCR Quick Start: https://www.paddleocr.ai/main/en/quick_start.html</a:t>
            </a:r>
          </a:p>
          <a:p>
            <a:r>
              <a:t>- Tesseract documentation: https://tesseract-ocr.github.io/tessdoc/</a:t>
            </a:r>
          </a:p>
          <a:p>
            <a:r>
              <a:t>- EasyOCR repository: https://github.com/JaidedAI/EasyOCR</a:t>
            </a:r>
          </a:p>
          <a:p>
            <a:r>
              <a:t>- docTR documentation: https://mindee.github.io/doctr/</a:t>
            </a:r>
          </a:p>
          <a:p>
            <a:r>
              <a:t>- Kraken documentation: https://kraken.re/main/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eyebrow">
            <a:extLst>
              <a:ext uri="{FF2B5EF4-FFF2-40B4-BE49-F238E27FC236}">
                <a16:creationId xmlns:a16="http://schemas.microsoft.com/office/drawing/2014/main" id="{75910AE4-2D63-43FE-BBFC-A8A722D661FE}"/>
              </a:ext>
            </a:extLst>
          </p:cNvPr>
          <p:cNvSpPr>
            <a:spLocks noGrp="1"/>
          </p:cNvSpPr>
          <p:nvPr/>
        </p:nvSpPr>
        <p:spPr>
          <a:xfrm>
            <a:off x="419100" y="361950"/>
            <a:ext cx="4953000" cy="266700"/>
          </a:xfrm>
          <a:prstGeom prst="rect">
            <a:avLst/>
          </a:prstGeom>
          <a:noFill/>
          <a:ln w="0">
            <a:noFill/>
            <a:prstDash val="solid"/>
          </a:ln>
        </p:spPr>
        <p:txBody>
          <a:bodyPr lIns="0" tIns="0" rIns="0" bIns="0" anchor="ctr">
            <a:normAutofit/>
          </a:bodyPr>
          <a:lstStyle/>
          <a:p>
            <a:pPr algn="l">
              <a:defRPr sz="1200" b="1">
                <a:solidFill>
                  <a:srgbClr val="62666D"/>
                </a:solidFill>
                <a:latin typeface="Arial"/>
                <a:ea typeface="Arial"/>
                <a:cs typeface="Arial"/>
              </a:defRPr>
            </a:pPr>
            <a:r>
              <a:rPr sz="1200" b="1">
                <a:solidFill>
                  <a:srgbClr val="62666D"/>
                </a:solidFill>
                <a:latin typeface="Arial"/>
                <a:ea typeface="Arial"/>
                <a:cs typeface="Arial"/>
              </a:rPr>
              <a:t>IMAGE → TEXT → EVIDENCE</a:t>
            </a:r>
          </a:p>
        </p:txBody>
      </p:sp>
      <p:sp>
        <p:nvSpPr>
          <p:cNvPr id="2" name="cover">
            <a:extLst>
              <a:ext uri="{FF2B5EF4-FFF2-40B4-BE49-F238E27FC236}">
                <a16:creationId xmlns:a16="http://schemas.microsoft.com/office/drawing/2014/main" id="{50A19D44-1E3A-4607-A1E6-81125848BC10}"/>
              </a:ext>
            </a:extLst>
          </p:cNvPr>
          <p:cNvSpPr>
            <a:spLocks noGrp="1"/>
          </p:cNvSpPr>
          <p:nvPr/>
        </p:nvSpPr>
        <p:spPr>
          <a:xfrm>
            <a:off x="419100" y="1428750"/>
            <a:ext cx="5429250" cy="1809750"/>
          </a:xfrm>
          <a:prstGeom prst="rect">
            <a:avLst/>
          </a:prstGeom>
          <a:noFill/>
          <a:ln w="0">
            <a:noFill/>
            <a:prstDash val="solid"/>
          </a:ln>
        </p:spPr>
        <p:txBody>
          <a:bodyPr lIns="0" tIns="0" rIns="0" bIns="0" anchor="ctr">
            <a:normAutofit/>
          </a:bodyPr>
          <a:lstStyle/>
          <a:p>
            <a:pPr algn="l">
              <a:defRPr sz="4350" b="1">
                <a:solidFill>
                  <a:srgbClr val="111111"/>
                </a:solidFill>
                <a:latin typeface="Arial"/>
                <a:ea typeface="Arial"/>
                <a:cs typeface="Arial"/>
              </a:defRPr>
            </a:pPr>
            <a:r>
              <a:rPr sz="4350" b="1">
                <a:solidFill>
                  <a:srgbClr val="111111"/>
                </a:solidFill>
                <a:latin typeface="Arial"/>
                <a:ea typeface="Arial"/>
                <a:cs typeface="Arial"/>
              </a:rPr>
              <a:t>OCR</a:t>
            </a:r>
          </a:p>
          <a:p>
            <a:pPr algn="l">
              <a:defRPr sz="4350" b="1">
                <a:solidFill>
                  <a:srgbClr val="111111"/>
                </a:solidFill>
                <a:latin typeface="Arial"/>
                <a:ea typeface="Arial"/>
                <a:cs typeface="Arial"/>
              </a:defRPr>
            </a:pPr>
            <a:r>
              <a:rPr sz="4350" b="1">
                <a:solidFill>
                  <a:srgbClr val="111111"/>
                </a:solidFill>
                <a:latin typeface="Arial"/>
                <a:ea typeface="Arial"/>
                <a:cs typeface="Arial"/>
              </a:rPr>
              <a:t>fundamentals</a:t>
            </a:r>
          </a:p>
        </p:txBody>
      </p:sp>
      <p:sp>
        <p:nvSpPr>
          <p:cNvPr id="3" name="sub">
            <a:extLst>
              <a:ext uri="{FF2B5EF4-FFF2-40B4-BE49-F238E27FC236}">
                <a16:creationId xmlns:a16="http://schemas.microsoft.com/office/drawing/2014/main" id="{D38B7157-624D-4ED1-9B77-E1C15B5E6124}"/>
              </a:ext>
            </a:extLst>
          </p:cNvPr>
          <p:cNvSpPr>
            <a:spLocks noGrp="1"/>
          </p:cNvSpPr>
          <p:nvPr/>
        </p:nvSpPr>
        <p:spPr>
          <a:xfrm>
            <a:off x="419100" y="3714750"/>
            <a:ext cx="4953000" cy="685800"/>
          </a:xfrm>
          <a:prstGeom prst="rect">
            <a:avLst/>
          </a:prstGeom>
          <a:noFill/>
          <a:ln w="0">
            <a:noFill/>
            <a:prstDash val="solid"/>
          </a:ln>
        </p:spPr>
        <p:txBody>
          <a:bodyPr lIns="0" tIns="0" rIns="0" bIns="0" anchor="ctr">
            <a:normAutofit/>
          </a:bodyPr>
          <a:lstStyle/>
          <a:p>
            <a:pPr algn="l">
              <a:defRPr sz="1875" b="0">
                <a:solidFill>
                  <a:srgbClr val="62666D"/>
                </a:solidFill>
                <a:latin typeface="Arial"/>
                <a:ea typeface="Arial"/>
                <a:cs typeface="Arial"/>
              </a:defRPr>
            </a:pPr>
            <a:r>
              <a:rPr sz="1875" b="0">
                <a:solidFill>
                  <a:srgbClr val="62666D"/>
                </a:solidFill>
                <a:latin typeface="Arial"/>
                <a:ea typeface="Arial"/>
                <a:cs typeface="Arial"/>
              </a:rPr>
              <a:t>A practical introduction for students</a:t>
            </a:r>
          </a:p>
        </p:txBody>
      </p:sp>
      <p:sp>
        <p:nvSpPr>
          <p:cNvPr id="4" name="hero">
            <a:extLst>
              <a:ext uri="{FF2B5EF4-FFF2-40B4-BE49-F238E27FC236}">
                <a16:creationId xmlns:a16="http://schemas.microsoft.com/office/drawing/2014/main" id="{8DED8F95-CBCF-45E1-9EF9-D3A3C3783392}"/>
              </a:ext>
            </a:extLst>
          </p:cNvPr>
          <p:cNvSpPr>
            <a:spLocks noGrp="1"/>
          </p:cNvSpPr>
          <p:nvPr/>
        </p:nvSpPr>
        <p:spPr>
          <a:xfrm>
            <a:off x="6381750" y="400050"/>
            <a:ext cx="5410200" cy="5581650"/>
          </a:xfrm>
          <a:prstGeom prst="rect">
            <a:avLst/>
          </a:prstGeom>
          <a:solidFill>
            <a:srgbClr val="D9F1FC"/>
          </a:solidFill>
          <a:ln w="0">
            <a:noFill/>
            <a:prstDash val="solid"/>
          </a:ln>
        </p:spPr>
        <p:txBody>
          <a:bodyPr/>
          <a:lstStyle/>
          <a:p>
            <a:endParaRPr lang="de-DE"/>
          </a:p>
        </p:txBody>
      </p:sp>
      <p:sp>
        <p:nvSpPr>
          <p:cNvPr id="5" name="receipt">
            <a:extLst>
              <a:ext uri="{FF2B5EF4-FFF2-40B4-BE49-F238E27FC236}">
                <a16:creationId xmlns:a16="http://schemas.microsoft.com/office/drawing/2014/main" id="{F64159B6-0D7A-448C-AACD-830806161C9C}"/>
              </a:ext>
            </a:extLst>
          </p:cNvPr>
          <p:cNvSpPr>
            <a:spLocks noGrp="1"/>
          </p:cNvSpPr>
          <p:nvPr/>
        </p:nvSpPr>
        <p:spPr>
          <a:xfrm>
            <a:off x="7124700" y="1095375"/>
            <a:ext cx="3857625" cy="3143250"/>
          </a:xfrm>
          <a:prstGeom prst="rect">
            <a:avLst/>
          </a:prstGeom>
          <a:noFill/>
          <a:ln w="0">
            <a:noFill/>
            <a:prstDash val="solid"/>
          </a:ln>
        </p:spPr>
        <p:txBody>
          <a:bodyPr lIns="0" tIns="0" rIns="0" bIns="0" anchor="ctr">
            <a:normAutofit/>
          </a:bodyPr>
          <a:lstStyle/>
          <a:p>
            <a:pPr algn="l">
              <a:defRPr sz="2100" b="0">
                <a:solidFill>
                  <a:srgbClr val="111111"/>
                </a:solidFill>
                <a:latin typeface="Consolas"/>
                <a:ea typeface="Consolas"/>
                <a:cs typeface="Consolas"/>
              </a:defRPr>
            </a:pPr>
            <a:r>
              <a:rPr sz="2100" b="0">
                <a:solidFill>
                  <a:srgbClr val="111111"/>
                </a:solidFill>
                <a:latin typeface="Consolas"/>
                <a:ea typeface="Consolas"/>
                <a:cs typeface="Consolas"/>
              </a:rPr>
              <a:t>CAFÉ SUN</a:t>
            </a:r>
          </a:p>
          <a:p>
            <a:endParaRPr sz="2100" b="0">
              <a:solidFill>
                <a:srgbClr val="111111"/>
              </a:solidFill>
              <a:latin typeface="Consolas"/>
              <a:ea typeface="Consolas"/>
              <a:cs typeface="Consolas"/>
            </a:endParaRPr>
          </a:p>
          <a:p>
            <a:pPr algn="l">
              <a:defRPr sz="2100" b="0">
                <a:solidFill>
                  <a:srgbClr val="111111"/>
                </a:solidFill>
                <a:latin typeface="Consolas"/>
                <a:ea typeface="Consolas"/>
                <a:cs typeface="Consolas"/>
              </a:defRPr>
            </a:pPr>
            <a:r>
              <a:rPr sz="2100" b="0">
                <a:solidFill>
                  <a:srgbClr val="111111"/>
                </a:solidFill>
                <a:latin typeface="Consolas"/>
                <a:ea typeface="Consolas"/>
                <a:cs typeface="Consolas"/>
              </a:rPr>
              <a:t>Receipt 047</a:t>
            </a:r>
          </a:p>
          <a:p>
            <a:pPr algn="l">
              <a:defRPr sz="2100" b="0">
                <a:solidFill>
                  <a:srgbClr val="111111"/>
                </a:solidFill>
                <a:latin typeface="Consolas"/>
                <a:ea typeface="Consolas"/>
                <a:cs typeface="Consolas"/>
              </a:defRPr>
            </a:pPr>
            <a:r>
              <a:rPr sz="2100" b="0">
                <a:solidFill>
                  <a:srgbClr val="111111"/>
                </a:solidFill>
                <a:latin typeface="Consolas"/>
                <a:ea typeface="Consolas"/>
                <a:cs typeface="Consolas"/>
              </a:rPr>
              <a:t>Coffee       €3.20</a:t>
            </a:r>
          </a:p>
          <a:p>
            <a:pPr algn="l">
              <a:defRPr sz="2100" b="0">
                <a:solidFill>
                  <a:srgbClr val="111111"/>
                </a:solidFill>
                <a:latin typeface="Consolas"/>
                <a:ea typeface="Consolas"/>
                <a:cs typeface="Consolas"/>
              </a:defRPr>
            </a:pPr>
            <a:r>
              <a:rPr sz="2100" b="0">
                <a:solidFill>
                  <a:srgbClr val="111111"/>
                </a:solidFill>
                <a:latin typeface="Consolas"/>
                <a:ea typeface="Consolas"/>
                <a:cs typeface="Consolas"/>
              </a:rPr>
              <a:t>Cake         €4.50</a:t>
            </a:r>
          </a:p>
          <a:p>
            <a:pPr algn="l">
              <a:defRPr sz="2100" b="0">
                <a:solidFill>
                  <a:srgbClr val="111111"/>
                </a:solidFill>
                <a:latin typeface="Consolas"/>
                <a:ea typeface="Consolas"/>
                <a:cs typeface="Consolas"/>
              </a:defRPr>
            </a:pPr>
            <a:r>
              <a:rPr sz="2100" b="0">
                <a:solidFill>
                  <a:srgbClr val="111111"/>
                </a:solidFill>
                <a:latin typeface="Consolas"/>
                <a:ea typeface="Consolas"/>
                <a:cs typeface="Consolas"/>
              </a:rPr>
              <a:t>Total        €7.70</a:t>
            </a:r>
          </a:p>
        </p:txBody>
      </p:sp>
      <p:sp>
        <p:nvSpPr>
          <p:cNvPr id="6" name="Gerader Verbinder 5">
            <a:extLst>
              <a:ext uri="{FF2B5EF4-FFF2-40B4-BE49-F238E27FC236}">
                <a16:creationId xmlns:a16="http://schemas.microsoft.com/office/drawing/2014/main" id="{CA2E295C-12F6-407C-AAAC-E962546E4630}"/>
              </a:ext>
            </a:extLst>
          </p:cNvPr>
          <p:cNvSpPr>
            <a:spLocks noGrp="1"/>
          </p:cNvSpPr>
          <p:nvPr/>
        </p:nvSpPr>
        <p:spPr>
          <a:xfrm>
            <a:off x="6715125" y="4905375"/>
            <a:ext cx="4429125" cy="0"/>
          </a:xfrm>
          <a:prstGeom prst="line">
            <a:avLst/>
          </a:prstGeom>
          <a:noFill/>
          <a:ln w="38100">
            <a:solidFill>
              <a:srgbClr val="3D8DFF"/>
            </a:solidFill>
            <a:prstDash val="solid"/>
          </a:ln>
        </p:spPr>
        <p:txBody>
          <a:bodyPr/>
          <a:lstStyle/>
          <a:p>
            <a:endParaRPr lang="de-DE"/>
          </a:p>
        </p:txBody>
      </p:sp>
      <p:sp>
        <p:nvSpPr>
          <p:cNvPr id="7" name="cap">
            <a:extLst>
              <a:ext uri="{FF2B5EF4-FFF2-40B4-BE49-F238E27FC236}">
                <a16:creationId xmlns:a16="http://schemas.microsoft.com/office/drawing/2014/main" id="{FBA8EC74-6D0F-4099-B614-7AEC8FC60AA2}"/>
              </a:ext>
            </a:extLst>
          </p:cNvPr>
          <p:cNvSpPr>
            <a:spLocks noGrp="1"/>
          </p:cNvSpPr>
          <p:nvPr/>
        </p:nvSpPr>
        <p:spPr>
          <a:xfrm>
            <a:off x="7124700" y="5143500"/>
            <a:ext cx="3857625" cy="419100"/>
          </a:xfrm>
          <a:prstGeom prst="rect">
            <a:avLst/>
          </a:prstGeom>
          <a:noFill/>
          <a:ln w="0">
            <a:noFill/>
            <a:prstDash val="solid"/>
          </a:ln>
        </p:spPr>
        <p:txBody>
          <a:bodyPr lIns="0" tIns="0" rIns="0" bIns="0" anchor="ctr">
            <a:normAutofit/>
          </a:bodyPr>
          <a:lstStyle/>
          <a:p>
            <a:pPr algn="l">
              <a:defRPr sz="1650" b="1">
                <a:solidFill>
                  <a:srgbClr val="3D8DFF"/>
                </a:solidFill>
                <a:latin typeface="Arial"/>
                <a:ea typeface="Arial"/>
                <a:cs typeface="Arial"/>
              </a:defRPr>
            </a:pPr>
            <a:r>
              <a:rPr sz="1650" b="1">
                <a:solidFill>
                  <a:srgbClr val="3D8DFF"/>
                </a:solidFill>
                <a:latin typeface="Arial"/>
                <a:ea typeface="Arial"/>
                <a:cs typeface="Arial"/>
              </a:rPr>
              <a:t>Turn an image into verifiable evidence.</a:t>
            </a:r>
          </a:p>
        </p:txBody>
      </p:sp>
    </p:spTree>
    <p:extLst>
      <p:ext uri="{BB962C8B-B14F-4D97-AF65-F5344CB8AC3E}">
        <p14:creationId xmlns:p14="http://schemas.microsoft.com/office/powerpoint/2010/main" val="1638567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3CEC0D6C-1AC3-4D41-B44B-FE6BAA96E200}"/>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lnSpcReduction="10000"/>
          </a:bodyPr>
          <a:lstStyle/>
          <a:p>
            <a:pPr algn="l">
              <a:defRPr sz="3000" b="0">
                <a:solidFill>
                  <a:srgbClr val="111111"/>
                </a:solidFill>
                <a:latin typeface="Arial"/>
                <a:ea typeface="Arial"/>
                <a:cs typeface="Arial"/>
              </a:defRPr>
            </a:pPr>
            <a:r>
              <a:rPr lang="en-US" sz="3000" b="0">
                <a:solidFill>
                  <a:srgbClr val="111111"/>
                </a:solidFill>
                <a:latin typeface="Arial"/>
                <a:ea typeface="Arial"/>
                <a:cs typeface="Arial"/>
              </a:rPr>
              <a:t>PaddleOCR combines pretrained AI models into one OCR pipeline</a:t>
            </a:r>
            <a:endParaRPr sz="3000" b="0">
              <a:solidFill>
                <a:srgbClr val="111111"/>
              </a:solidFill>
              <a:latin typeface="Arial"/>
              <a:ea typeface="Arial"/>
              <a:cs typeface="Arial"/>
            </a:endParaRPr>
          </a:p>
        </p:txBody>
      </p:sp>
      <p:sp>
        <p:nvSpPr>
          <p:cNvPr id="2" name="page">
            <a:extLst>
              <a:ext uri="{FF2B5EF4-FFF2-40B4-BE49-F238E27FC236}">
                <a16:creationId xmlns:a16="http://schemas.microsoft.com/office/drawing/2014/main" id="{DBB9B8AD-9630-4B79-8597-D6808837C7CA}"/>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a:t>
            </a:r>
            <a:endParaRPr sz="975" b="0">
              <a:solidFill>
                <a:srgbClr val="62666D"/>
              </a:solidFill>
              <a:latin typeface="Arial"/>
              <a:ea typeface="Arial"/>
              <a:cs typeface="Arial"/>
            </a:endParaRPr>
          </a:p>
        </p:txBody>
      </p:sp>
      <p:sp>
        <p:nvSpPr>
          <p:cNvPr id="3" name="definition">
            <a:extLst>
              <a:ext uri="{FF2B5EF4-FFF2-40B4-BE49-F238E27FC236}">
                <a16:creationId xmlns:a16="http://schemas.microsoft.com/office/drawing/2014/main" id="{6D994642-1E34-4E7E-83DC-703C0921E44A}"/>
              </a:ext>
            </a:extLst>
          </p:cNvPr>
          <p:cNvSpPr>
            <a:spLocks noGrp="1"/>
          </p:cNvSpPr>
          <p:nvPr/>
        </p:nvSpPr>
        <p:spPr>
          <a:xfrm>
            <a:off x="419100" y="1381125"/>
            <a:ext cx="10810875" cy="781050"/>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lang="en-US" b="1">
                <a:solidFill>
                  <a:srgbClr val="111111"/>
                </a:solidFill>
                <a:latin typeface="Arial"/>
                <a:ea typeface="Arial"/>
                <a:cs typeface="Arial"/>
              </a:rPr>
              <a:t>PaddleOCR is an open-source OCR toolkit. It provides pretrained neural-network models for locating text and converting text images into machine-readable characters.</a:t>
            </a:r>
            <a:endParaRPr b="1">
              <a:solidFill>
                <a:srgbClr val="111111"/>
              </a:solidFill>
              <a:latin typeface="Arial"/>
              <a:ea typeface="Arial"/>
              <a:cs typeface="Arial"/>
            </a:endParaRPr>
          </a:p>
        </p:txBody>
      </p:sp>
      <p:sp>
        <p:nvSpPr>
          <p:cNvPr id="4" name="env">
            <a:extLst>
              <a:ext uri="{FF2B5EF4-FFF2-40B4-BE49-F238E27FC236}">
                <a16:creationId xmlns:a16="http://schemas.microsoft.com/office/drawing/2014/main" id="{CD16BC8F-D12C-4B13-8A78-D434FD56BF56}"/>
              </a:ext>
            </a:extLst>
          </p:cNvPr>
          <p:cNvSpPr>
            <a:spLocks noGrp="1"/>
          </p:cNvSpPr>
          <p:nvPr/>
        </p:nvSpPr>
        <p:spPr>
          <a:xfrm>
            <a:off x="3762375" y="2476500"/>
            <a:ext cx="4667250" cy="2095500"/>
          </a:xfrm>
          <a:prstGeom prst="rect">
            <a:avLst/>
          </a:prstGeom>
          <a:solidFill>
            <a:srgbClr val="D9F1FC"/>
          </a:solidFill>
          <a:ln w="9525">
            <a:solidFill>
              <a:srgbClr val="3D8DFF"/>
            </a:solidFill>
            <a:prstDash val="solid"/>
          </a:ln>
        </p:spPr>
        <p:txBody>
          <a:bodyPr/>
          <a:lstStyle/>
          <a:p>
            <a:endParaRPr lang="de-DE"/>
          </a:p>
        </p:txBody>
      </p:sp>
      <p:sp>
        <p:nvSpPr>
          <p:cNvPr id="5" name="env-h">
            <a:extLst>
              <a:ext uri="{FF2B5EF4-FFF2-40B4-BE49-F238E27FC236}">
                <a16:creationId xmlns:a16="http://schemas.microsoft.com/office/drawing/2014/main" id="{62FFDA98-9B69-4078-A63A-0384710C949F}"/>
              </a:ext>
            </a:extLst>
          </p:cNvPr>
          <p:cNvSpPr>
            <a:spLocks noGrp="1"/>
          </p:cNvSpPr>
          <p:nvPr/>
        </p:nvSpPr>
        <p:spPr>
          <a:xfrm>
            <a:off x="4143375" y="2809875"/>
            <a:ext cx="3905250" cy="381000"/>
          </a:xfrm>
          <a:prstGeom prst="rect">
            <a:avLst/>
          </a:prstGeom>
          <a:noFill/>
          <a:ln w="0">
            <a:noFill/>
            <a:prstDash val="solid"/>
          </a:ln>
        </p:spPr>
        <p:txBody>
          <a:bodyPr lIns="0" tIns="0" rIns="0" bIns="0" anchor="ctr">
            <a:normAutofit/>
          </a:bodyPr>
          <a:lstStyle/>
          <a:p>
            <a:pPr algn="ctr">
              <a:defRPr sz="1800" b="1">
                <a:solidFill>
                  <a:srgbClr val="3D8DFF"/>
                </a:solidFill>
                <a:latin typeface="Arial"/>
                <a:ea typeface="Arial"/>
                <a:cs typeface="Arial"/>
              </a:defRPr>
            </a:pPr>
            <a:r>
              <a:rPr lang="de-DE" sz="1800" b="1">
                <a:solidFill>
                  <a:srgbClr val="3D8DFF"/>
                </a:solidFill>
                <a:latin typeface="Arial"/>
                <a:ea typeface="Arial"/>
                <a:cs typeface="Arial"/>
              </a:rPr>
              <a:t>PRETRAINED OCR PIPELINE</a:t>
            </a:r>
            <a:endParaRPr sz="1800" b="1">
              <a:solidFill>
                <a:srgbClr val="3D8DFF"/>
              </a:solidFill>
              <a:latin typeface="Arial"/>
              <a:ea typeface="Arial"/>
              <a:cs typeface="Arial"/>
            </a:endParaRPr>
          </a:p>
        </p:txBody>
      </p:sp>
      <p:sp>
        <p:nvSpPr>
          <p:cNvPr id="6" name="env-b">
            <a:extLst>
              <a:ext uri="{FF2B5EF4-FFF2-40B4-BE49-F238E27FC236}">
                <a16:creationId xmlns:a16="http://schemas.microsoft.com/office/drawing/2014/main" id="{C4911E09-7AB1-4635-A26C-2A84E7856B40}"/>
              </a:ext>
            </a:extLst>
          </p:cNvPr>
          <p:cNvSpPr>
            <a:spLocks noGrp="1"/>
          </p:cNvSpPr>
          <p:nvPr/>
        </p:nvSpPr>
        <p:spPr>
          <a:xfrm>
            <a:off x="4143375" y="3333750"/>
            <a:ext cx="3905250" cy="1000125"/>
          </a:xfrm>
          <a:prstGeom prst="rect">
            <a:avLst/>
          </a:prstGeom>
          <a:noFill/>
          <a:ln w="0">
            <a:noFill/>
            <a:prstDash val="solid"/>
          </a:ln>
        </p:spPr>
        <p:txBody>
          <a:bodyPr lIns="0" tIns="0" rIns="0" bIns="0" anchor="ctr">
            <a:normAutofit lnSpcReduction="10000"/>
          </a:bodyPr>
          <a:lstStyle/>
          <a:p>
            <a:pPr algn="ctr">
              <a:defRPr sz="1800" b="1">
                <a:solidFill>
                  <a:srgbClr val="111111"/>
                </a:solidFill>
                <a:latin typeface="Arial"/>
                <a:ea typeface="Arial"/>
                <a:cs typeface="Arial"/>
              </a:defRPr>
            </a:pPr>
            <a:r>
              <a:rPr lang="de-DE" sz="1700" b="1">
                <a:solidFill>
                  <a:srgbClr val="111111"/>
                </a:solidFill>
                <a:latin typeface="Arial"/>
                <a:ea typeface="Arial"/>
                <a:cs typeface="Arial"/>
              </a:rPr>
              <a:t>Text detection
Text recognition
Optional orientation and document preprocessing</a:t>
            </a:r>
            <a:endParaRPr sz="1700" b="1">
              <a:solidFill>
                <a:srgbClr val="111111"/>
              </a:solidFill>
              <a:latin typeface="Arial"/>
              <a:ea typeface="Arial"/>
              <a:cs typeface="Arial"/>
            </a:endParaRPr>
          </a:p>
        </p:txBody>
      </p:sp>
      <p:sp>
        <p:nvSpPr>
          <p:cNvPr id="7" name="why">
            <a:extLst>
              <a:ext uri="{FF2B5EF4-FFF2-40B4-BE49-F238E27FC236}">
                <a16:creationId xmlns:a16="http://schemas.microsoft.com/office/drawing/2014/main" id="{9F110EAE-3538-46E9-9271-2A774F3B508A}"/>
              </a:ext>
            </a:extLst>
          </p:cNvPr>
          <p:cNvSpPr>
            <a:spLocks noGrp="1"/>
          </p:cNvSpPr>
          <p:nvPr/>
        </p:nvSpPr>
        <p:spPr>
          <a:xfrm>
            <a:off x="419100" y="2524125"/>
            <a:ext cx="2857500" cy="2190750"/>
          </a:xfrm>
          <a:prstGeom prst="rect">
            <a:avLst/>
          </a:prstGeom>
          <a:noFill/>
          <a:ln w="0">
            <a:noFill/>
            <a:prstDash val="solid"/>
          </a:ln>
        </p:spPr>
        <p:txBody>
          <a:bodyPr lIns="0" tIns="0" rIns="0" bIns="0" anchor="ctr">
            <a:normAutofit/>
          </a:bodyPr>
          <a:lstStyle/>
          <a:p>
            <a:pPr algn="l">
              <a:defRPr sz="1725" b="1">
                <a:solidFill>
                  <a:srgbClr val="111111"/>
                </a:solidFill>
                <a:latin typeface="Arial"/>
                <a:ea typeface="Arial"/>
                <a:cs typeface="Arial"/>
              </a:defRPr>
            </a:pPr>
            <a:r>
              <a:rPr lang="en-US" sz="1500" b="1">
                <a:solidFill>
                  <a:srgbClr val="111111"/>
                </a:solidFill>
                <a:latin typeface="Arial"/>
                <a:ea typeface="Arial"/>
                <a:cs typeface="Arial"/>
              </a:rPr>
              <a:t>What does pretrained mean?
• model parameters were learned from training data
• the model can be used without training from scratch
• results still depend on document quality and domain</a:t>
            </a:r>
            <a:endParaRPr sz="1500" b="1">
              <a:solidFill>
                <a:srgbClr val="111111"/>
              </a:solidFill>
              <a:latin typeface="Arial"/>
              <a:ea typeface="Arial"/>
              <a:cs typeface="Arial"/>
            </a:endParaRPr>
          </a:p>
        </p:txBody>
      </p:sp>
      <p:sp>
        <p:nvSpPr>
          <p:cNvPr id="8" name="state">
            <a:extLst>
              <a:ext uri="{FF2B5EF4-FFF2-40B4-BE49-F238E27FC236}">
                <a16:creationId xmlns:a16="http://schemas.microsoft.com/office/drawing/2014/main" id="{AE759FA0-1A9A-4F62-ADE7-5A2C221F9ACD}"/>
              </a:ext>
            </a:extLst>
          </p:cNvPr>
          <p:cNvSpPr>
            <a:spLocks noGrp="1"/>
          </p:cNvSpPr>
          <p:nvPr/>
        </p:nvSpPr>
        <p:spPr>
          <a:xfrm>
            <a:off x="8905875" y="2857500"/>
            <a:ext cx="2571750" cy="1143000"/>
          </a:xfrm>
          <a:prstGeom prst="rect">
            <a:avLst/>
          </a:prstGeom>
          <a:noFill/>
          <a:ln w="0">
            <a:noFill/>
            <a:prstDash val="solid"/>
          </a:ln>
        </p:spPr>
        <p:txBody>
          <a:bodyPr lIns="0" tIns="0" rIns="0" bIns="0" anchor="ctr">
            <a:normAutofit/>
          </a:bodyPr>
          <a:lstStyle/>
          <a:p>
            <a:pPr algn="l">
              <a:defRPr sz="1725" b="1">
                <a:solidFill>
                  <a:srgbClr val="111111"/>
                </a:solidFill>
                <a:latin typeface="Arial"/>
                <a:ea typeface="Arial"/>
                <a:cs typeface="Arial"/>
              </a:defRPr>
            </a:pPr>
            <a:r>
              <a:rPr lang="en-US" sz="1500" b="1">
                <a:solidFill>
                  <a:srgbClr val="111111"/>
                </a:solidFill>
                <a:latin typeface="Arial"/>
                <a:ea typeface="Arial"/>
                <a:cs typeface="Arial"/>
              </a:rPr>
              <a:t>PaddleOCR is not one single model. It orchestrates several specialized models and processing steps.</a:t>
            </a:r>
            <a:endParaRPr sz="1500" b="1">
              <a:solidFill>
                <a:srgbClr val="111111"/>
              </a:solidFill>
              <a:latin typeface="Arial"/>
              <a:ea typeface="Arial"/>
              <a:cs typeface="Arial"/>
            </a:endParaRPr>
          </a:p>
        </p:txBody>
      </p:sp>
      <p:sp>
        <p:nvSpPr>
          <p:cNvPr id="9" name="next">
            <a:extLst>
              <a:ext uri="{FF2B5EF4-FFF2-40B4-BE49-F238E27FC236}">
                <a16:creationId xmlns:a16="http://schemas.microsoft.com/office/drawing/2014/main" id="{560A3AE4-5A3C-43F3-BB93-C574B994BE79}"/>
              </a:ext>
            </a:extLst>
          </p:cNvPr>
          <p:cNvSpPr>
            <a:spLocks noGrp="1"/>
          </p:cNvSpPr>
          <p:nvPr/>
        </p:nvSpPr>
        <p:spPr>
          <a:xfrm>
            <a:off x="1619250" y="5191125"/>
            <a:ext cx="8953500" cy="523875"/>
          </a:xfrm>
          <a:prstGeom prst="rect">
            <a:avLst/>
          </a:prstGeom>
          <a:noFill/>
          <a:ln w="0">
            <a:noFill/>
            <a:prstDash val="solid"/>
          </a:ln>
        </p:spPr>
        <p:txBody>
          <a:bodyPr lIns="0" tIns="0" rIns="0" bIns="0" anchor="ctr">
            <a:normAutofit/>
          </a:bodyPr>
          <a:lstStyle/>
          <a:p>
            <a:pPr algn="ctr">
              <a:defRPr sz="1875" b="1">
                <a:solidFill>
                  <a:srgbClr val="62666D"/>
                </a:solidFill>
                <a:latin typeface="Arial"/>
                <a:ea typeface="Arial"/>
                <a:cs typeface="Arial"/>
              </a:defRPr>
            </a:pPr>
            <a:r>
              <a:rPr lang="en-US" sz="1600" b="1">
                <a:solidFill>
                  <a:srgbClr val="62666D"/>
                </a:solidFill>
                <a:latin typeface="Arial"/>
                <a:ea typeface="Arial"/>
                <a:cs typeface="Arial"/>
              </a:rPr>
              <a:t>In this course, we use the supplied models for inference and evaluate their output against ground truth.</a:t>
            </a:r>
            <a:endParaRPr sz="1600" b="1">
              <a:solidFill>
                <a:srgbClr val="62666D"/>
              </a:solidFill>
              <a:latin typeface="Arial"/>
              <a:ea typeface="Arial"/>
              <a:cs typeface="Arial"/>
            </a:endParaRPr>
          </a:p>
        </p:txBody>
      </p:sp>
    </p:spTree>
    <p:extLst>
      <p:ext uri="{BB962C8B-B14F-4D97-AF65-F5344CB8AC3E}">
        <p14:creationId xmlns:p14="http://schemas.microsoft.com/office/powerpoint/2010/main" val="345311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C6F4125C-EC5F-4618-A54F-30C085967879}"/>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The smallest OCR experiment needs only one image</a:t>
            </a:r>
          </a:p>
        </p:txBody>
      </p:sp>
      <p:sp>
        <p:nvSpPr>
          <p:cNvPr id="2" name="page">
            <a:extLst>
              <a:ext uri="{FF2B5EF4-FFF2-40B4-BE49-F238E27FC236}">
                <a16:creationId xmlns:a16="http://schemas.microsoft.com/office/drawing/2014/main" id="{11531602-2F4C-47F3-870C-1EE72061D6D6}"/>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3</a:t>
            </a:r>
            <a:endParaRPr sz="975" b="0">
              <a:solidFill>
                <a:srgbClr val="62666D"/>
              </a:solidFill>
              <a:latin typeface="Arial"/>
              <a:ea typeface="Arial"/>
              <a:cs typeface="Arial"/>
            </a:endParaRPr>
          </a:p>
        </p:txBody>
      </p:sp>
      <p:sp>
        <p:nvSpPr>
          <p:cNvPr id="3" name="img">
            <a:extLst>
              <a:ext uri="{FF2B5EF4-FFF2-40B4-BE49-F238E27FC236}">
                <a16:creationId xmlns:a16="http://schemas.microsoft.com/office/drawing/2014/main" id="{4BE8CF15-8737-4D39-BA7A-1C19A42FF3BD}"/>
              </a:ext>
            </a:extLst>
          </p:cNvPr>
          <p:cNvSpPr>
            <a:spLocks noGrp="1"/>
          </p:cNvSpPr>
          <p:nvPr/>
        </p:nvSpPr>
        <p:spPr>
          <a:xfrm>
            <a:off x="419100" y="1619250"/>
            <a:ext cx="4095750" cy="3714750"/>
          </a:xfrm>
          <a:prstGeom prst="rect">
            <a:avLst/>
          </a:prstGeom>
          <a:solidFill>
            <a:srgbClr val="F4F4F4"/>
          </a:solidFill>
          <a:ln w="9525">
            <a:solidFill>
              <a:srgbClr val="B8BCC4"/>
            </a:solidFill>
            <a:prstDash val="solid"/>
          </a:ln>
        </p:spPr>
        <p:txBody>
          <a:bodyPr/>
          <a:lstStyle/>
          <a:p>
            <a:endParaRPr lang="de-DE"/>
          </a:p>
        </p:txBody>
      </p:sp>
      <p:sp>
        <p:nvSpPr>
          <p:cNvPr id="4" name="sample">
            <a:extLst>
              <a:ext uri="{FF2B5EF4-FFF2-40B4-BE49-F238E27FC236}">
                <a16:creationId xmlns:a16="http://schemas.microsoft.com/office/drawing/2014/main" id="{AE91F4B3-81A6-45FA-A88B-DD10FAA515AC}"/>
              </a:ext>
            </a:extLst>
          </p:cNvPr>
          <p:cNvSpPr>
            <a:spLocks noGrp="1"/>
          </p:cNvSpPr>
          <p:nvPr/>
        </p:nvSpPr>
        <p:spPr>
          <a:xfrm>
            <a:off x="1000125" y="2381250"/>
            <a:ext cx="2952750" cy="1333500"/>
          </a:xfrm>
          <a:prstGeom prst="rect">
            <a:avLst/>
          </a:prstGeom>
          <a:noFill/>
          <a:ln w="0">
            <a:noFill/>
            <a:prstDash val="solid"/>
          </a:ln>
        </p:spPr>
        <p:txBody>
          <a:bodyPr lIns="0" tIns="0" rIns="0" bIns="0" anchor="ctr">
            <a:normAutofit/>
          </a:bodyPr>
          <a:lstStyle/>
          <a:p>
            <a:pPr algn="ctr">
              <a:defRPr sz="4050" b="1">
                <a:solidFill>
                  <a:srgbClr val="111111"/>
                </a:solidFill>
                <a:latin typeface="Arial"/>
                <a:ea typeface="Arial"/>
                <a:cs typeface="Arial"/>
              </a:defRPr>
            </a:pPr>
            <a:r>
              <a:rPr sz="4050" b="1">
                <a:solidFill>
                  <a:srgbClr val="111111"/>
                </a:solidFill>
                <a:latin typeface="Arial"/>
                <a:ea typeface="Arial"/>
                <a:cs typeface="Arial"/>
              </a:rPr>
              <a:t>HELLO</a:t>
            </a:r>
          </a:p>
          <a:p>
            <a:pPr algn="ctr">
              <a:defRPr sz="4050" b="1">
                <a:solidFill>
                  <a:srgbClr val="111111"/>
                </a:solidFill>
                <a:latin typeface="Arial"/>
                <a:ea typeface="Arial"/>
                <a:cs typeface="Arial"/>
              </a:defRPr>
            </a:pPr>
            <a:r>
              <a:rPr sz="4050" b="1">
                <a:solidFill>
                  <a:srgbClr val="111111"/>
                </a:solidFill>
                <a:latin typeface="Arial"/>
                <a:ea typeface="Arial"/>
                <a:cs typeface="Arial"/>
              </a:rPr>
              <a:t>OCR!</a:t>
            </a:r>
          </a:p>
        </p:txBody>
      </p:sp>
      <p:sp>
        <p:nvSpPr>
          <p:cNvPr id="5" name="Gerader Verbinder 4">
            <a:extLst>
              <a:ext uri="{FF2B5EF4-FFF2-40B4-BE49-F238E27FC236}">
                <a16:creationId xmlns:a16="http://schemas.microsoft.com/office/drawing/2014/main" id="{75167D60-4FDD-417E-AA75-F7CE63C974A0}"/>
              </a:ext>
            </a:extLst>
          </p:cNvPr>
          <p:cNvSpPr>
            <a:spLocks noGrp="1"/>
          </p:cNvSpPr>
          <p:nvPr/>
        </p:nvSpPr>
        <p:spPr>
          <a:xfrm>
            <a:off x="4857750" y="3476625"/>
            <a:ext cx="1428750" cy="0"/>
          </a:xfrm>
          <a:prstGeom prst="line">
            <a:avLst/>
          </a:prstGeom>
          <a:noFill/>
          <a:ln w="47625">
            <a:solidFill>
              <a:srgbClr val="3D8DFF"/>
            </a:solidFill>
            <a:prstDash val="solid"/>
          </a:ln>
        </p:spPr>
        <p:txBody>
          <a:bodyPr/>
          <a:lstStyle/>
          <a:p>
            <a:endParaRPr lang="de-DE"/>
          </a:p>
        </p:txBody>
      </p:sp>
      <p:sp>
        <p:nvSpPr>
          <p:cNvPr id="6" name="arrow">
            <a:extLst>
              <a:ext uri="{FF2B5EF4-FFF2-40B4-BE49-F238E27FC236}">
                <a16:creationId xmlns:a16="http://schemas.microsoft.com/office/drawing/2014/main" id="{3F17F4C2-A0EB-4AD6-8706-638E42B8D00E}"/>
              </a:ext>
            </a:extLst>
          </p:cNvPr>
          <p:cNvSpPr>
            <a:spLocks noGrp="1"/>
          </p:cNvSpPr>
          <p:nvPr/>
        </p:nvSpPr>
        <p:spPr>
          <a:xfrm>
            <a:off x="6096000" y="3143250"/>
            <a:ext cx="381000" cy="666750"/>
          </a:xfrm>
          <a:prstGeom prst="rect">
            <a:avLst/>
          </a:prstGeom>
          <a:noFill/>
          <a:ln w="0">
            <a:noFill/>
            <a:prstDash val="solid"/>
          </a:ln>
        </p:spPr>
        <p:txBody>
          <a:bodyPr lIns="0" tIns="0" rIns="0" bIns="0" anchor="ctr">
            <a:normAutofit/>
          </a:bodyPr>
          <a:lstStyle/>
          <a:p>
            <a:pPr algn="ctr">
              <a:defRPr sz="3600" b="1">
                <a:solidFill>
                  <a:srgbClr val="3D8DFF"/>
                </a:solidFill>
                <a:latin typeface="Arial"/>
                <a:ea typeface="Arial"/>
                <a:cs typeface="Arial"/>
              </a:defRPr>
            </a:pPr>
            <a:r>
              <a:rPr sz="3600" b="1">
                <a:solidFill>
                  <a:srgbClr val="3D8DFF"/>
                </a:solidFill>
                <a:latin typeface="Arial"/>
                <a:ea typeface="Arial"/>
                <a:cs typeface="Arial"/>
              </a:rPr>
              <a:t>&gt;</a:t>
            </a:r>
          </a:p>
        </p:txBody>
      </p:sp>
      <p:sp>
        <p:nvSpPr>
          <p:cNvPr id="7" name="result">
            <a:extLst>
              <a:ext uri="{FF2B5EF4-FFF2-40B4-BE49-F238E27FC236}">
                <a16:creationId xmlns:a16="http://schemas.microsoft.com/office/drawing/2014/main" id="{C4C3973B-AB1D-471E-AB65-A7264DDA83C5}"/>
              </a:ext>
            </a:extLst>
          </p:cNvPr>
          <p:cNvSpPr>
            <a:spLocks noGrp="1"/>
          </p:cNvSpPr>
          <p:nvPr/>
        </p:nvSpPr>
        <p:spPr>
          <a:xfrm>
            <a:off x="6715125" y="1619250"/>
            <a:ext cx="5048250" cy="3714750"/>
          </a:xfrm>
          <a:prstGeom prst="rect">
            <a:avLst/>
          </a:prstGeom>
          <a:solidFill>
            <a:srgbClr val="D9F1FC"/>
          </a:solidFill>
          <a:ln w="0">
            <a:noFill/>
            <a:prstDash val="solid"/>
          </a:ln>
        </p:spPr>
        <p:txBody>
          <a:bodyPr/>
          <a:lstStyle/>
          <a:p>
            <a:endParaRPr lang="de-DE"/>
          </a:p>
        </p:txBody>
      </p:sp>
      <p:sp>
        <p:nvSpPr>
          <p:cNvPr id="8" name="lab">
            <a:extLst>
              <a:ext uri="{FF2B5EF4-FFF2-40B4-BE49-F238E27FC236}">
                <a16:creationId xmlns:a16="http://schemas.microsoft.com/office/drawing/2014/main" id="{5DEBC770-8A20-4117-97E2-883FF3EC9EE7}"/>
              </a:ext>
            </a:extLst>
          </p:cNvPr>
          <p:cNvSpPr>
            <a:spLocks noGrp="1"/>
          </p:cNvSpPr>
          <p:nvPr/>
        </p:nvSpPr>
        <p:spPr>
          <a:xfrm>
            <a:off x="7096125" y="1952625"/>
            <a:ext cx="1905000" cy="266700"/>
          </a:xfrm>
          <a:prstGeom prst="rect">
            <a:avLst/>
          </a:prstGeom>
          <a:noFill/>
          <a:ln w="0">
            <a:noFill/>
            <a:prstDash val="solid"/>
          </a:ln>
        </p:spPr>
        <p:txBody>
          <a:bodyPr lIns="0" tIns="0" rIns="0" bIns="0" anchor="ctr">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RECOGNIZED</a:t>
            </a:r>
          </a:p>
        </p:txBody>
      </p:sp>
      <p:sp>
        <p:nvSpPr>
          <p:cNvPr id="9" name="out">
            <a:extLst>
              <a:ext uri="{FF2B5EF4-FFF2-40B4-BE49-F238E27FC236}">
                <a16:creationId xmlns:a16="http://schemas.microsoft.com/office/drawing/2014/main" id="{EC3AA39A-3172-43AC-9D5C-70B203706301}"/>
              </a:ext>
            </a:extLst>
          </p:cNvPr>
          <p:cNvSpPr>
            <a:spLocks noGrp="1"/>
          </p:cNvSpPr>
          <p:nvPr/>
        </p:nvSpPr>
        <p:spPr>
          <a:xfrm>
            <a:off x="7096125" y="2714625"/>
            <a:ext cx="4000500" cy="762000"/>
          </a:xfrm>
          <a:prstGeom prst="rect">
            <a:avLst/>
          </a:prstGeom>
          <a:noFill/>
          <a:ln w="0">
            <a:noFill/>
            <a:prstDash val="solid"/>
          </a:ln>
        </p:spPr>
        <p:txBody>
          <a:bodyPr lIns="0" tIns="0" rIns="0" bIns="0" anchor="ctr">
            <a:normAutofit/>
          </a:bodyPr>
          <a:lstStyle/>
          <a:p>
            <a:pPr algn="l">
              <a:defRPr sz="3300" b="1">
                <a:solidFill>
                  <a:srgbClr val="111111"/>
                </a:solidFill>
                <a:latin typeface="Arial"/>
                <a:ea typeface="Arial"/>
                <a:cs typeface="Arial"/>
              </a:defRPr>
            </a:pPr>
            <a:r>
              <a:rPr sz="3300" b="1">
                <a:solidFill>
                  <a:srgbClr val="111111"/>
                </a:solidFill>
                <a:latin typeface="Arial"/>
                <a:ea typeface="Arial"/>
                <a:cs typeface="Arial"/>
              </a:rPr>
              <a:t>Hello OCR!</a:t>
            </a:r>
          </a:p>
        </p:txBody>
      </p:sp>
      <p:sp>
        <p:nvSpPr>
          <p:cNvPr id="10" name="q">
            <a:extLst>
              <a:ext uri="{FF2B5EF4-FFF2-40B4-BE49-F238E27FC236}">
                <a16:creationId xmlns:a16="http://schemas.microsoft.com/office/drawing/2014/main" id="{158B9C24-0B6A-4F48-9AC1-9A542E63510F}"/>
              </a:ext>
            </a:extLst>
          </p:cNvPr>
          <p:cNvSpPr>
            <a:spLocks noGrp="1"/>
          </p:cNvSpPr>
          <p:nvPr/>
        </p:nvSpPr>
        <p:spPr>
          <a:xfrm>
            <a:off x="7096125" y="4095750"/>
            <a:ext cx="4000500" cy="523875"/>
          </a:xfrm>
          <a:prstGeom prst="rect">
            <a:avLst/>
          </a:prstGeom>
          <a:noFill/>
          <a:ln w="0">
            <a:noFill/>
            <a:prstDash val="solid"/>
          </a:ln>
        </p:spPr>
        <p:txBody>
          <a:bodyPr lIns="0" tIns="0" rIns="0" bIns="0" anchor="ctr">
            <a:normAutofit/>
          </a:bodyPr>
          <a:lstStyle/>
          <a:p>
            <a:pPr algn="l">
              <a:defRPr sz="1650" b="0">
                <a:solidFill>
                  <a:srgbClr val="62666D"/>
                </a:solidFill>
                <a:latin typeface="Arial"/>
                <a:ea typeface="Arial"/>
                <a:cs typeface="Arial"/>
              </a:defRPr>
            </a:pPr>
            <a:r>
              <a:rPr sz="1650" b="0">
                <a:solidFill>
                  <a:srgbClr val="62666D"/>
                </a:solidFill>
                <a:latin typeface="Arial"/>
                <a:ea typeface="Arial"/>
                <a:cs typeface="Arial"/>
              </a:rPr>
              <a:t>Check: Is every character correct?</a:t>
            </a:r>
          </a:p>
        </p:txBody>
      </p:sp>
    </p:spTree>
    <p:extLst>
      <p:ext uri="{BB962C8B-B14F-4D97-AF65-F5344CB8AC3E}">
        <p14:creationId xmlns:p14="http://schemas.microsoft.com/office/powerpoint/2010/main" val="896469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3CEC0D6C-1AC3-4D41-B44B-FE6BAA96E200}"/>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A virtual environment isolates project packages</a:t>
            </a:r>
          </a:p>
        </p:txBody>
      </p:sp>
      <p:sp>
        <p:nvSpPr>
          <p:cNvPr id="2" name="page">
            <a:extLst>
              <a:ext uri="{FF2B5EF4-FFF2-40B4-BE49-F238E27FC236}">
                <a16:creationId xmlns:a16="http://schemas.microsoft.com/office/drawing/2014/main" id="{DBB9B8AD-9630-4B79-8597-D6808837C7CA}"/>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4</a:t>
            </a:r>
            <a:endParaRPr sz="975" b="0">
              <a:solidFill>
                <a:srgbClr val="62666D"/>
              </a:solidFill>
              <a:latin typeface="Arial"/>
              <a:ea typeface="Arial"/>
              <a:cs typeface="Arial"/>
            </a:endParaRPr>
          </a:p>
        </p:txBody>
      </p:sp>
      <p:sp>
        <p:nvSpPr>
          <p:cNvPr id="3" name="definition">
            <a:extLst>
              <a:ext uri="{FF2B5EF4-FFF2-40B4-BE49-F238E27FC236}">
                <a16:creationId xmlns:a16="http://schemas.microsoft.com/office/drawing/2014/main" id="{6D994642-1E34-4E7E-83DC-703C0921E44A}"/>
              </a:ext>
            </a:extLst>
          </p:cNvPr>
          <p:cNvSpPr>
            <a:spLocks noGrp="1"/>
          </p:cNvSpPr>
          <p:nvPr/>
        </p:nvSpPr>
        <p:spPr>
          <a:xfrm>
            <a:off x="419100" y="1381125"/>
            <a:ext cx="10810875" cy="781050"/>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A virtual environment is an isolated Python environment for one project. Packages installed there do not change other Python projects.</a:t>
            </a:r>
          </a:p>
        </p:txBody>
      </p:sp>
      <p:sp>
        <p:nvSpPr>
          <p:cNvPr id="4" name="env">
            <a:extLst>
              <a:ext uri="{FF2B5EF4-FFF2-40B4-BE49-F238E27FC236}">
                <a16:creationId xmlns:a16="http://schemas.microsoft.com/office/drawing/2014/main" id="{CD16BC8F-D12C-4B13-8A78-D434FD56BF56}"/>
              </a:ext>
            </a:extLst>
          </p:cNvPr>
          <p:cNvSpPr>
            <a:spLocks noGrp="1"/>
          </p:cNvSpPr>
          <p:nvPr/>
        </p:nvSpPr>
        <p:spPr>
          <a:xfrm>
            <a:off x="3762375" y="2476500"/>
            <a:ext cx="4667250" cy="2095500"/>
          </a:xfrm>
          <a:prstGeom prst="rect">
            <a:avLst/>
          </a:prstGeom>
          <a:solidFill>
            <a:srgbClr val="D9F1FC"/>
          </a:solidFill>
          <a:ln w="9525">
            <a:solidFill>
              <a:srgbClr val="3D8DFF"/>
            </a:solidFill>
            <a:prstDash val="solid"/>
          </a:ln>
        </p:spPr>
        <p:txBody>
          <a:bodyPr/>
          <a:lstStyle/>
          <a:p>
            <a:endParaRPr lang="de-DE"/>
          </a:p>
        </p:txBody>
      </p:sp>
      <p:sp>
        <p:nvSpPr>
          <p:cNvPr id="5" name="env-h">
            <a:extLst>
              <a:ext uri="{FF2B5EF4-FFF2-40B4-BE49-F238E27FC236}">
                <a16:creationId xmlns:a16="http://schemas.microsoft.com/office/drawing/2014/main" id="{62FFDA98-9B69-4078-A63A-0384710C949F}"/>
              </a:ext>
            </a:extLst>
          </p:cNvPr>
          <p:cNvSpPr>
            <a:spLocks noGrp="1"/>
          </p:cNvSpPr>
          <p:nvPr/>
        </p:nvSpPr>
        <p:spPr>
          <a:xfrm>
            <a:off x="4143375" y="2809875"/>
            <a:ext cx="3905250" cy="381000"/>
          </a:xfrm>
          <a:prstGeom prst="rect">
            <a:avLst/>
          </a:prstGeom>
          <a:noFill/>
          <a:ln w="0">
            <a:noFill/>
            <a:prstDash val="solid"/>
          </a:ln>
        </p:spPr>
        <p:txBody>
          <a:bodyPr lIns="0" tIns="0" rIns="0" bIns="0" anchor="ctr">
            <a:normAutofit/>
          </a:bodyPr>
          <a:lstStyle/>
          <a:p>
            <a:pPr algn="ctr">
              <a:defRPr sz="1800" b="1">
                <a:solidFill>
                  <a:srgbClr val="3D8DFF"/>
                </a:solidFill>
                <a:latin typeface="Arial"/>
                <a:ea typeface="Arial"/>
                <a:cs typeface="Arial"/>
              </a:defRPr>
            </a:pPr>
            <a:r>
              <a:rPr sz="1800" b="1">
                <a:solidFill>
                  <a:srgbClr val="3D8DFF"/>
                </a:solidFill>
                <a:latin typeface="Arial"/>
                <a:ea typeface="Arial"/>
                <a:cs typeface="Arial"/>
              </a:rPr>
              <a:t>PADDLEOCR ENVIRONMENT</a:t>
            </a:r>
          </a:p>
        </p:txBody>
      </p:sp>
      <p:sp>
        <p:nvSpPr>
          <p:cNvPr id="6" name="env-b">
            <a:extLst>
              <a:ext uri="{FF2B5EF4-FFF2-40B4-BE49-F238E27FC236}">
                <a16:creationId xmlns:a16="http://schemas.microsoft.com/office/drawing/2014/main" id="{C4911E09-7AB1-4635-A26C-2A84E7856B40}"/>
              </a:ext>
            </a:extLst>
          </p:cNvPr>
          <p:cNvSpPr>
            <a:spLocks noGrp="1"/>
          </p:cNvSpPr>
          <p:nvPr/>
        </p:nvSpPr>
        <p:spPr>
          <a:xfrm>
            <a:off x="4143375" y="3333750"/>
            <a:ext cx="3905250" cy="1000125"/>
          </a:xfrm>
          <a:prstGeom prst="rect">
            <a:avLst/>
          </a:prstGeom>
          <a:noFill/>
          <a:ln w="0">
            <a:noFill/>
            <a:prstDash val="solid"/>
          </a:ln>
        </p:spPr>
        <p:txBody>
          <a:bodyPr lIns="0" tIns="0" rIns="0" bIns="0" anchor="ctr">
            <a:normAutofit/>
          </a:bodyPr>
          <a:lstStyle/>
          <a:p>
            <a:pPr algn="ctr">
              <a:defRPr sz="1800" b="1">
                <a:solidFill>
                  <a:srgbClr val="111111"/>
                </a:solidFill>
                <a:latin typeface="Arial"/>
                <a:ea typeface="Arial"/>
                <a:cs typeface="Arial"/>
              </a:defRPr>
            </a:pPr>
            <a:r>
              <a:rPr sz="1800" b="1">
                <a:solidFill>
                  <a:srgbClr val="111111"/>
                </a:solidFill>
                <a:latin typeface="Arial"/>
                <a:ea typeface="Arial"/>
                <a:cs typeface="Arial"/>
              </a:rPr>
              <a:t>Python interpreter</a:t>
            </a:r>
          </a:p>
          <a:p>
            <a:pPr algn="ctr">
              <a:defRPr sz="1800" b="1">
                <a:solidFill>
                  <a:srgbClr val="111111"/>
                </a:solidFill>
                <a:latin typeface="Arial"/>
                <a:ea typeface="Arial"/>
                <a:cs typeface="Arial"/>
              </a:defRPr>
            </a:pPr>
            <a:r>
              <a:rPr sz="1800" b="1">
                <a:solidFill>
                  <a:srgbClr val="111111"/>
                </a:solidFill>
                <a:latin typeface="Arial"/>
                <a:ea typeface="Arial"/>
                <a:cs typeface="Arial"/>
              </a:rPr>
              <a:t>project packages</a:t>
            </a:r>
          </a:p>
          <a:p>
            <a:pPr algn="ctr">
              <a:defRPr sz="1800" b="1">
                <a:solidFill>
                  <a:srgbClr val="111111"/>
                </a:solidFill>
                <a:latin typeface="Arial"/>
                <a:ea typeface="Arial"/>
                <a:cs typeface="Arial"/>
              </a:defRPr>
            </a:pPr>
            <a:r>
              <a:rPr sz="1800" b="1">
                <a:solidFill>
                  <a:srgbClr val="111111"/>
                </a:solidFill>
                <a:latin typeface="Arial"/>
                <a:ea typeface="Arial"/>
                <a:cs typeface="Arial"/>
              </a:rPr>
              <a:t>package versions</a:t>
            </a:r>
          </a:p>
        </p:txBody>
      </p:sp>
      <p:sp>
        <p:nvSpPr>
          <p:cNvPr id="7" name="why">
            <a:extLst>
              <a:ext uri="{FF2B5EF4-FFF2-40B4-BE49-F238E27FC236}">
                <a16:creationId xmlns:a16="http://schemas.microsoft.com/office/drawing/2014/main" id="{9F110EAE-3538-46E9-9271-2A774F3B508A}"/>
              </a:ext>
            </a:extLst>
          </p:cNvPr>
          <p:cNvSpPr>
            <a:spLocks noGrp="1"/>
          </p:cNvSpPr>
          <p:nvPr/>
        </p:nvSpPr>
        <p:spPr>
          <a:xfrm>
            <a:off x="419100" y="2524125"/>
            <a:ext cx="2857500" cy="2190750"/>
          </a:xfrm>
          <a:prstGeom prst="rect">
            <a:avLst/>
          </a:prstGeom>
          <a:noFill/>
          <a:ln w="0">
            <a:noFill/>
            <a:prstDash val="solid"/>
          </a:ln>
        </p:spPr>
        <p:txBody>
          <a:bodyPr lIns="0" tIns="0" rIns="0" bIns="0" anchor="ctr">
            <a:normAutofit/>
          </a:bodyPr>
          <a:lstStyle/>
          <a:p>
            <a:pPr algn="l">
              <a:defRPr sz="1725" b="1">
                <a:solidFill>
                  <a:srgbClr val="111111"/>
                </a:solidFill>
                <a:latin typeface="Arial"/>
                <a:ea typeface="Arial"/>
                <a:cs typeface="Arial"/>
              </a:defRPr>
            </a:pPr>
            <a:r>
              <a:rPr sz="1725" b="1">
                <a:solidFill>
                  <a:srgbClr val="111111"/>
                </a:solidFill>
                <a:latin typeface="Arial"/>
                <a:ea typeface="Arial"/>
                <a:cs typeface="Arial"/>
              </a:rPr>
              <a:t>Why use one?</a:t>
            </a:r>
          </a:p>
          <a:p>
            <a:endParaRPr sz="1725" b="1">
              <a:solidFill>
                <a:srgbClr val="111111"/>
              </a:solidFill>
              <a:latin typeface="Arial"/>
              <a:ea typeface="Arial"/>
              <a:cs typeface="Arial"/>
            </a:endParaRPr>
          </a:p>
          <a:p>
            <a:pPr algn="l">
              <a:defRPr sz="1725" b="1">
                <a:solidFill>
                  <a:srgbClr val="111111"/>
                </a:solidFill>
                <a:latin typeface="Arial"/>
                <a:ea typeface="Arial"/>
                <a:cs typeface="Arial"/>
              </a:defRPr>
            </a:pPr>
            <a:r>
              <a:rPr sz="1725" b="1">
                <a:solidFill>
                  <a:srgbClr val="111111"/>
                </a:solidFill>
                <a:latin typeface="Arial"/>
                <a:ea typeface="Arial"/>
                <a:cs typeface="Arial"/>
              </a:rPr>
              <a:t>• avoid package conflicts</a:t>
            </a:r>
          </a:p>
          <a:p>
            <a:pPr algn="l">
              <a:defRPr sz="1725" b="1">
                <a:solidFill>
                  <a:srgbClr val="111111"/>
                </a:solidFill>
                <a:latin typeface="Arial"/>
                <a:ea typeface="Arial"/>
                <a:cs typeface="Arial"/>
              </a:defRPr>
            </a:pPr>
            <a:r>
              <a:rPr sz="1725" b="1">
                <a:solidFill>
                  <a:srgbClr val="111111"/>
                </a:solidFill>
                <a:latin typeface="Arial"/>
                <a:ea typeface="Arial"/>
                <a:cs typeface="Arial"/>
              </a:rPr>
              <a:t>• make the interpreter explicit</a:t>
            </a:r>
          </a:p>
          <a:p>
            <a:pPr algn="l">
              <a:defRPr sz="1725" b="1">
                <a:solidFill>
                  <a:srgbClr val="111111"/>
                </a:solidFill>
                <a:latin typeface="Arial"/>
                <a:ea typeface="Arial"/>
                <a:cs typeface="Arial"/>
              </a:defRPr>
            </a:pPr>
            <a:r>
              <a:rPr sz="1725" b="1">
                <a:solidFill>
                  <a:srgbClr val="111111"/>
                </a:solidFill>
                <a:latin typeface="Arial"/>
                <a:ea typeface="Arial"/>
                <a:cs typeface="Arial"/>
              </a:rPr>
              <a:t>• repeat the setup on another computer</a:t>
            </a:r>
          </a:p>
        </p:txBody>
      </p:sp>
      <p:sp>
        <p:nvSpPr>
          <p:cNvPr id="8" name="state">
            <a:extLst>
              <a:ext uri="{FF2B5EF4-FFF2-40B4-BE49-F238E27FC236}">
                <a16:creationId xmlns:a16="http://schemas.microsoft.com/office/drawing/2014/main" id="{AE759FA0-1A9A-4F62-ADE7-5A2C221F9ACD}"/>
              </a:ext>
            </a:extLst>
          </p:cNvPr>
          <p:cNvSpPr>
            <a:spLocks noGrp="1"/>
          </p:cNvSpPr>
          <p:nvPr/>
        </p:nvSpPr>
        <p:spPr>
          <a:xfrm>
            <a:off x="8905875" y="2857500"/>
            <a:ext cx="2571750" cy="1143000"/>
          </a:xfrm>
          <a:prstGeom prst="rect">
            <a:avLst/>
          </a:prstGeom>
          <a:noFill/>
          <a:ln w="0">
            <a:noFill/>
            <a:prstDash val="solid"/>
          </a:ln>
        </p:spPr>
        <p:txBody>
          <a:bodyPr lIns="0" tIns="0" rIns="0" bIns="0" anchor="ctr">
            <a:normAutofit/>
          </a:bodyPr>
          <a:lstStyle/>
          <a:p>
            <a:pPr algn="l">
              <a:defRPr sz="1725" b="1">
                <a:solidFill>
                  <a:srgbClr val="111111"/>
                </a:solidFill>
                <a:latin typeface="Arial"/>
                <a:ea typeface="Arial"/>
                <a:cs typeface="Arial"/>
              </a:defRPr>
            </a:pPr>
            <a:r>
              <a:rPr sz="1725" b="1">
                <a:solidFill>
                  <a:srgbClr val="111111"/>
                </a:solidFill>
                <a:latin typeface="Arial"/>
                <a:ea typeface="Arial"/>
                <a:cs typeface="Arial"/>
              </a:rPr>
              <a:t>Activation selects the environment. Deactivation leaves its files intact.</a:t>
            </a:r>
          </a:p>
        </p:txBody>
      </p:sp>
      <p:sp>
        <p:nvSpPr>
          <p:cNvPr id="9" name="next">
            <a:extLst>
              <a:ext uri="{FF2B5EF4-FFF2-40B4-BE49-F238E27FC236}">
                <a16:creationId xmlns:a16="http://schemas.microsoft.com/office/drawing/2014/main" id="{560A3AE4-5A3C-43F3-BB93-C574B994BE79}"/>
              </a:ext>
            </a:extLst>
          </p:cNvPr>
          <p:cNvSpPr>
            <a:spLocks noGrp="1"/>
          </p:cNvSpPr>
          <p:nvPr/>
        </p:nvSpPr>
        <p:spPr>
          <a:xfrm>
            <a:off x="1619250" y="5191125"/>
            <a:ext cx="8953500" cy="523875"/>
          </a:xfrm>
          <a:prstGeom prst="rect">
            <a:avLst/>
          </a:prstGeom>
          <a:noFill/>
          <a:ln w="0">
            <a:noFill/>
            <a:prstDash val="solid"/>
          </a:ln>
        </p:spPr>
        <p:txBody>
          <a:bodyPr lIns="0" tIns="0" rIns="0" bIns="0" anchor="ctr">
            <a:normAutofit/>
          </a:bodyPr>
          <a:lstStyle/>
          <a:p>
            <a:pPr algn="ctr">
              <a:defRPr sz="1875" b="1">
                <a:solidFill>
                  <a:srgbClr val="62666D"/>
                </a:solidFill>
                <a:latin typeface="Arial"/>
                <a:ea typeface="Arial"/>
                <a:cs typeface="Arial"/>
              </a:defRPr>
            </a:pPr>
            <a:r>
              <a:rPr sz="1875" b="1">
                <a:solidFill>
                  <a:srgbClr val="62666D"/>
                </a:solidFill>
                <a:latin typeface="Arial"/>
                <a:ea typeface="Arial"/>
                <a:cs typeface="Arial"/>
              </a:rPr>
              <a:t>The next slides create and configure this environment step by step.</a:t>
            </a:r>
          </a:p>
        </p:txBody>
      </p:sp>
    </p:spTree>
    <p:extLst>
      <p:ext uri="{BB962C8B-B14F-4D97-AF65-F5344CB8AC3E}">
        <p14:creationId xmlns:p14="http://schemas.microsoft.com/office/powerpoint/2010/main" val="1540506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FF39B723-632F-4079-BC99-E170FE51F7F8}"/>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Setup 0: install Python</a:t>
            </a:r>
          </a:p>
        </p:txBody>
      </p:sp>
      <p:sp>
        <p:nvSpPr>
          <p:cNvPr id="2" name="page">
            <a:extLst>
              <a:ext uri="{FF2B5EF4-FFF2-40B4-BE49-F238E27FC236}">
                <a16:creationId xmlns:a16="http://schemas.microsoft.com/office/drawing/2014/main" id="{8841B1F5-70D8-41B7-BFA1-AAA6ECB032B6}"/>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5</a:t>
            </a:r>
            <a:endParaRPr sz="975" b="0">
              <a:solidFill>
                <a:srgbClr val="62666D"/>
              </a:solidFill>
              <a:latin typeface="Arial"/>
              <a:ea typeface="Arial"/>
              <a:cs typeface="Arial"/>
            </a:endParaRPr>
          </a:p>
        </p:txBody>
      </p:sp>
      <p:sp>
        <p:nvSpPr>
          <p:cNvPr id="3" name="download">
            <a:extLst>
              <a:ext uri="{FF2B5EF4-FFF2-40B4-BE49-F238E27FC236}">
                <a16:creationId xmlns:a16="http://schemas.microsoft.com/office/drawing/2014/main" id="{2CBABE42-9670-482F-9A82-F38BD6C42EDE}"/>
              </a:ext>
            </a:extLst>
          </p:cNvPr>
          <p:cNvSpPr>
            <a:spLocks noGrp="1"/>
          </p:cNvSpPr>
          <p:nvPr/>
        </p:nvSpPr>
        <p:spPr>
          <a:xfrm>
            <a:off x="419100" y="1381125"/>
            <a:ext cx="6762750" cy="476250"/>
          </a:xfrm>
          <a:prstGeom prst="rect">
            <a:avLst/>
          </a:prstGeom>
          <a:noFill/>
          <a:ln w="0">
            <a:noFill/>
            <a:prstDash val="solid"/>
          </a:ln>
        </p:spPr>
        <p:txBody>
          <a:bodyPr lIns="0" tIns="0" rIns="0" bIns="0" anchor="ctr">
            <a:normAutofit/>
          </a:bodyPr>
          <a:lstStyle/>
          <a:p>
            <a:pPr algn="l">
              <a:defRPr sz="1950" b="1">
                <a:solidFill>
                  <a:srgbClr val="111111"/>
                </a:solidFill>
                <a:latin typeface="Arial"/>
                <a:ea typeface="Arial"/>
                <a:cs typeface="Arial"/>
              </a:defRPr>
            </a:pPr>
            <a:r>
              <a:rPr sz="1950" b="1">
                <a:solidFill>
                  <a:srgbClr val="111111"/>
                </a:solidFill>
                <a:latin typeface="Arial"/>
                <a:ea typeface="Arial"/>
                <a:cs typeface="Arial"/>
              </a:rPr>
              <a:t>Download the 64-bit Python 3.11 installer for Windows</a:t>
            </a:r>
          </a:p>
        </p:txBody>
      </p:sp>
      <p:sp>
        <p:nvSpPr>
          <p:cNvPr id="4" name="url">
            <a:extLst>
              <a:ext uri="{FF2B5EF4-FFF2-40B4-BE49-F238E27FC236}">
                <a16:creationId xmlns:a16="http://schemas.microsoft.com/office/drawing/2014/main" id="{C4964CBC-3B14-46E6-8195-6B39CA9CC641}"/>
              </a:ext>
            </a:extLst>
          </p:cNvPr>
          <p:cNvSpPr>
            <a:spLocks noGrp="1"/>
          </p:cNvSpPr>
          <p:nvPr/>
        </p:nvSpPr>
        <p:spPr>
          <a:xfrm>
            <a:off x="419100" y="2000250"/>
            <a:ext cx="6762750" cy="400050"/>
          </a:xfrm>
          <a:prstGeom prst="rect">
            <a:avLst/>
          </a:prstGeom>
          <a:noFill/>
          <a:ln w="0">
            <a:noFill/>
            <a:prstDash val="solid"/>
          </a:ln>
        </p:spPr>
        <p:txBody>
          <a:bodyPr lIns="0" tIns="0" rIns="0" bIns="0" anchor="ctr">
            <a:normAutofit/>
          </a:bodyPr>
          <a:lstStyle/>
          <a:p>
            <a:pPr algn="l">
              <a:defRPr sz="1800" b="1">
                <a:solidFill>
                  <a:srgbClr val="3D8DFF"/>
                </a:solidFill>
                <a:latin typeface="Consolas"/>
                <a:ea typeface="Consolas"/>
                <a:cs typeface="Consolas"/>
              </a:defRPr>
            </a:pPr>
            <a:r>
              <a:rPr sz="1800" b="1" dirty="0">
                <a:solidFill>
                  <a:srgbClr val="3D8DFF"/>
                </a:solidFill>
                <a:latin typeface="Consolas"/>
                <a:ea typeface="Consolas"/>
                <a:cs typeface="Consolas"/>
              </a:rPr>
              <a:t>python.org/downloads/windows</a:t>
            </a:r>
          </a:p>
        </p:txBody>
      </p:sp>
      <p:sp>
        <p:nvSpPr>
          <p:cNvPr id="5" name="installer">
            <a:extLst>
              <a:ext uri="{FF2B5EF4-FFF2-40B4-BE49-F238E27FC236}">
                <a16:creationId xmlns:a16="http://schemas.microsoft.com/office/drawing/2014/main" id="{9ACD575B-392B-4B5F-A2A2-096F805A7C59}"/>
              </a:ext>
            </a:extLst>
          </p:cNvPr>
          <p:cNvSpPr>
            <a:spLocks noGrp="1"/>
          </p:cNvSpPr>
          <p:nvPr/>
        </p:nvSpPr>
        <p:spPr>
          <a:xfrm>
            <a:off x="419100" y="2809875"/>
            <a:ext cx="6191250" cy="1809750"/>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dirty="0">
                <a:solidFill>
                  <a:srgbClr val="111111"/>
                </a:solidFill>
                <a:latin typeface="Arial"/>
                <a:ea typeface="Arial"/>
                <a:cs typeface="Arial"/>
              </a:rPr>
              <a:t>During installation</a:t>
            </a:r>
          </a:p>
          <a:p>
            <a:endParaRPr sz="1800" b="1" dirty="0">
              <a:solidFill>
                <a:srgbClr val="111111"/>
              </a:solidFill>
              <a:latin typeface="Arial"/>
              <a:ea typeface="Arial"/>
              <a:cs typeface="Arial"/>
            </a:endParaRPr>
          </a:p>
          <a:p>
            <a:pPr algn="l">
              <a:defRPr sz="1800" b="1">
                <a:solidFill>
                  <a:srgbClr val="111111"/>
                </a:solidFill>
                <a:latin typeface="Arial"/>
                <a:ea typeface="Arial"/>
                <a:cs typeface="Arial"/>
              </a:defRPr>
            </a:pPr>
            <a:r>
              <a:rPr sz="1800" b="1" dirty="0">
                <a:solidFill>
                  <a:srgbClr val="111111"/>
                </a:solidFill>
                <a:latin typeface="Arial"/>
                <a:ea typeface="Arial"/>
                <a:cs typeface="Arial"/>
              </a:rPr>
              <a:t>• enable Add python.exe to PATH</a:t>
            </a:r>
          </a:p>
          <a:p>
            <a:pPr algn="l">
              <a:defRPr sz="1800" b="1">
                <a:solidFill>
                  <a:srgbClr val="111111"/>
                </a:solidFill>
                <a:latin typeface="Arial"/>
                <a:ea typeface="Arial"/>
                <a:cs typeface="Arial"/>
              </a:defRPr>
            </a:pPr>
            <a:r>
              <a:rPr sz="1800" b="1" dirty="0">
                <a:solidFill>
                  <a:srgbClr val="111111"/>
                </a:solidFill>
                <a:latin typeface="Arial"/>
                <a:ea typeface="Arial"/>
                <a:cs typeface="Arial"/>
              </a:rPr>
              <a:t>• complete the installation</a:t>
            </a:r>
          </a:p>
          <a:p>
            <a:pPr algn="l">
              <a:defRPr sz="1800" b="1">
                <a:solidFill>
                  <a:srgbClr val="111111"/>
                </a:solidFill>
                <a:latin typeface="Arial"/>
                <a:ea typeface="Arial"/>
                <a:cs typeface="Arial"/>
              </a:defRPr>
            </a:pPr>
            <a:r>
              <a:rPr sz="1800" b="1" dirty="0">
                <a:solidFill>
                  <a:srgbClr val="111111"/>
                </a:solidFill>
                <a:latin typeface="Arial"/>
                <a:ea typeface="Arial"/>
                <a:cs typeface="Arial"/>
              </a:rPr>
              <a:t>• reopen PowerShell</a:t>
            </a:r>
          </a:p>
        </p:txBody>
      </p:sp>
      <p:sp>
        <p:nvSpPr>
          <p:cNvPr id="6" name="code">
            <a:extLst>
              <a:ext uri="{FF2B5EF4-FFF2-40B4-BE49-F238E27FC236}">
                <a16:creationId xmlns:a16="http://schemas.microsoft.com/office/drawing/2014/main" id="{D5462A10-DD99-4620-8C55-2116BBECFA56}"/>
              </a:ext>
            </a:extLst>
          </p:cNvPr>
          <p:cNvSpPr>
            <a:spLocks noGrp="1"/>
          </p:cNvSpPr>
          <p:nvPr/>
        </p:nvSpPr>
        <p:spPr>
          <a:xfrm>
            <a:off x="7000875" y="1571625"/>
            <a:ext cx="4762500" cy="2333625"/>
          </a:xfrm>
          <a:prstGeom prst="rect">
            <a:avLst/>
          </a:prstGeom>
          <a:solidFill>
            <a:srgbClr val="17212B"/>
          </a:solidFill>
          <a:ln w="0">
            <a:noFill/>
            <a:prstDash val="solid"/>
          </a:ln>
        </p:spPr>
        <p:txBody>
          <a:bodyPr/>
          <a:lstStyle/>
          <a:p>
            <a:endParaRPr lang="de-DE"/>
          </a:p>
        </p:txBody>
      </p:sp>
      <p:sp>
        <p:nvSpPr>
          <p:cNvPr id="7" name="label">
            <a:extLst>
              <a:ext uri="{FF2B5EF4-FFF2-40B4-BE49-F238E27FC236}">
                <a16:creationId xmlns:a16="http://schemas.microsoft.com/office/drawing/2014/main" id="{99F65479-5FA1-43EE-9D9D-EC3199390613}"/>
              </a:ext>
            </a:extLst>
          </p:cNvPr>
          <p:cNvSpPr>
            <a:spLocks noGrp="1"/>
          </p:cNvSpPr>
          <p:nvPr/>
        </p:nvSpPr>
        <p:spPr>
          <a:xfrm>
            <a:off x="7210425" y="1685925"/>
            <a:ext cx="434340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POWERSHELL</a:t>
            </a:r>
          </a:p>
        </p:txBody>
      </p:sp>
      <p:sp>
        <p:nvSpPr>
          <p:cNvPr id="8" name="code-text">
            <a:extLst>
              <a:ext uri="{FF2B5EF4-FFF2-40B4-BE49-F238E27FC236}">
                <a16:creationId xmlns:a16="http://schemas.microsoft.com/office/drawing/2014/main" id="{0B1953D7-399E-437E-8466-17FD83344BC4}"/>
              </a:ext>
            </a:extLst>
          </p:cNvPr>
          <p:cNvSpPr>
            <a:spLocks noGrp="1"/>
          </p:cNvSpPr>
          <p:nvPr/>
        </p:nvSpPr>
        <p:spPr>
          <a:xfrm>
            <a:off x="7210425" y="2028825"/>
            <a:ext cx="4343400" cy="1743075"/>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python --version</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python -c "import platform; print(platform.architecture()[0])"</a:t>
            </a:r>
          </a:p>
        </p:txBody>
      </p:sp>
      <p:sp>
        <p:nvSpPr>
          <p:cNvPr id="9" name="expected">
            <a:extLst>
              <a:ext uri="{FF2B5EF4-FFF2-40B4-BE49-F238E27FC236}">
                <a16:creationId xmlns:a16="http://schemas.microsoft.com/office/drawing/2014/main" id="{9A2B1C4F-A4BC-4265-9E83-D3453C253ACF}"/>
              </a:ext>
            </a:extLst>
          </p:cNvPr>
          <p:cNvSpPr>
            <a:spLocks noGrp="1"/>
          </p:cNvSpPr>
          <p:nvPr/>
        </p:nvSpPr>
        <p:spPr>
          <a:xfrm>
            <a:off x="7239000" y="4143375"/>
            <a:ext cx="4286250" cy="428625"/>
          </a:xfrm>
          <a:prstGeom prst="rect">
            <a:avLst/>
          </a:prstGeom>
          <a:noFill/>
          <a:ln w="0">
            <a:noFill/>
            <a:prstDash val="solid"/>
          </a:ln>
        </p:spPr>
        <p:txBody>
          <a:bodyPr lIns="0" tIns="0" rIns="0" bIns="0" anchor="ctr">
            <a:normAutofit/>
          </a:bodyPr>
          <a:lstStyle/>
          <a:p>
            <a:pPr algn="ctr">
              <a:defRPr sz="1725" b="1">
                <a:solidFill>
                  <a:srgbClr val="111111"/>
                </a:solidFill>
                <a:latin typeface="Consolas"/>
                <a:ea typeface="Consolas"/>
                <a:cs typeface="Consolas"/>
              </a:defRPr>
            </a:pPr>
            <a:r>
              <a:rPr sz="1725" b="1">
                <a:solidFill>
                  <a:srgbClr val="111111"/>
                </a:solidFill>
                <a:latin typeface="Consolas"/>
                <a:ea typeface="Consolas"/>
                <a:cs typeface="Consolas"/>
              </a:rPr>
              <a:t>Expected:  Python 3.11.x    64bit</a:t>
            </a:r>
          </a:p>
        </p:txBody>
      </p:sp>
      <p:sp>
        <p:nvSpPr>
          <p:cNvPr id="10" name="compat">
            <a:extLst>
              <a:ext uri="{FF2B5EF4-FFF2-40B4-BE49-F238E27FC236}">
                <a16:creationId xmlns:a16="http://schemas.microsoft.com/office/drawing/2014/main" id="{E7ADF8BD-386C-4802-B15C-732A50974B1D}"/>
              </a:ext>
            </a:extLst>
          </p:cNvPr>
          <p:cNvSpPr>
            <a:spLocks noGrp="1"/>
          </p:cNvSpPr>
          <p:nvPr/>
        </p:nvSpPr>
        <p:spPr>
          <a:xfrm>
            <a:off x="1143000" y="5095875"/>
            <a:ext cx="9906000" cy="685800"/>
          </a:xfrm>
          <a:prstGeom prst="rect">
            <a:avLst/>
          </a:prstGeom>
          <a:solidFill>
            <a:srgbClr val="D9F1FC"/>
          </a:solidFill>
          <a:ln w="0">
            <a:noFill/>
            <a:prstDash val="solid"/>
          </a:ln>
        </p:spPr>
        <p:txBody>
          <a:bodyPr/>
          <a:lstStyle/>
          <a:p>
            <a:endParaRPr lang="de-DE"/>
          </a:p>
        </p:txBody>
      </p:sp>
      <p:sp>
        <p:nvSpPr>
          <p:cNvPr id="11" name="compat-text">
            <a:extLst>
              <a:ext uri="{FF2B5EF4-FFF2-40B4-BE49-F238E27FC236}">
                <a16:creationId xmlns:a16="http://schemas.microsoft.com/office/drawing/2014/main" id="{0EC88EBC-2CD1-4EFA-9B85-0DD92BBF511E}"/>
              </a:ext>
            </a:extLst>
          </p:cNvPr>
          <p:cNvSpPr>
            <a:spLocks noGrp="1"/>
          </p:cNvSpPr>
          <p:nvPr/>
        </p:nvSpPr>
        <p:spPr>
          <a:xfrm>
            <a:off x="1381125" y="5191125"/>
            <a:ext cx="9429750" cy="495300"/>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PaddlePaddle currently supports Python 3.9–3.13. For pinned version 3.2.0 on Windows, use 3.9–3.12. This course recommends 3.11.</a:t>
            </a:r>
          </a:p>
        </p:txBody>
      </p:sp>
    </p:spTree>
    <p:extLst>
      <p:ext uri="{BB962C8B-B14F-4D97-AF65-F5344CB8AC3E}">
        <p14:creationId xmlns:p14="http://schemas.microsoft.com/office/powerpoint/2010/main" val="749661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0466E49A-DA7E-4EAE-87E2-6048D709099A}"/>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Environment creation</a:t>
            </a:r>
          </a:p>
        </p:txBody>
      </p:sp>
      <p:sp>
        <p:nvSpPr>
          <p:cNvPr id="2" name="page">
            <a:extLst>
              <a:ext uri="{FF2B5EF4-FFF2-40B4-BE49-F238E27FC236}">
                <a16:creationId xmlns:a16="http://schemas.microsoft.com/office/drawing/2014/main" id="{9DD9FA3E-A6F1-4A16-8979-479F2B91749A}"/>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6</a:t>
            </a:r>
            <a:endParaRPr sz="975" b="0">
              <a:solidFill>
                <a:srgbClr val="62666D"/>
              </a:solidFill>
              <a:latin typeface="Arial"/>
              <a:ea typeface="Arial"/>
              <a:cs typeface="Arial"/>
            </a:endParaRPr>
          </a:p>
        </p:txBody>
      </p:sp>
      <p:sp>
        <p:nvSpPr>
          <p:cNvPr id="3" name="setup-label">
            <a:extLst>
              <a:ext uri="{FF2B5EF4-FFF2-40B4-BE49-F238E27FC236}">
                <a16:creationId xmlns:a16="http://schemas.microsoft.com/office/drawing/2014/main" id="{6F9F51D1-6626-4867-A208-78B18DF7E8B3}"/>
              </a:ext>
            </a:extLst>
          </p:cNvPr>
          <p:cNvSpPr>
            <a:spLocks noGrp="1"/>
          </p:cNvSpPr>
          <p:nvPr/>
        </p:nvSpPr>
        <p:spPr>
          <a:xfrm>
            <a:off x="419100" y="1238250"/>
            <a:ext cx="6858000" cy="400050"/>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Setup 1: check Python, then create the environment.</a:t>
            </a:r>
          </a:p>
        </p:txBody>
      </p:sp>
      <p:sp>
        <p:nvSpPr>
          <p:cNvPr id="4" name="code">
            <a:extLst>
              <a:ext uri="{FF2B5EF4-FFF2-40B4-BE49-F238E27FC236}">
                <a16:creationId xmlns:a16="http://schemas.microsoft.com/office/drawing/2014/main" id="{A9CA58F7-61B2-4320-9CA4-502AF246871D}"/>
              </a:ext>
            </a:extLst>
          </p:cNvPr>
          <p:cNvSpPr>
            <a:spLocks noGrp="1"/>
          </p:cNvSpPr>
          <p:nvPr/>
        </p:nvSpPr>
        <p:spPr>
          <a:xfrm>
            <a:off x="419100" y="1857375"/>
            <a:ext cx="6858000" cy="2571750"/>
          </a:xfrm>
          <a:prstGeom prst="rect">
            <a:avLst/>
          </a:prstGeom>
          <a:solidFill>
            <a:srgbClr val="17212B"/>
          </a:solidFill>
          <a:ln w="0">
            <a:noFill/>
            <a:prstDash val="solid"/>
          </a:ln>
        </p:spPr>
        <p:txBody>
          <a:bodyPr/>
          <a:lstStyle/>
          <a:p>
            <a:endParaRPr lang="de-DE"/>
          </a:p>
        </p:txBody>
      </p:sp>
      <p:sp>
        <p:nvSpPr>
          <p:cNvPr id="5" name="label">
            <a:extLst>
              <a:ext uri="{FF2B5EF4-FFF2-40B4-BE49-F238E27FC236}">
                <a16:creationId xmlns:a16="http://schemas.microsoft.com/office/drawing/2014/main" id="{A6EA7D0A-CEDC-4B5F-BF0F-7CEE0E852B61}"/>
              </a:ext>
            </a:extLst>
          </p:cNvPr>
          <p:cNvSpPr>
            <a:spLocks noGrp="1"/>
          </p:cNvSpPr>
          <p:nvPr/>
        </p:nvSpPr>
        <p:spPr>
          <a:xfrm>
            <a:off x="628650" y="1971675"/>
            <a:ext cx="643890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POWERSHELL</a:t>
            </a:r>
          </a:p>
        </p:txBody>
      </p:sp>
      <p:sp>
        <p:nvSpPr>
          <p:cNvPr id="6" name="code-text">
            <a:extLst>
              <a:ext uri="{FF2B5EF4-FFF2-40B4-BE49-F238E27FC236}">
                <a16:creationId xmlns:a16="http://schemas.microsoft.com/office/drawing/2014/main" id="{EB8D5AD6-5CAF-418B-AB32-7820B2831EC8}"/>
              </a:ext>
            </a:extLst>
          </p:cNvPr>
          <p:cNvSpPr>
            <a:spLocks noGrp="1"/>
          </p:cNvSpPr>
          <p:nvPr/>
        </p:nvSpPr>
        <p:spPr>
          <a:xfrm>
            <a:off x="628650" y="2314575"/>
            <a:ext cx="6438900" cy="1981200"/>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python --version</a:t>
            </a:r>
          </a:p>
          <a:p>
            <a:endParaRPr sz="1275" b="0" dirty="0">
              <a:solidFill>
                <a:srgbClr val="F5F7FA"/>
              </a:solidFill>
              <a:latin typeface="Consolas"/>
              <a:ea typeface="Consolas"/>
              <a:cs typeface="Consolas"/>
            </a:endParaRPr>
          </a:p>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python -m </a:t>
            </a:r>
            <a:r>
              <a:rPr sz="1275" b="0" dirty="0" err="1">
                <a:solidFill>
                  <a:srgbClr val="F5F7FA"/>
                </a:solidFill>
                <a:latin typeface="Consolas"/>
                <a:ea typeface="Consolas"/>
                <a:cs typeface="Consolas"/>
              </a:rPr>
              <a:t>venv</a:t>
            </a:r>
            <a:r>
              <a:rPr sz="1275" b="0" dirty="0">
                <a:solidFill>
                  <a:srgbClr val="F5F7FA"/>
                </a:solidFill>
                <a:latin typeface="Consolas"/>
                <a:ea typeface="Consolas"/>
                <a:cs typeface="Consolas"/>
              </a:rPr>
              <a:t> C:\venvs\paddleocr</a:t>
            </a:r>
          </a:p>
        </p:txBody>
      </p:sp>
      <p:sp>
        <p:nvSpPr>
          <p:cNvPr id="7" name="check">
            <a:extLst>
              <a:ext uri="{FF2B5EF4-FFF2-40B4-BE49-F238E27FC236}">
                <a16:creationId xmlns:a16="http://schemas.microsoft.com/office/drawing/2014/main" id="{9D12526F-426D-4F4B-B877-5197A2405DF6}"/>
              </a:ext>
            </a:extLst>
          </p:cNvPr>
          <p:cNvSpPr>
            <a:spLocks noGrp="1"/>
          </p:cNvSpPr>
          <p:nvPr/>
        </p:nvSpPr>
        <p:spPr>
          <a:xfrm>
            <a:off x="7762875" y="1714500"/>
            <a:ext cx="3429000" cy="361950"/>
          </a:xfrm>
          <a:prstGeom prst="rect">
            <a:avLst/>
          </a:prstGeom>
          <a:noFill/>
          <a:ln w="0">
            <a:noFill/>
            <a:prstDash val="solid"/>
          </a:ln>
        </p:spPr>
        <p:txBody>
          <a:bodyPr lIns="0" tIns="0" rIns="0" bIns="0" anchor="ctr">
            <a:normAutofit/>
          </a:bodyPr>
          <a:lstStyle/>
          <a:p>
            <a:pPr algn="l">
              <a:defRPr sz="1800" b="1">
                <a:solidFill>
                  <a:srgbClr val="3D8DFF"/>
                </a:solidFill>
                <a:latin typeface="Arial"/>
                <a:ea typeface="Arial"/>
                <a:cs typeface="Arial"/>
              </a:defRPr>
            </a:pPr>
            <a:r>
              <a:rPr sz="1800" b="1">
                <a:solidFill>
                  <a:srgbClr val="3D8DFF"/>
                </a:solidFill>
                <a:latin typeface="Arial"/>
                <a:ea typeface="Arial"/>
                <a:cs typeface="Arial"/>
              </a:rPr>
              <a:t>Expected for this course</a:t>
            </a:r>
          </a:p>
        </p:txBody>
      </p:sp>
      <p:sp>
        <p:nvSpPr>
          <p:cNvPr id="8" name="version">
            <a:extLst>
              <a:ext uri="{FF2B5EF4-FFF2-40B4-BE49-F238E27FC236}">
                <a16:creationId xmlns:a16="http://schemas.microsoft.com/office/drawing/2014/main" id="{EA2AAC66-5FF0-4597-A9E1-BA424C9F7F39}"/>
              </a:ext>
            </a:extLst>
          </p:cNvPr>
          <p:cNvSpPr>
            <a:spLocks noGrp="1"/>
          </p:cNvSpPr>
          <p:nvPr/>
        </p:nvSpPr>
        <p:spPr>
          <a:xfrm>
            <a:off x="7762875" y="2238375"/>
            <a:ext cx="3429000" cy="523875"/>
          </a:xfrm>
          <a:prstGeom prst="rect">
            <a:avLst/>
          </a:prstGeom>
          <a:noFill/>
          <a:ln w="0">
            <a:noFill/>
            <a:prstDash val="solid"/>
          </a:ln>
        </p:spPr>
        <p:txBody>
          <a:bodyPr lIns="0" tIns="0" rIns="0" bIns="0" anchor="ctr">
            <a:normAutofit/>
          </a:bodyPr>
          <a:lstStyle/>
          <a:p>
            <a:pPr algn="l">
              <a:defRPr sz="2400" b="1">
                <a:solidFill>
                  <a:srgbClr val="111111"/>
                </a:solidFill>
                <a:latin typeface="Consolas"/>
                <a:ea typeface="Consolas"/>
                <a:cs typeface="Consolas"/>
              </a:defRPr>
            </a:pPr>
            <a:r>
              <a:rPr sz="2400" b="1">
                <a:solidFill>
                  <a:srgbClr val="111111"/>
                </a:solidFill>
                <a:latin typeface="Consolas"/>
                <a:ea typeface="Consolas"/>
                <a:cs typeface="Consolas"/>
              </a:rPr>
              <a:t>Python 3.11.x</a:t>
            </a:r>
          </a:p>
        </p:txBody>
      </p:sp>
      <p:sp>
        <p:nvSpPr>
          <p:cNvPr id="9" name="reason">
            <a:extLst>
              <a:ext uri="{FF2B5EF4-FFF2-40B4-BE49-F238E27FC236}">
                <a16:creationId xmlns:a16="http://schemas.microsoft.com/office/drawing/2014/main" id="{02BC7B98-9874-489F-BF26-B2908F2C04B4}"/>
              </a:ext>
            </a:extLst>
          </p:cNvPr>
          <p:cNvSpPr>
            <a:spLocks noGrp="1"/>
          </p:cNvSpPr>
          <p:nvPr/>
        </p:nvSpPr>
        <p:spPr>
          <a:xfrm>
            <a:off x="7762875" y="3143250"/>
            <a:ext cx="3476625" cy="1238250"/>
          </a:xfrm>
          <a:prstGeom prst="rect">
            <a:avLst/>
          </a:prstGeom>
          <a:noFill/>
          <a:ln w="0">
            <a:noFill/>
            <a:prstDash val="solid"/>
          </a:ln>
        </p:spPr>
        <p:txBody>
          <a:bodyPr lIns="0" tIns="0" rIns="0" bIns="0" anchor="ctr">
            <a:normAutofit/>
          </a:bodyPr>
          <a:lstStyle/>
          <a:p>
            <a:pPr algn="l">
              <a:defRPr sz="1725" b="0">
                <a:solidFill>
                  <a:srgbClr val="111111"/>
                </a:solidFill>
                <a:latin typeface="Arial"/>
                <a:ea typeface="Arial"/>
                <a:cs typeface="Arial"/>
              </a:defRPr>
            </a:pPr>
            <a:r>
              <a:rPr sz="1725" b="0">
                <a:solidFill>
                  <a:srgbClr val="111111"/>
                </a:solidFill>
                <a:latin typeface="Arial"/>
                <a:ea typeface="Arial"/>
                <a:cs typeface="Arial"/>
              </a:rPr>
              <a:t>The short C:\venvs path reduces the risk of Windows path-length errors during PaddlePaddle installation.</a:t>
            </a:r>
          </a:p>
        </p:txBody>
      </p:sp>
      <p:sp>
        <p:nvSpPr>
          <p:cNvPr id="10" name="launcher">
            <a:extLst>
              <a:ext uri="{FF2B5EF4-FFF2-40B4-BE49-F238E27FC236}">
                <a16:creationId xmlns:a16="http://schemas.microsoft.com/office/drawing/2014/main" id="{CEB48998-5A25-4C13-96A0-580B2E1ABBB5}"/>
              </a:ext>
            </a:extLst>
          </p:cNvPr>
          <p:cNvSpPr>
            <a:spLocks noGrp="1"/>
          </p:cNvSpPr>
          <p:nvPr/>
        </p:nvSpPr>
        <p:spPr>
          <a:xfrm>
            <a:off x="1143000" y="5048250"/>
            <a:ext cx="9906000" cy="619125"/>
          </a:xfrm>
          <a:prstGeom prst="rect">
            <a:avLst/>
          </a:prstGeom>
          <a:solidFill>
            <a:srgbClr val="D9F1FC"/>
          </a:solidFill>
          <a:ln w="0">
            <a:noFill/>
            <a:prstDash val="solid"/>
          </a:ln>
        </p:spPr>
        <p:txBody>
          <a:bodyPr/>
          <a:lstStyle/>
          <a:p>
            <a:endParaRPr lang="de-DE"/>
          </a:p>
        </p:txBody>
      </p:sp>
      <p:sp>
        <p:nvSpPr>
          <p:cNvPr id="11" name="launcher-text">
            <a:extLst>
              <a:ext uri="{FF2B5EF4-FFF2-40B4-BE49-F238E27FC236}">
                <a16:creationId xmlns:a16="http://schemas.microsoft.com/office/drawing/2014/main" id="{FFD795CF-B22F-433D-9D72-5BEAEB54A980}"/>
              </a:ext>
            </a:extLst>
          </p:cNvPr>
          <p:cNvSpPr>
            <a:spLocks noGrp="1"/>
          </p:cNvSpPr>
          <p:nvPr/>
        </p:nvSpPr>
        <p:spPr>
          <a:xfrm>
            <a:off x="1381125" y="5162550"/>
            <a:ext cx="9429750" cy="381000"/>
          </a:xfrm>
          <a:prstGeom prst="rect">
            <a:avLst/>
          </a:prstGeom>
          <a:noFill/>
          <a:ln w="0">
            <a:noFill/>
            <a:prstDash val="solid"/>
          </a:ln>
        </p:spPr>
        <p:txBody>
          <a:bodyPr lIns="0" tIns="0" rIns="0" bIns="0" anchor="ctr">
            <a:normAutofit/>
          </a:bodyPr>
          <a:lstStyle/>
          <a:p>
            <a:pPr algn="ctr">
              <a:defRPr sz="1650" b="1">
                <a:solidFill>
                  <a:srgbClr val="111111"/>
                </a:solidFill>
                <a:latin typeface="Arial"/>
                <a:ea typeface="Arial"/>
                <a:cs typeface="Arial"/>
              </a:defRPr>
            </a:pPr>
            <a:r>
              <a:rPr sz="1650" b="1">
                <a:solidFill>
                  <a:srgbClr val="111111"/>
                </a:solidFill>
                <a:latin typeface="Arial"/>
                <a:ea typeface="Arial"/>
                <a:cs typeface="Arial"/>
              </a:rPr>
              <a:t>Use python directly. The optional Windows py launcher may not be installed.</a:t>
            </a:r>
          </a:p>
        </p:txBody>
      </p:sp>
    </p:spTree>
    <p:extLst>
      <p:ext uri="{BB962C8B-B14F-4D97-AF65-F5344CB8AC3E}">
        <p14:creationId xmlns:p14="http://schemas.microsoft.com/office/powerpoint/2010/main" val="1490606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AB645179-61F6-46AD-B5B7-F2AEF19F4453}"/>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Setup 2: activate and verify the environment</a:t>
            </a:r>
          </a:p>
        </p:txBody>
      </p:sp>
      <p:sp>
        <p:nvSpPr>
          <p:cNvPr id="2" name="page">
            <a:extLst>
              <a:ext uri="{FF2B5EF4-FFF2-40B4-BE49-F238E27FC236}">
                <a16:creationId xmlns:a16="http://schemas.microsoft.com/office/drawing/2014/main" id="{71B9375C-25C0-4CA6-BF4F-49A6FAF17521}"/>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7</a:t>
            </a:r>
            <a:endParaRPr sz="975" b="0">
              <a:solidFill>
                <a:srgbClr val="62666D"/>
              </a:solidFill>
              <a:latin typeface="Arial"/>
              <a:ea typeface="Arial"/>
              <a:cs typeface="Arial"/>
            </a:endParaRPr>
          </a:p>
        </p:txBody>
      </p:sp>
      <p:sp>
        <p:nvSpPr>
          <p:cNvPr id="3" name="code">
            <a:extLst>
              <a:ext uri="{FF2B5EF4-FFF2-40B4-BE49-F238E27FC236}">
                <a16:creationId xmlns:a16="http://schemas.microsoft.com/office/drawing/2014/main" id="{9E1BB477-222C-40E7-B75A-5866D51AEEE6}"/>
              </a:ext>
            </a:extLst>
          </p:cNvPr>
          <p:cNvSpPr>
            <a:spLocks noGrp="1"/>
          </p:cNvSpPr>
          <p:nvPr/>
        </p:nvSpPr>
        <p:spPr>
          <a:xfrm>
            <a:off x="419100" y="1580417"/>
            <a:ext cx="7239000" cy="3143250"/>
          </a:xfrm>
          <a:prstGeom prst="rect">
            <a:avLst/>
          </a:prstGeom>
          <a:solidFill>
            <a:srgbClr val="17212B"/>
          </a:solidFill>
          <a:ln w="0">
            <a:noFill/>
            <a:prstDash val="solid"/>
          </a:ln>
        </p:spPr>
        <p:txBody>
          <a:bodyPr/>
          <a:lstStyle/>
          <a:p>
            <a:endParaRPr lang="de-DE"/>
          </a:p>
        </p:txBody>
      </p:sp>
      <p:sp>
        <p:nvSpPr>
          <p:cNvPr id="4" name="label">
            <a:extLst>
              <a:ext uri="{FF2B5EF4-FFF2-40B4-BE49-F238E27FC236}">
                <a16:creationId xmlns:a16="http://schemas.microsoft.com/office/drawing/2014/main" id="{207AF86F-6680-4646-AB6A-91AF8A494365}"/>
              </a:ext>
            </a:extLst>
          </p:cNvPr>
          <p:cNvSpPr>
            <a:spLocks noGrp="1"/>
          </p:cNvSpPr>
          <p:nvPr/>
        </p:nvSpPr>
        <p:spPr>
          <a:xfrm>
            <a:off x="628650" y="1685925"/>
            <a:ext cx="681990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POWERSHELL</a:t>
            </a:r>
          </a:p>
        </p:txBody>
      </p:sp>
      <p:sp>
        <p:nvSpPr>
          <p:cNvPr id="5" name="code-text">
            <a:extLst>
              <a:ext uri="{FF2B5EF4-FFF2-40B4-BE49-F238E27FC236}">
                <a16:creationId xmlns:a16="http://schemas.microsoft.com/office/drawing/2014/main" id="{B387E0E3-0D88-452C-8D1F-B55E5D58BCED}"/>
              </a:ext>
            </a:extLst>
          </p:cNvPr>
          <p:cNvSpPr>
            <a:spLocks noGrp="1"/>
          </p:cNvSpPr>
          <p:nvPr/>
        </p:nvSpPr>
        <p:spPr>
          <a:xfrm>
            <a:off x="628650" y="2028825"/>
            <a:ext cx="6819900" cy="2552700"/>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C:\venvs\paddleocr\Scripts\Activate.ps1</a:t>
            </a:r>
          </a:p>
          <a:p>
            <a:endParaRPr sz="1275" b="0" dirty="0">
              <a:solidFill>
                <a:srgbClr val="F5F7FA"/>
              </a:solidFill>
              <a:latin typeface="Consolas"/>
              <a:ea typeface="Consolas"/>
              <a:cs typeface="Consolas"/>
            </a:endParaRPr>
          </a:p>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python -c "import sys; print(</a:t>
            </a:r>
            <a:r>
              <a:rPr sz="1275" b="0" dirty="0" err="1">
                <a:solidFill>
                  <a:srgbClr val="F5F7FA"/>
                </a:solidFill>
                <a:latin typeface="Consolas"/>
                <a:ea typeface="Consolas"/>
                <a:cs typeface="Consolas"/>
              </a:rPr>
              <a:t>sys.executable</a:t>
            </a:r>
            <a:r>
              <a:rPr sz="1275" b="0" dirty="0">
                <a:solidFill>
                  <a:srgbClr val="F5F7FA"/>
                </a:solidFill>
                <a:latin typeface="Consolas"/>
                <a:ea typeface="Consolas"/>
                <a:cs typeface="Consolas"/>
              </a:rPr>
              <a:t>)"</a:t>
            </a:r>
          </a:p>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python -m pip --version</a:t>
            </a:r>
          </a:p>
        </p:txBody>
      </p:sp>
      <p:sp>
        <p:nvSpPr>
          <p:cNvPr id="6" name="expected">
            <a:extLst>
              <a:ext uri="{FF2B5EF4-FFF2-40B4-BE49-F238E27FC236}">
                <a16:creationId xmlns:a16="http://schemas.microsoft.com/office/drawing/2014/main" id="{709DED1C-DB20-45E1-9FB8-A74A45BE124F}"/>
              </a:ext>
            </a:extLst>
          </p:cNvPr>
          <p:cNvSpPr>
            <a:spLocks noGrp="1"/>
          </p:cNvSpPr>
          <p:nvPr/>
        </p:nvSpPr>
        <p:spPr>
          <a:xfrm>
            <a:off x="8096250" y="1714500"/>
            <a:ext cx="3143250" cy="381000"/>
          </a:xfrm>
          <a:prstGeom prst="rect">
            <a:avLst/>
          </a:prstGeom>
          <a:noFill/>
          <a:ln w="0">
            <a:noFill/>
            <a:prstDash val="solid"/>
          </a:ln>
        </p:spPr>
        <p:txBody>
          <a:bodyPr lIns="0" tIns="0" rIns="0" bIns="0" anchor="ctr">
            <a:normAutofit/>
          </a:bodyPr>
          <a:lstStyle/>
          <a:p>
            <a:pPr algn="l">
              <a:defRPr sz="1725" b="1">
                <a:solidFill>
                  <a:srgbClr val="3D8DFF"/>
                </a:solidFill>
                <a:latin typeface="Arial"/>
                <a:ea typeface="Arial"/>
                <a:cs typeface="Arial"/>
              </a:defRPr>
            </a:pPr>
            <a:r>
              <a:rPr sz="1725" b="1">
                <a:solidFill>
                  <a:srgbClr val="3D8DFF"/>
                </a:solidFill>
                <a:latin typeface="Arial"/>
                <a:ea typeface="Arial"/>
                <a:cs typeface="Arial"/>
              </a:rPr>
              <a:t>Both paths must begin with</a:t>
            </a:r>
          </a:p>
        </p:txBody>
      </p:sp>
      <p:sp>
        <p:nvSpPr>
          <p:cNvPr id="7" name="expected-path">
            <a:extLst>
              <a:ext uri="{FF2B5EF4-FFF2-40B4-BE49-F238E27FC236}">
                <a16:creationId xmlns:a16="http://schemas.microsoft.com/office/drawing/2014/main" id="{49C519FC-81DE-4E7E-83C3-7E61C21E1715}"/>
              </a:ext>
            </a:extLst>
          </p:cNvPr>
          <p:cNvSpPr>
            <a:spLocks noGrp="1"/>
          </p:cNvSpPr>
          <p:nvPr/>
        </p:nvSpPr>
        <p:spPr>
          <a:xfrm>
            <a:off x="8096250" y="2333625"/>
            <a:ext cx="3143250" cy="476250"/>
          </a:xfrm>
          <a:prstGeom prst="rect">
            <a:avLst/>
          </a:prstGeom>
          <a:noFill/>
          <a:ln w="0">
            <a:noFill/>
            <a:prstDash val="solid"/>
          </a:ln>
        </p:spPr>
        <p:txBody>
          <a:bodyPr lIns="0" tIns="0" rIns="0" bIns="0" anchor="ctr">
            <a:normAutofit/>
          </a:bodyPr>
          <a:lstStyle/>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C:\venvs\paddleocr</a:t>
            </a:r>
          </a:p>
        </p:txBody>
      </p:sp>
      <p:sp>
        <p:nvSpPr>
          <p:cNvPr id="8" name="prompt">
            <a:extLst>
              <a:ext uri="{FF2B5EF4-FFF2-40B4-BE49-F238E27FC236}">
                <a16:creationId xmlns:a16="http://schemas.microsoft.com/office/drawing/2014/main" id="{BF5F28EB-C573-4276-958B-6382F7CA3C2E}"/>
              </a:ext>
            </a:extLst>
          </p:cNvPr>
          <p:cNvSpPr>
            <a:spLocks noGrp="1"/>
          </p:cNvSpPr>
          <p:nvPr/>
        </p:nvSpPr>
        <p:spPr>
          <a:xfrm>
            <a:off x="8096250" y="3190875"/>
            <a:ext cx="3143250" cy="952500"/>
          </a:xfrm>
          <a:prstGeom prst="rect">
            <a:avLst/>
          </a:prstGeom>
          <a:noFill/>
          <a:ln w="0">
            <a:noFill/>
            <a:prstDash val="solid"/>
          </a:ln>
        </p:spPr>
        <p:txBody>
          <a:bodyPr lIns="0" tIns="0" rIns="0" bIns="0" anchor="ctr">
            <a:normAutofit fontScale="90580"/>
          </a:bodyPr>
          <a:lstStyle/>
          <a:p>
            <a:pPr algn="l">
              <a:defRPr sz="1725" b="1">
                <a:solidFill>
                  <a:srgbClr val="111111"/>
                </a:solidFill>
                <a:latin typeface="Arial"/>
                <a:ea typeface="Arial"/>
                <a:cs typeface="Arial"/>
              </a:defRPr>
            </a:pPr>
            <a:r>
              <a:rPr sz="1725" b="1" dirty="0">
                <a:solidFill>
                  <a:srgbClr val="111111"/>
                </a:solidFill>
                <a:latin typeface="Arial"/>
                <a:ea typeface="Arial"/>
                <a:cs typeface="Arial"/>
              </a:rPr>
              <a:t>The terminal prompt normally begins with:</a:t>
            </a:r>
          </a:p>
          <a:p>
            <a:endParaRPr sz="1725" b="1" dirty="0">
              <a:solidFill>
                <a:srgbClr val="111111"/>
              </a:solidFill>
              <a:latin typeface="Arial"/>
              <a:ea typeface="Arial"/>
              <a:cs typeface="Arial"/>
            </a:endParaRPr>
          </a:p>
          <a:p>
            <a:pPr algn="l">
              <a:defRPr sz="1725" b="1">
                <a:solidFill>
                  <a:srgbClr val="111111"/>
                </a:solidFill>
                <a:latin typeface="Arial"/>
                <a:ea typeface="Arial"/>
                <a:cs typeface="Arial"/>
              </a:defRPr>
            </a:pPr>
            <a:r>
              <a:rPr sz="1725" b="1" dirty="0">
                <a:solidFill>
                  <a:srgbClr val="111111"/>
                </a:solidFill>
                <a:latin typeface="Arial"/>
                <a:ea typeface="Arial"/>
                <a:cs typeface="Arial"/>
              </a:rPr>
              <a:t>(</a:t>
            </a:r>
            <a:r>
              <a:rPr sz="1725" b="1" dirty="0" err="1">
                <a:solidFill>
                  <a:srgbClr val="111111"/>
                </a:solidFill>
                <a:latin typeface="Arial"/>
                <a:ea typeface="Arial"/>
                <a:cs typeface="Arial"/>
              </a:rPr>
              <a:t>paddleocr</a:t>
            </a:r>
            <a:r>
              <a:rPr sz="1725" b="1" dirty="0">
                <a:solidFill>
                  <a:srgbClr val="111111"/>
                </a:solidFill>
                <a:latin typeface="Arial"/>
                <a:ea typeface="Arial"/>
                <a:cs typeface="Arial"/>
              </a:rPr>
              <a:t>)</a:t>
            </a:r>
          </a:p>
        </p:txBody>
      </p:sp>
      <p:sp>
        <p:nvSpPr>
          <p:cNvPr id="9" name="policy">
            <a:extLst>
              <a:ext uri="{FF2B5EF4-FFF2-40B4-BE49-F238E27FC236}">
                <a16:creationId xmlns:a16="http://schemas.microsoft.com/office/drawing/2014/main" id="{57359E97-5B76-4E9D-AF8C-13C44A034DE6}"/>
              </a:ext>
            </a:extLst>
          </p:cNvPr>
          <p:cNvSpPr>
            <a:spLocks noGrp="1"/>
          </p:cNvSpPr>
          <p:nvPr/>
        </p:nvSpPr>
        <p:spPr>
          <a:xfrm>
            <a:off x="857250" y="4953000"/>
            <a:ext cx="10477500" cy="1843454"/>
          </a:xfrm>
          <a:prstGeom prst="rect">
            <a:avLst/>
          </a:prstGeom>
          <a:noFill/>
          <a:ln w="0">
            <a:noFill/>
            <a:prstDash val="solid"/>
          </a:ln>
        </p:spPr>
        <p:txBody>
          <a:bodyPr lIns="0" tIns="0" rIns="0" bIns="0" anchor="ctr">
            <a:normAutofit/>
          </a:bodyPr>
          <a:lstStyle/>
          <a:p>
            <a:pPr algn="ctr">
              <a:defRPr sz="1425" b="1">
                <a:solidFill>
                  <a:srgbClr val="62666D"/>
                </a:solidFill>
                <a:latin typeface="Consolas"/>
                <a:ea typeface="Consolas"/>
                <a:cs typeface="Consolas"/>
              </a:defRPr>
            </a:pPr>
            <a:r>
              <a:rPr sz="1425" b="1" dirty="0">
                <a:solidFill>
                  <a:srgbClr val="62666D"/>
                </a:solidFill>
                <a:latin typeface="Consolas"/>
                <a:ea typeface="Consolas"/>
                <a:cs typeface="Consolas"/>
              </a:rPr>
              <a:t>If PowerShell blocks activation:</a:t>
            </a:r>
          </a:p>
          <a:p>
            <a:pPr algn="ctr">
              <a:defRPr sz="1425" b="1">
                <a:solidFill>
                  <a:srgbClr val="62666D"/>
                </a:solidFill>
                <a:latin typeface="Consolas"/>
                <a:ea typeface="Consolas"/>
                <a:cs typeface="Consolas"/>
              </a:defRPr>
            </a:pPr>
            <a:r>
              <a:rPr sz="1425" b="1" dirty="0">
                <a:solidFill>
                  <a:srgbClr val="62666D"/>
                </a:solidFill>
                <a:latin typeface="Consolas"/>
                <a:ea typeface="Consolas"/>
                <a:cs typeface="Consolas"/>
              </a:rPr>
              <a:t>Set-</a:t>
            </a:r>
            <a:r>
              <a:rPr sz="1425" b="1" dirty="0" err="1">
                <a:solidFill>
                  <a:srgbClr val="62666D"/>
                </a:solidFill>
                <a:latin typeface="Consolas"/>
                <a:ea typeface="Consolas"/>
                <a:cs typeface="Consolas"/>
              </a:rPr>
              <a:t>ExecutionPolicy</a:t>
            </a:r>
            <a:r>
              <a:rPr sz="1425" b="1" dirty="0">
                <a:solidFill>
                  <a:srgbClr val="62666D"/>
                </a:solidFill>
                <a:latin typeface="Consolas"/>
                <a:ea typeface="Consolas"/>
                <a:cs typeface="Consolas"/>
              </a:rPr>
              <a:t> -Scope Process -</a:t>
            </a:r>
            <a:r>
              <a:rPr sz="1425" b="1" dirty="0" err="1">
                <a:solidFill>
                  <a:srgbClr val="62666D"/>
                </a:solidFill>
                <a:latin typeface="Consolas"/>
                <a:ea typeface="Consolas"/>
                <a:cs typeface="Consolas"/>
              </a:rPr>
              <a:t>ExecutionPolicy</a:t>
            </a:r>
            <a:r>
              <a:rPr sz="1425" b="1" dirty="0">
                <a:solidFill>
                  <a:srgbClr val="62666D"/>
                </a:solidFill>
                <a:latin typeface="Consolas"/>
                <a:ea typeface="Consolas"/>
                <a:cs typeface="Consolas"/>
              </a:rPr>
              <a:t> Bypass</a:t>
            </a:r>
          </a:p>
          <a:p>
            <a:pPr algn="ctr">
              <a:defRPr sz="1425" b="1">
                <a:solidFill>
                  <a:srgbClr val="62666D"/>
                </a:solidFill>
                <a:latin typeface="Consolas"/>
                <a:ea typeface="Consolas"/>
                <a:cs typeface="Consolas"/>
              </a:defRPr>
            </a:pPr>
            <a:r>
              <a:rPr sz="1425" b="1" dirty="0">
                <a:solidFill>
                  <a:srgbClr val="62666D"/>
                </a:solidFill>
                <a:latin typeface="Consolas"/>
                <a:ea typeface="Consolas"/>
                <a:cs typeface="Consolas"/>
              </a:rPr>
              <a:t>C:\venvs\paddleocr\Scripts\Activate.ps1</a:t>
            </a:r>
            <a:endParaRPr lang="de-DE" sz="1425" b="1" dirty="0">
              <a:solidFill>
                <a:srgbClr val="62666D"/>
              </a:solidFill>
              <a:latin typeface="Consolas"/>
              <a:ea typeface="Consolas"/>
              <a:cs typeface="Consolas"/>
            </a:endParaRPr>
          </a:p>
          <a:p>
            <a:pPr algn="ctr">
              <a:defRPr sz="1425" b="1">
                <a:solidFill>
                  <a:srgbClr val="62666D"/>
                </a:solidFill>
                <a:latin typeface="Consolas"/>
                <a:ea typeface="Consolas"/>
                <a:cs typeface="Consolas"/>
              </a:defRPr>
            </a:pPr>
            <a:endParaRPr lang="de-DE" sz="1425" b="1" dirty="0">
              <a:solidFill>
                <a:srgbClr val="62666D"/>
              </a:solidFill>
              <a:latin typeface="Consolas"/>
              <a:ea typeface="Consolas"/>
              <a:cs typeface="Consolas"/>
            </a:endParaRPr>
          </a:p>
          <a:p>
            <a:pPr algn="ctr">
              <a:defRPr sz="1425" b="1">
                <a:solidFill>
                  <a:srgbClr val="62666D"/>
                </a:solidFill>
                <a:latin typeface="Consolas"/>
                <a:ea typeface="Consolas"/>
                <a:cs typeface="Consolas"/>
              </a:defRPr>
            </a:pPr>
            <a:r>
              <a:rPr lang="de-DE" sz="1425" b="1" dirty="0" err="1">
                <a:solidFill>
                  <a:srgbClr val="62666D"/>
                </a:solidFill>
                <a:latin typeface="Consolas"/>
                <a:ea typeface="Consolas"/>
                <a:cs typeface="Consolas"/>
              </a:rPr>
              <a:t>Or</a:t>
            </a:r>
            <a:r>
              <a:rPr lang="de-DE" sz="1425" b="1" dirty="0">
                <a:solidFill>
                  <a:srgbClr val="62666D"/>
                </a:solidFill>
                <a:latin typeface="Consolas"/>
                <a:ea typeface="Consolas"/>
                <a:cs typeface="Consolas"/>
              </a:rPr>
              <a:t>: </a:t>
            </a:r>
          </a:p>
          <a:p>
            <a:pPr algn="ctr">
              <a:defRPr sz="1425" b="1">
                <a:solidFill>
                  <a:srgbClr val="62666D"/>
                </a:solidFill>
                <a:latin typeface="Consolas"/>
                <a:ea typeface="Consolas"/>
                <a:cs typeface="Consolas"/>
              </a:defRPr>
            </a:pPr>
            <a:r>
              <a:rPr lang="de-DE" sz="1425" b="1" dirty="0">
                <a:solidFill>
                  <a:srgbClr val="62666D"/>
                </a:solidFill>
                <a:latin typeface="Consolas"/>
                <a:ea typeface="Consolas"/>
                <a:cs typeface="Consolas"/>
              </a:rPr>
              <a:t>Set-</a:t>
            </a:r>
            <a:r>
              <a:rPr lang="de-DE" sz="1425" b="1" dirty="0" err="1">
                <a:solidFill>
                  <a:srgbClr val="62666D"/>
                </a:solidFill>
                <a:latin typeface="Consolas"/>
                <a:ea typeface="Consolas"/>
                <a:cs typeface="Consolas"/>
              </a:rPr>
              <a:t>ExecutionPolicy</a:t>
            </a:r>
            <a:r>
              <a:rPr lang="de-DE" sz="1425" b="1" dirty="0">
                <a:solidFill>
                  <a:srgbClr val="62666D"/>
                </a:solidFill>
                <a:latin typeface="Consolas"/>
                <a:ea typeface="Consolas"/>
                <a:cs typeface="Consolas"/>
              </a:rPr>
              <a:t> -</a:t>
            </a:r>
            <a:r>
              <a:rPr lang="de-DE" sz="1425" b="1" dirty="0" err="1">
                <a:solidFill>
                  <a:srgbClr val="62666D"/>
                </a:solidFill>
                <a:latin typeface="Consolas"/>
                <a:ea typeface="Consolas"/>
                <a:cs typeface="Consolas"/>
              </a:rPr>
              <a:t>Scope</a:t>
            </a:r>
            <a:r>
              <a:rPr lang="de-DE" sz="1425" b="1" dirty="0">
                <a:solidFill>
                  <a:srgbClr val="62666D"/>
                </a:solidFill>
                <a:latin typeface="Consolas"/>
                <a:ea typeface="Consolas"/>
                <a:cs typeface="Consolas"/>
              </a:rPr>
              <a:t> </a:t>
            </a:r>
            <a:r>
              <a:rPr lang="de-DE" sz="1425" b="1" dirty="0" err="1">
                <a:solidFill>
                  <a:srgbClr val="62666D"/>
                </a:solidFill>
                <a:latin typeface="Consolas"/>
                <a:ea typeface="Consolas"/>
                <a:cs typeface="Consolas"/>
              </a:rPr>
              <a:t>Process</a:t>
            </a:r>
            <a:r>
              <a:rPr lang="de-DE" sz="1425" b="1" dirty="0">
                <a:solidFill>
                  <a:srgbClr val="62666D"/>
                </a:solidFill>
                <a:latin typeface="Consolas"/>
                <a:ea typeface="Consolas"/>
                <a:cs typeface="Consolas"/>
              </a:rPr>
              <a:t> -</a:t>
            </a:r>
            <a:r>
              <a:rPr lang="de-DE" sz="1425" b="1" dirty="0" err="1">
                <a:solidFill>
                  <a:srgbClr val="62666D"/>
                </a:solidFill>
                <a:latin typeface="Consolas"/>
                <a:ea typeface="Consolas"/>
                <a:cs typeface="Consolas"/>
              </a:rPr>
              <a:t>ExecutionPolicy</a:t>
            </a:r>
            <a:r>
              <a:rPr lang="de-DE" sz="1425" b="1" dirty="0">
                <a:solidFill>
                  <a:srgbClr val="62666D"/>
                </a:solidFill>
                <a:latin typeface="Consolas"/>
                <a:ea typeface="Consolas"/>
                <a:cs typeface="Consolas"/>
              </a:rPr>
              <a:t> Bypass</a:t>
            </a:r>
          </a:p>
          <a:p>
            <a:pPr algn="ctr">
              <a:defRPr sz="1425" b="1">
                <a:solidFill>
                  <a:srgbClr val="62666D"/>
                </a:solidFill>
                <a:latin typeface="Consolas"/>
                <a:ea typeface="Consolas"/>
                <a:cs typeface="Consolas"/>
              </a:defRPr>
            </a:pPr>
            <a:r>
              <a:rPr lang="de-DE" sz="1425" b="1" dirty="0">
                <a:solidFill>
                  <a:srgbClr val="62666D"/>
                </a:solidFill>
                <a:latin typeface="Consolas"/>
                <a:ea typeface="Consolas"/>
                <a:cs typeface="Consolas"/>
              </a:rPr>
              <a:t>&amp; "C:\Users\katha\Nextcloud\2026\BIP\OCR\paddleocr\Scripts\Activate.ps1"</a:t>
            </a:r>
            <a:endParaRPr sz="1425" b="1" dirty="0">
              <a:solidFill>
                <a:srgbClr val="62666D"/>
              </a:solidFill>
              <a:latin typeface="Consolas"/>
              <a:ea typeface="Consolas"/>
              <a:cs typeface="Consolas"/>
            </a:endParaRPr>
          </a:p>
        </p:txBody>
      </p:sp>
    </p:spTree>
    <p:extLst>
      <p:ext uri="{BB962C8B-B14F-4D97-AF65-F5344CB8AC3E}">
        <p14:creationId xmlns:p14="http://schemas.microsoft.com/office/powerpoint/2010/main" val="608031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BD91FC55-4A80-4A3E-9BDF-8AA5575F6CD3}"/>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Dependency installation</a:t>
            </a:r>
          </a:p>
        </p:txBody>
      </p:sp>
      <p:sp>
        <p:nvSpPr>
          <p:cNvPr id="2" name="page">
            <a:extLst>
              <a:ext uri="{FF2B5EF4-FFF2-40B4-BE49-F238E27FC236}">
                <a16:creationId xmlns:a16="http://schemas.microsoft.com/office/drawing/2014/main" id="{13E382CF-3C97-4F11-8413-8C7FFE70C3B6}"/>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8</a:t>
            </a:r>
            <a:endParaRPr sz="975" b="0">
              <a:solidFill>
                <a:srgbClr val="62666D"/>
              </a:solidFill>
              <a:latin typeface="Arial"/>
              <a:ea typeface="Arial"/>
              <a:cs typeface="Arial"/>
            </a:endParaRPr>
          </a:p>
        </p:txBody>
      </p:sp>
      <p:sp>
        <p:nvSpPr>
          <p:cNvPr id="3" name="location">
            <a:extLst>
              <a:ext uri="{FF2B5EF4-FFF2-40B4-BE49-F238E27FC236}">
                <a16:creationId xmlns:a16="http://schemas.microsoft.com/office/drawing/2014/main" id="{5CCB484C-B55F-4811-973B-EEFB1F50ADA0}"/>
              </a:ext>
            </a:extLst>
          </p:cNvPr>
          <p:cNvSpPr>
            <a:spLocks noGrp="1"/>
          </p:cNvSpPr>
          <p:nvPr/>
        </p:nvSpPr>
        <p:spPr>
          <a:xfrm>
            <a:off x="419100" y="1285875"/>
            <a:ext cx="7905750" cy="428625"/>
          </a:xfrm>
          <a:prstGeom prst="rect">
            <a:avLst/>
          </a:prstGeom>
          <a:noFill/>
          <a:ln w="0">
            <a:noFill/>
            <a:prstDash val="solid"/>
          </a:ln>
        </p:spPr>
        <p:txBody>
          <a:bodyPr lIns="0" tIns="0" rIns="0" bIns="0" anchor="ctr">
            <a:normAutofit fontScale="92500" lnSpcReduction="20000"/>
          </a:bodyPr>
          <a:lstStyle/>
          <a:p>
            <a:pPr algn="l">
              <a:defRPr sz="1800" b="1">
                <a:solidFill>
                  <a:srgbClr val="111111"/>
                </a:solidFill>
                <a:latin typeface="Arial"/>
                <a:ea typeface="Arial"/>
                <a:cs typeface="Arial"/>
              </a:defRPr>
            </a:pPr>
            <a:r>
              <a:rPr lang="de-DE" sz="1800" b="1" dirty="0">
                <a:solidFill>
                  <a:srgbClr val="111111"/>
                </a:solidFill>
                <a:latin typeface="Arial"/>
                <a:ea typeface="Arial"/>
                <a:cs typeface="Arial"/>
              </a:rPr>
              <a:t>Download </a:t>
            </a:r>
            <a:r>
              <a:rPr lang="de-DE" sz="1800" b="1" dirty="0" err="1">
                <a:solidFill>
                  <a:srgbClr val="111111"/>
                </a:solidFill>
                <a:latin typeface="Arial"/>
                <a:ea typeface="Arial"/>
                <a:cs typeface="Arial"/>
              </a:rPr>
              <a:t>ocr_examples</a:t>
            </a:r>
            <a:r>
              <a:rPr lang="de-DE" sz="1800" b="1" dirty="0">
                <a:solidFill>
                  <a:srgbClr val="111111"/>
                </a:solidFill>
                <a:latin typeface="Arial"/>
                <a:ea typeface="Arial"/>
                <a:cs typeface="Arial"/>
              </a:rPr>
              <a:t> </a:t>
            </a:r>
            <a:r>
              <a:rPr lang="de-DE" sz="1800" b="1" dirty="0" err="1">
                <a:solidFill>
                  <a:srgbClr val="111111"/>
                </a:solidFill>
                <a:latin typeface="Arial"/>
                <a:ea typeface="Arial"/>
                <a:cs typeface="Arial"/>
              </a:rPr>
              <a:t>folder</a:t>
            </a:r>
            <a:endParaRPr lang="de-DE" sz="1800" b="1" dirty="0">
              <a:solidFill>
                <a:srgbClr val="111111"/>
              </a:solidFill>
              <a:latin typeface="Arial"/>
              <a:ea typeface="Arial"/>
              <a:cs typeface="Arial"/>
            </a:endParaRPr>
          </a:p>
          <a:p>
            <a:pPr algn="l">
              <a:defRPr sz="1800" b="1">
                <a:solidFill>
                  <a:srgbClr val="111111"/>
                </a:solidFill>
                <a:latin typeface="Arial"/>
                <a:ea typeface="Arial"/>
                <a:cs typeface="Arial"/>
              </a:defRPr>
            </a:pPr>
            <a:r>
              <a:rPr sz="1800" b="1" dirty="0">
                <a:solidFill>
                  <a:srgbClr val="111111"/>
                </a:solidFill>
                <a:latin typeface="Arial"/>
                <a:ea typeface="Arial"/>
                <a:cs typeface="Arial"/>
              </a:rPr>
              <a:t>Setup 3: open the terminal in the </a:t>
            </a:r>
            <a:r>
              <a:rPr sz="1800" b="1" dirty="0" err="1">
                <a:solidFill>
                  <a:srgbClr val="111111"/>
                </a:solidFill>
                <a:latin typeface="Arial"/>
                <a:ea typeface="Arial"/>
                <a:cs typeface="Arial"/>
              </a:rPr>
              <a:t>ocr_examples</a:t>
            </a:r>
            <a:r>
              <a:rPr sz="1800" b="1" dirty="0">
                <a:solidFill>
                  <a:srgbClr val="111111"/>
                </a:solidFill>
                <a:latin typeface="Arial"/>
                <a:ea typeface="Arial"/>
                <a:cs typeface="Arial"/>
              </a:rPr>
              <a:t> directory.</a:t>
            </a:r>
          </a:p>
        </p:txBody>
      </p:sp>
      <p:sp>
        <p:nvSpPr>
          <p:cNvPr id="4" name="code">
            <a:extLst>
              <a:ext uri="{FF2B5EF4-FFF2-40B4-BE49-F238E27FC236}">
                <a16:creationId xmlns:a16="http://schemas.microsoft.com/office/drawing/2014/main" id="{402D53FE-E5A3-4ADB-AA2B-1A1AC074E87B}"/>
              </a:ext>
            </a:extLst>
          </p:cNvPr>
          <p:cNvSpPr>
            <a:spLocks noGrp="1"/>
          </p:cNvSpPr>
          <p:nvPr/>
        </p:nvSpPr>
        <p:spPr>
          <a:xfrm>
            <a:off x="419100" y="1952625"/>
            <a:ext cx="7905750" cy="2524125"/>
          </a:xfrm>
          <a:prstGeom prst="rect">
            <a:avLst/>
          </a:prstGeom>
          <a:solidFill>
            <a:srgbClr val="17212B"/>
          </a:solidFill>
          <a:ln w="0">
            <a:noFill/>
            <a:prstDash val="solid"/>
          </a:ln>
        </p:spPr>
        <p:txBody>
          <a:bodyPr/>
          <a:lstStyle/>
          <a:p>
            <a:endParaRPr lang="de-DE"/>
          </a:p>
        </p:txBody>
      </p:sp>
      <p:sp>
        <p:nvSpPr>
          <p:cNvPr id="5" name="label">
            <a:extLst>
              <a:ext uri="{FF2B5EF4-FFF2-40B4-BE49-F238E27FC236}">
                <a16:creationId xmlns:a16="http://schemas.microsoft.com/office/drawing/2014/main" id="{50A7EF48-91DF-401B-BC05-24CE9191F95B}"/>
              </a:ext>
            </a:extLst>
          </p:cNvPr>
          <p:cNvSpPr>
            <a:spLocks noGrp="1"/>
          </p:cNvSpPr>
          <p:nvPr/>
        </p:nvSpPr>
        <p:spPr>
          <a:xfrm>
            <a:off x="628650" y="2066925"/>
            <a:ext cx="748665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POWERSHELL</a:t>
            </a:r>
          </a:p>
        </p:txBody>
      </p:sp>
      <p:sp>
        <p:nvSpPr>
          <p:cNvPr id="6" name="code-text">
            <a:extLst>
              <a:ext uri="{FF2B5EF4-FFF2-40B4-BE49-F238E27FC236}">
                <a16:creationId xmlns:a16="http://schemas.microsoft.com/office/drawing/2014/main" id="{C65111EB-67C4-432C-AC0E-08E7CA10620D}"/>
              </a:ext>
            </a:extLst>
          </p:cNvPr>
          <p:cNvSpPr>
            <a:spLocks noGrp="1"/>
          </p:cNvSpPr>
          <p:nvPr/>
        </p:nvSpPr>
        <p:spPr>
          <a:xfrm>
            <a:off x="628650" y="2409825"/>
            <a:ext cx="7486650" cy="1933575"/>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python -m pip install --upgrade pip </a:t>
            </a:r>
            <a:r>
              <a:rPr sz="1275" b="0" dirty="0" err="1">
                <a:solidFill>
                  <a:srgbClr val="F5F7FA"/>
                </a:solidFill>
                <a:latin typeface="Consolas"/>
                <a:ea typeface="Consolas"/>
                <a:cs typeface="Consolas"/>
              </a:rPr>
              <a:t>setuptools</a:t>
            </a:r>
            <a:r>
              <a:rPr sz="1275" b="0" dirty="0">
                <a:solidFill>
                  <a:srgbClr val="F5F7FA"/>
                </a:solidFill>
                <a:latin typeface="Consolas"/>
                <a:ea typeface="Consolas"/>
                <a:cs typeface="Consolas"/>
              </a:rPr>
              <a:t> wheel</a:t>
            </a:r>
          </a:p>
          <a:p>
            <a:pPr algn="l">
              <a:defRPr sz="1275" b="0">
                <a:solidFill>
                  <a:srgbClr val="F5F7FA"/>
                </a:solidFill>
                <a:latin typeface="Consolas"/>
                <a:ea typeface="Consolas"/>
                <a:cs typeface="Consolas"/>
              </a:defRPr>
            </a:pPr>
            <a:r>
              <a:rPr sz="1275" b="0" dirty="0">
                <a:solidFill>
                  <a:srgbClr val="F5F7FA"/>
                </a:solidFill>
                <a:latin typeface="Consolas"/>
                <a:ea typeface="Consolas"/>
                <a:cs typeface="Consolas"/>
              </a:rPr>
              <a:t>python -m pip install -r requirements.txt</a:t>
            </a:r>
          </a:p>
        </p:txBody>
      </p:sp>
      <p:sp>
        <p:nvSpPr>
          <p:cNvPr id="7" name="req">
            <a:extLst>
              <a:ext uri="{FF2B5EF4-FFF2-40B4-BE49-F238E27FC236}">
                <a16:creationId xmlns:a16="http://schemas.microsoft.com/office/drawing/2014/main" id="{ADA137EE-66A1-4D87-B22B-7B2EDF9DBE05}"/>
              </a:ext>
            </a:extLst>
          </p:cNvPr>
          <p:cNvSpPr>
            <a:spLocks noGrp="1"/>
          </p:cNvSpPr>
          <p:nvPr/>
        </p:nvSpPr>
        <p:spPr>
          <a:xfrm>
            <a:off x="8763000" y="1714500"/>
            <a:ext cx="2857500" cy="361950"/>
          </a:xfrm>
          <a:prstGeom prst="rect">
            <a:avLst/>
          </a:prstGeom>
          <a:noFill/>
          <a:ln w="0">
            <a:noFill/>
            <a:prstDash val="solid"/>
          </a:ln>
        </p:spPr>
        <p:txBody>
          <a:bodyPr lIns="0" tIns="0" rIns="0" bIns="0" anchor="ctr">
            <a:normAutofit/>
          </a:bodyPr>
          <a:lstStyle/>
          <a:p>
            <a:pPr algn="l">
              <a:defRPr sz="1725" b="1">
                <a:solidFill>
                  <a:srgbClr val="3D8DFF"/>
                </a:solidFill>
                <a:latin typeface="Arial"/>
                <a:ea typeface="Arial"/>
                <a:cs typeface="Arial"/>
              </a:defRPr>
            </a:pPr>
            <a:r>
              <a:rPr sz="1725" b="1">
                <a:solidFill>
                  <a:srgbClr val="3D8DFF"/>
                </a:solidFill>
                <a:latin typeface="Arial"/>
                <a:ea typeface="Arial"/>
                <a:cs typeface="Arial"/>
              </a:rPr>
              <a:t>requirements.txt installs</a:t>
            </a:r>
          </a:p>
        </p:txBody>
      </p:sp>
      <p:sp>
        <p:nvSpPr>
          <p:cNvPr id="8" name="req-list">
            <a:extLst>
              <a:ext uri="{FF2B5EF4-FFF2-40B4-BE49-F238E27FC236}">
                <a16:creationId xmlns:a16="http://schemas.microsoft.com/office/drawing/2014/main" id="{314E1E97-38F1-4A9A-B12D-94F2A99D5279}"/>
              </a:ext>
            </a:extLst>
          </p:cNvPr>
          <p:cNvSpPr>
            <a:spLocks noGrp="1"/>
          </p:cNvSpPr>
          <p:nvPr/>
        </p:nvSpPr>
        <p:spPr>
          <a:xfrm>
            <a:off x="8763000" y="2286000"/>
            <a:ext cx="2857500" cy="1809750"/>
          </a:xfrm>
          <a:prstGeom prst="rect">
            <a:avLst/>
          </a:prstGeom>
          <a:noFill/>
          <a:ln w="0">
            <a:noFill/>
            <a:prstDash val="solid"/>
          </a:ln>
        </p:spPr>
        <p:txBody>
          <a:bodyPr lIns="0" tIns="0" rIns="0" bIns="0" anchor="ctr">
            <a:normAutofit/>
          </a:bodyPr>
          <a:lstStyle/>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Pillow</a:t>
            </a:r>
          </a:p>
          <a:p>
            <a:endParaRPr sz="1875" b="1">
              <a:solidFill>
                <a:srgbClr val="111111"/>
              </a:solidFill>
              <a:latin typeface="Consolas"/>
              <a:ea typeface="Consolas"/>
              <a:cs typeface="Consolas"/>
            </a:endParaRPr>
          </a:p>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paddlepaddle 3.2</a:t>
            </a:r>
          </a:p>
          <a:p>
            <a:endParaRPr sz="1875" b="1">
              <a:solidFill>
                <a:srgbClr val="111111"/>
              </a:solidFill>
              <a:latin typeface="Consolas"/>
              <a:ea typeface="Consolas"/>
              <a:cs typeface="Consolas"/>
            </a:endParaRPr>
          </a:p>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paddleocr</a:t>
            </a:r>
          </a:p>
        </p:txBody>
      </p:sp>
      <p:sp>
        <p:nvSpPr>
          <p:cNvPr id="9" name="note">
            <a:extLst>
              <a:ext uri="{FF2B5EF4-FFF2-40B4-BE49-F238E27FC236}">
                <a16:creationId xmlns:a16="http://schemas.microsoft.com/office/drawing/2014/main" id="{0676E3AE-2CF0-4F80-A856-C103C41F7375}"/>
              </a:ext>
            </a:extLst>
          </p:cNvPr>
          <p:cNvSpPr>
            <a:spLocks noGrp="1"/>
          </p:cNvSpPr>
          <p:nvPr/>
        </p:nvSpPr>
        <p:spPr>
          <a:xfrm>
            <a:off x="1333500" y="5095875"/>
            <a:ext cx="9525000" cy="619125"/>
          </a:xfrm>
          <a:prstGeom prst="rect">
            <a:avLst/>
          </a:prstGeom>
          <a:solidFill>
            <a:srgbClr val="D9F1FC"/>
          </a:solidFill>
          <a:ln w="0">
            <a:noFill/>
            <a:prstDash val="solid"/>
          </a:ln>
        </p:spPr>
        <p:txBody>
          <a:bodyPr/>
          <a:lstStyle/>
          <a:p>
            <a:endParaRPr lang="de-DE"/>
          </a:p>
        </p:txBody>
      </p:sp>
      <p:sp>
        <p:nvSpPr>
          <p:cNvPr id="10" name="note-text">
            <a:extLst>
              <a:ext uri="{FF2B5EF4-FFF2-40B4-BE49-F238E27FC236}">
                <a16:creationId xmlns:a16="http://schemas.microsoft.com/office/drawing/2014/main" id="{AAF0BABF-CD8A-4A32-B245-1BD14723B263}"/>
              </a:ext>
            </a:extLst>
          </p:cNvPr>
          <p:cNvSpPr>
            <a:spLocks noGrp="1"/>
          </p:cNvSpPr>
          <p:nvPr/>
        </p:nvSpPr>
        <p:spPr>
          <a:xfrm>
            <a:off x="1571625" y="5210175"/>
            <a:ext cx="9048750" cy="381000"/>
          </a:xfrm>
          <a:prstGeom prst="rect">
            <a:avLst/>
          </a:prstGeom>
          <a:noFill/>
          <a:ln w="0">
            <a:noFill/>
            <a:prstDash val="solid"/>
          </a:ln>
        </p:spPr>
        <p:txBody>
          <a:bodyPr lIns="0" tIns="0" rIns="0" bIns="0" anchor="ctr">
            <a:normAutofit/>
          </a:bodyPr>
          <a:lstStyle/>
          <a:p>
            <a:pPr algn="ctr">
              <a:defRPr sz="1650" b="1">
                <a:solidFill>
                  <a:srgbClr val="111111"/>
                </a:solidFill>
                <a:latin typeface="Arial"/>
                <a:ea typeface="Arial"/>
                <a:cs typeface="Arial"/>
              </a:defRPr>
            </a:pPr>
            <a:r>
              <a:rPr sz="1650" b="1">
                <a:solidFill>
                  <a:srgbClr val="111111"/>
                </a:solidFill>
                <a:latin typeface="Arial"/>
                <a:ea typeface="Arial"/>
                <a:cs typeface="Arial"/>
              </a:rPr>
              <a:t>The course uses paddleocr without the optional [all] dependency group.</a:t>
            </a:r>
          </a:p>
        </p:txBody>
      </p:sp>
    </p:spTree>
    <p:extLst>
      <p:ext uri="{BB962C8B-B14F-4D97-AF65-F5344CB8AC3E}">
        <p14:creationId xmlns:p14="http://schemas.microsoft.com/office/powerpoint/2010/main" val="185807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B81D54E-EE6C-49F8-AFF5-11C5E2C9DB72}"/>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dirty="0">
                <a:solidFill>
                  <a:srgbClr val="111111"/>
                </a:solidFill>
                <a:latin typeface="Arial"/>
                <a:ea typeface="Arial"/>
                <a:cs typeface="Arial"/>
              </a:rPr>
              <a:t>VS Code uses the selected environment</a:t>
            </a:r>
          </a:p>
        </p:txBody>
      </p:sp>
      <p:sp>
        <p:nvSpPr>
          <p:cNvPr id="2" name="page">
            <a:extLst>
              <a:ext uri="{FF2B5EF4-FFF2-40B4-BE49-F238E27FC236}">
                <a16:creationId xmlns:a16="http://schemas.microsoft.com/office/drawing/2014/main" id="{A1ADA2EF-BEFD-411B-8B95-1552C1103047}"/>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9</a:t>
            </a:r>
            <a:endParaRPr sz="975" b="0">
              <a:solidFill>
                <a:srgbClr val="62666D"/>
              </a:solidFill>
              <a:latin typeface="Arial"/>
              <a:ea typeface="Arial"/>
              <a:cs typeface="Arial"/>
            </a:endParaRPr>
          </a:p>
        </p:txBody>
      </p:sp>
      <p:sp>
        <p:nvSpPr>
          <p:cNvPr id="3" name="steps">
            <a:extLst>
              <a:ext uri="{FF2B5EF4-FFF2-40B4-BE49-F238E27FC236}">
                <a16:creationId xmlns:a16="http://schemas.microsoft.com/office/drawing/2014/main" id="{C6E10AF1-B788-4123-9731-7A26E91A5BEE}"/>
              </a:ext>
            </a:extLst>
          </p:cNvPr>
          <p:cNvSpPr>
            <a:spLocks noGrp="1"/>
          </p:cNvSpPr>
          <p:nvPr/>
        </p:nvSpPr>
        <p:spPr>
          <a:xfrm>
            <a:off x="762000" y="1571625"/>
            <a:ext cx="10668000" cy="2857500"/>
          </a:xfrm>
          <a:prstGeom prst="rect">
            <a:avLst/>
          </a:prstGeom>
          <a:noFill/>
          <a:ln w="0">
            <a:noFill/>
            <a:prstDash val="solid"/>
          </a:ln>
        </p:spPr>
        <p:txBody>
          <a:bodyPr lIns="0" tIns="0" rIns="0" bIns="0" anchor="ctr">
            <a:normAutofit/>
          </a:bodyPr>
          <a:lstStyle/>
          <a:p>
            <a:pPr algn="l">
              <a:defRPr sz="2025" b="1">
                <a:solidFill>
                  <a:srgbClr val="111111"/>
                </a:solidFill>
                <a:latin typeface="Arial"/>
                <a:ea typeface="Arial"/>
                <a:cs typeface="Arial"/>
              </a:defRPr>
            </a:pPr>
            <a:r>
              <a:rPr sz="2025" b="1" dirty="0">
                <a:solidFill>
                  <a:srgbClr val="111111"/>
                </a:solidFill>
                <a:latin typeface="Arial"/>
                <a:ea typeface="Arial"/>
                <a:cs typeface="Arial"/>
              </a:rPr>
              <a:t>1  Open the command palette with Ctrl + Shift + P</a:t>
            </a:r>
          </a:p>
          <a:p>
            <a:endParaRPr sz="2025" b="1" dirty="0">
              <a:solidFill>
                <a:srgbClr val="111111"/>
              </a:solidFill>
              <a:latin typeface="Arial"/>
              <a:ea typeface="Arial"/>
              <a:cs typeface="Arial"/>
            </a:endParaRPr>
          </a:p>
          <a:p>
            <a:pPr algn="l">
              <a:defRPr sz="2025" b="1">
                <a:solidFill>
                  <a:srgbClr val="111111"/>
                </a:solidFill>
                <a:latin typeface="Arial"/>
                <a:ea typeface="Arial"/>
                <a:cs typeface="Arial"/>
              </a:defRPr>
            </a:pPr>
            <a:r>
              <a:rPr sz="2025" b="1" dirty="0">
                <a:solidFill>
                  <a:srgbClr val="111111"/>
                </a:solidFill>
                <a:latin typeface="Arial"/>
                <a:ea typeface="Arial"/>
                <a:cs typeface="Arial"/>
              </a:rPr>
              <a:t>2  Choose Python: Select Interpreter</a:t>
            </a:r>
          </a:p>
          <a:p>
            <a:endParaRPr sz="2025" b="1" dirty="0">
              <a:solidFill>
                <a:srgbClr val="111111"/>
              </a:solidFill>
              <a:latin typeface="Arial"/>
              <a:ea typeface="Arial"/>
              <a:cs typeface="Arial"/>
            </a:endParaRPr>
          </a:p>
          <a:p>
            <a:pPr algn="l">
              <a:defRPr sz="2025" b="1">
                <a:solidFill>
                  <a:srgbClr val="111111"/>
                </a:solidFill>
                <a:latin typeface="Arial"/>
                <a:ea typeface="Arial"/>
                <a:cs typeface="Arial"/>
              </a:defRPr>
            </a:pPr>
            <a:r>
              <a:rPr sz="2025" b="1" dirty="0">
                <a:solidFill>
                  <a:srgbClr val="111111"/>
                </a:solidFill>
                <a:latin typeface="Arial"/>
                <a:ea typeface="Arial"/>
                <a:cs typeface="Arial"/>
              </a:rPr>
              <a:t>3  Select C:\venvs\paddleocr\Scripts\python.exe</a:t>
            </a:r>
          </a:p>
          <a:p>
            <a:endParaRPr sz="2025" b="1" dirty="0">
              <a:solidFill>
                <a:srgbClr val="111111"/>
              </a:solidFill>
              <a:latin typeface="Arial"/>
              <a:ea typeface="Arial"/>
              <a:cs typeface="Arial"/>
            </a:endParaRPr>
          </a:p>
          <a:p>
            <a:pPr algn="l">
              <a:defRPr sz="2025" b="1">
                <a:solidFill>
                  <a:srgbClr val="111111"/>
                </a:solidFill>
                <a:latin typeface="Arial"/>
                <a:ea typeface="Arial"/>
                <a:cs typeface="Arial"/>
              </a:defRPr>
            </a:pPr>
            <a:r>
              <a:rPr sz="2025" b="1" dirty="0">
                <a:solidFill>
                  <a:srgbClr val="111111"/>
                </a:solidFill>
                <a:latin typeface="Arial"/>
                <a:ea typeface="Arial"/>
                <a:cs typeface="Arial"/>
              </a:rPr>
              <a:t>4  Open a new VS Code terminal</a:t>
            </a:r>
          </a:p>
        </p:txBody>
      </p:sp>
      <p:sp>
        <p:nvSpPr>
          <p:cNvPr id="4" name="verify">
            <a:extLst>
              <a:ext uri="{FF2B5EF4-FFF2-40B4-BE49-F238E27FC236}">
                <a16:creationId xmlns:a16="http://schemas.microsoft.com/office/drawing/2014/main" id="{F3A8D6C6-01F1-42BE-8FBE-86925ED37E20}"/>
              </a:ext>
            </a:extLst>
          </p:cNvPr>
          <p:cNvSpPr>
            <a:spLocks noGrp="1"/>
          </p:cNvSpPr>
          <p:nvPr/>
        </p:nvSpPr>
        <p:spPr>
          <a:xfrm>
            <a:off x="1809750" y="4953000"/>
            <a:ext cx="8572500" cy="685800"/>
          </a:xfrm>
          <a:prstGeom prst="rect">
            <a:avLst/>
          </a:prstGeom>
          <a:solidFill>
            <a:srgbClr val="D9F1FC"/>
          </a:solidFill>
          <a:ln w="0">
            <a:noFill/>
            <a:prstDash val="solid"/>
          </a:ln>
        </p:spPr>
        <p:txBody>
          <a:bodyPr/>
          <a:lstStyle/>
          <a:p>
            <a:endParaRPr lang="de-DE"/>
          </a:p>
        </p:txBody>
      </p:sp>
      <p:sp>
        <p:nvSpPr>
          <p:cNvPr id="5" name="verify-text">
            <a:extLst>
              <a:ext uri="{FF2B5EF4-FFF2-40B4-BE49-F238E27FC236}">
                <a16:creationId xmlns:a16="http://schemas.microsoft.com/office/drawing/2014/main" id="{73CC71B8-FEE9-45D6-ACA4-A3C2A9E4E1ED}"/>
              </a:ext>
            </a:extLst>
          </p:cNvPr>
          <p:cNvSpPr>
            <a:spLocks noGrp="1"/>
          </p:cNvSpPr>
          <p:nvPr/>
        </p:nvSpPr>
        <p:spPr>
          <a:xfrm>
            <a:off x="2047875" y="5076825"/>
            <a:ext cx="8096250" cy="428625"/>
          </a:xfrm>
          <a:prstGeom prst="rect">
            <a:avLst/>
          </a:prstGeom>
          <a:noFill/>
          <a:ln w="0">
            <a:noFill/>
            <a:prstDash val="solid"/>
          </a:ln>
        </p:spPr>
        <p:txBody>
          <a:bodyPr lIns="0" tIns="0" rIns="0" bIns="0" anchor="ctr">
            <a:normAutofit/>
          </a:bodyPr>
          <a:lstStyle/>
          <a:p>
            <a:pPr algn="ctr">
              <a:defRPr sz="1575" b="1">
                <a:solidFill>
                  <a:srgbClr val="3D8DFF"/>
                </a:solidFill>
                <a:latin typeface="Consolas"/>
                <a:ea typeface="Consolas"/>
                <a:cs typeface="Consolas"/>
              </a:defRPr>
            </a:pPr>
            <a:r>
              <a:rPr sz="1575" b="1">
                <a:solidFill>
                  <a:srgbClr val="3D8DFF"/>
                </a:solidFill>
                <a:latin typeface="Consolas"/>
                <a:ea typeface="Consolas"/>
                <a:cs typeface="Consolas"/>
              </a:rPr>
              <a:t>Verify again:  python -c "import sys; print(sys.executable)"</a:t>
            </a:r>
          </a:p>
        </p:txBody>
      </p:sp>
    </p:spTree>
    <p:extLst>
      <p:ext uri="{BB962C8B-B14F-4D97-AF65-F5344CB8AC3E}">
        <p14:creationId xmlns:p14="http://schemas.microsoft.com/office/powerpoint/2010/main" val="1031877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81B85B0A-5664-47EB-B526-32215D186A18}"/>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Setup 4: run the examples in order</a:t>
            </a:r>
          </a:p>
        </p:txBody>
      </p:sp>
      <p:sp>
        <p:nvSpPr>
          <p:cNvPr id="2" name="page">
            <a:extLst>
              <a:ext uri="{FF2B5EF4-FFF2-40B4-BE49-F238E27FC236}">
                <a16:creationId xmlns:a16="http://schemas.microsoft.com/office/drawing/2014/main" id="{800B183B-175C-4A5E-9E40-C8DE3BBCCEED}"/>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10</a:t>
            </a:r>
            <a:endParaRPr sz="975" b="0">
              <a:solidFill>
                <a:srgbClr val="62666D"/>
              </a:solidFill>
              <a:latin typeface="Arial"/>
              <a:ea typeface="Arial"/>
              <a:cs typeface="Arial"/>
            </a:endParaRPr>
          </a:p>
        </p:txBody>
      </p:sp>
      <p:sp>
        <p:nvSpPr>
          <p:cNvPr id="3" name="code">
            <a:extLst>
              <a:ext uri="{FF2B5EF4-FFF2-40B4-BE49-F238E27FC236}">
                <a16:creationId xmlns:a16="http://schemas.microsoft.com/office/drawing/2014/main" id="{3809656D-8BB7-4ED5-B976-7E4ADDA5E476}"/>
              </a:ext>
            </a:extLst>
          </p:cNvPr>
          <p:cNvSpPr>
            <a:spLocks noGrp="1"/>
          </p:cNvSpPr>
          <p:nvPr/>
        </p:nvSpPr>
        <p:spPr>
          <a:xfrm>
            <a:off x="419100" y="1619250"/>
            <a:ext cx="6667500" cy="3429000"/>
          </a:xfrm>
          <a:prstGeom prst="rect">
            <a:avLst/>
          </a:prstGeom>
          <a:solidFill>
            <a:srgbClr val="17212B"/>
          </a:solidFill>
          <a:ln w="0">
            <a:noFill/>
            <a:prstDash val="solid"/>
          </a:ln>
        </p:spPr>
        <p:txBody>
          <a:bodyPr/>
          <a:lstStyle/>
          <a:p>
            <a:endParaRPr lang="de-DE"/>
          </a:p>
        </p:txBody>
      </p:sp>
      <p:sp>
        <p:nvSpPr>
          <p:cNvPr id="4" name="label">
            <a:extLst>
              <a:ext uri="{FF2B5EF4-FFF2-40B4-BE49-F238E27FC236}">
                <a16:creationId xmlns:a16="http://schemas.microsoft.com/office/drawing/2014/main" id="{642FCED4-5C88-4089-917A-7D8C64E29994}"/>
              </a:ext>
            </a:extLst>
          </p:cNvPr>
          <p:cNvSpPr>
            <a:spLocks noGrp="1"/>
          </p:cNvSpPr>
          <p:nvPr/>
        </p:nvSpPr>
        <p:spPr>
          <a:xfrm>
            <a:off x="628650" y="1733550"/>
            <a:ext cx="624840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POWERSHELL</a:t>
            </a:r>
          </a:p>
        </p:txBody>
      </p:sp>
      <p:sp>
        <p:nvSpPr>
          <p:cNvPr id="5" name="code-text">
            <a:extLst>
              <a:ext uri="{FF2B5EF4-FFF2-40B4-BE49-F238E27FC236}">
                <a16:creationId xmlns:a16="http://schemas.microsoft.com/office/drawing/2014/main" id="{384F9B4D-45E3-401A-AD13-4FDDFC4449CB}"/>
              </a:ext>
            </a:extLst>
          </p:cNvPr>
          <p:cNvSpPr>
            <a:spLocks noGrp="1"/>
          </p:cNvSpPr>
          <p:nvPr/>
        </p:nvSpPr>
        <p:spPr>
          <a:xfrm>
            <a:off x="628650" y="2076450"/>
            <a:ext cx="6248400" cy="2838450"/>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python 01_paddleocr_basic.py</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python 02_paddleocr_export.py</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python 03_paddleocr_evidence.py</a:t>
            </a:r>
          </a:p>
          <a:p>
            <a:endParaRPr sz="1275" b="0">
              <a:solidFill>
                <a:srgbClr val="F5F7FA"/>
              </a:solidFill>
              <a:latin typeface="Consolas"/>
              <a:ea typeface="Consolas"/>
              <a:cs typeface="Consolas"/>
            </a:endParaRP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deactivate</a:t>
            </a:r>
          </a:p>
        </p:txBody>
      </p:sp>
      <p:sp>
        <p:nvSpPr>
          <p:cNvPr id="6" name="outputs">
            <a:extLst>
              <a:ext uri="{FF2B5EF4-FFF2-40B4-BE49-F238E27FC236}">
                <a16:creationId xmlns:a16="http://schemas.microsoft.com/office/drawing/2014/main" id="{FA234AFC-C595-4FB2-BD7B-D6FD550B552A}"/>
              </a:ext>
            </a:extLst>
          </p:cNvPr>
          <p:cNvSpPr>
            <a:spLocks noGrp="1"/>
          </p:cNvSpPr>
          <p:nvPr/>
        </p:nvSpPr>
        <p:spPr>
          <a:xfrm>
            <a:off x="7620000" y="1666875"/>
            <a:ext cx="3714750" cy="2857500"/>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Step 1</a:t>
            </a:r>
          </a:p>
          <a:p>
            <a:pPr algn="l">
              <a:defRPr sz="1800" b="1">
                <a:solidFill>
                  <a:srgbClr val="111111"/>
                </a:solidFill>
                <a:latin typeface="Arial"/>
                <a:ea typeface="Arial"/>
                <a:cs typeface="Arial"/>
              </a:defRPr>
            </a:pPr>
            <a:r>
              <a:rPr sz="1800" b="1">
                <a:solidFill>
                  <a:srgbClr val="111111"/>
                </a:solidFill>
                <a:latin typeface="Arial"/>
                <a:ea typeface="Arial"/>
                <a:cs typeface="Arial"/>
              </a:rPr>
              <a:t>prints the OCR result</a:t>
            </a:r>
          </a:p>
          <a:p>
            <a:endParaRPr sz="1800" b="1">
              <a:solidFill>
                <a:srgbClr val="111111"/>
              </a:solidFill>
              <a:latin typeface="Arial"/>
              <a:ea typeface="Arial"/>
              <a:cs typeface="Arial"/>
            </a:endParaRPr>
          </a:p>
          <a:p>
            <a:pPr algn="l">
              <a:defRPr sz="1800" b="1">
                <a:solidFill>
                  <a:srgbClr val="111111"/>
                </a:solidFill>
                <a:latin typeface="Arial"/>
                <a:ea typeface="Arial"/>
                <a:cs typeface="Arial"/>
              </a:defRPr>
            </a:pPr>
            <a:r>
              <a:rPr sz="1800" b="1">
                <a:solidFill>
                  <a:srgbClr val="111111"/>
                </a:solidFill>
                <a:latin typeface="Arial"/>
                <a:ea typeface="Arial"/>
                <a:cs typeface="Arial"/>
              </a:rPr>
              <a:t>Step 2</a:t>
            </a:r>
          </a:p>
          <a:p>
            <a:pPr algn="l">
              <a:defRPr sz="1800" b="1">
                <a:solidFill>
                  <a:srgbClr val="111111"/>
                </a:solidFill>
                <a:latin typeface="Arial"/>
                <a:ea typeface="Arial"/>
                <a:cs typeface="Arial"/>
              </a:defRPr>
            </a:pPr>
            <a:r>
              <a:rPr sz="1800" b="1">
                <a:solidFill>
                  <a:srgbClr val="111111"/>
                </a:solidFill>
                <a:latin typeface="Arial"/>
                <a:ea typeface="Arial"/>
                <a:cs typeface="Arial"/>
              </a:rPr>
              <a:t>exports JSON and an overlay</a:t>
            </a:r>
          </a:p>
          <a:p>
            <a:endParaRPr sz="1800" b="1">
              <a:solidFill>
                <a:srgbClr val="111111"/>
              </a:solidFill>
              <a:latin typeface="Arial"/>
              <a:ea typeface="Arial"/>
              <a:cs typeface="Arial"/>
            </a:endParaRPr>
          </a:p>
          <a:p>
            <a:pPr algn="l">
              <a:defRPr sz="1800" b="1">
                <a:solidFill>
                  <a:srgbClr val="111111"/>
                </a:solidFill>
                <a:latin typeface="Arial"/>
                <a:ea typeface="Arial"/>
                <a:cs typeface="Arial"/>
              </a:defRPr>
            </a:pPr>
            <a:r>
              <a:rPr sz="1800" b="1">
                <a:solidFill>
                  <a:srgbClr val="111111"/>
                </a:solidFill>
                <a:latin typeface="Arial"/>
                <a:ea typeface="Arial"/>
                <a:cs typeface="Arial"/>
              </a:rPr>
              <a:t>Step 3</a:t>
            </a:r>
          </a:p>
          <a:p>
            <a:pPr algn="l">
              <a:defRPr sz="1800" b="1">
                <a:solidFill>
                  <a:srgbClr val="111111"/>
                </a:solidFill>
                <a:latin typeface="Arial"/>
                <a:ea typeface="Arial"/>
                <a:cs typeface="Arial"/>
              </a:defRPr>
            </a:pPr>
            <a:r>
              <a:rPr sz="1800" b="1">
                <a:solidFill>
                  <a:srgbClr val="111111"/>
                </a:solidFill>
                <a:latin typeface="Arial"/>
                <a:ea typeface="Arial"/>
                <a:cs typeface="Arial"/>
              </a:rPr>
              <a:t>creates paddle_evidence.json</a:t>
            </a:r>
          </a:p>
        </p:txBody>
      </p:sp>
      <p:sp>
        <p:nvSpPr>
          <p:cNvPr id="7" name="deactivate">
            <a:extLst>
              <a:ext uri="{FF2B5EF4-FFF2-40B4-BE49-F238E27FC236}">
                <a16:creationId xmlns:a16="http://schemas.microsoft.com/office/drawing/2014/main" id="{A3453E93-82B1-4615-8998-6254F8131600}"/>
              </a:ext>
            </a:extLst>
          </p:cNvPr>
          <p:cNvSpPr>
            <a:spLocks noGrp="1"/>
          </p:cNvSpPr>
          <p:nvPr/>
        </p:nvSpPr>
        <p:spPr>
          <a:xfrm>
            <a:off x="7620000" y="4905375"/>
            <a:ext cx="3714750" cy="714375"/>
          </a:xfrm>
          <a:prstGeom prst="rect">
            <a:avLst/>
          </a:prstGeom>
          <a:noFill/>
          <a:ln w="0">
            <a:noFill/>
            <a:prstDash val="solid"/>
          </a:ln>
        </p:spPr>
        <p:txBody>
          <a:bodyPr lIns="0" tIns="0" rIns="0" bIns="0" anchor="ctr">
            <a:normAutofit fontScale="94697"/>
          </a:bodyPr>
          <a:lstStyle/>
          <a:p>
            <a:pPr algn="l">
              <a:defRPr sz="1650" b="1">
                <a:solidFill>
                  <a:srgbClr val="62666D"/>
                </a:solidFill>
                <a:latin typeface="Arial"/>
                <a:ea typeface="Arial"/>
                <a:cs typeface="Arial"/>
              </a:defRPr>
            </a:pPr>
            <a:r>
              <a:rPr sz="1650" b="1">
                <a:solidFill>
                  <a:srgbClr val="62666D"/>
                </a:solidFill>
                <a:latin typeface="Arial"/>
                <a:ea typeface="Arial"/>
                <a:cs typeface="Arial"/>
              </a:rPr>
              <a:t>deactivate leaves the saved environment available for the next session.</a:t>
            </a:r>
          </a:p>
        </p:txBody>
      </p:sp>
    </p:spTree>
    <p:extLst>
      <p:ext uri="{BB962C8B-B14F-4D97-AF65-F5344CB8AC3E}">
        <p14:creationId xmlns:p14="http://schemas.microsoft.com/office/powerpoint/2010/main" val="2096505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3C864DC-09DF-4040-A32E-9FA2B5C1688E}"/>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Python libraries package reusable code</a:t>
            </a:r>
          </a:p>
        </p:txBody>
      </p:sp>
      <p:sp>
        <p:nvSpPr>
          <p:cNvPr id="2" name="page">
            <a:extLst>
              <a:ext uri="{FF2B5EF4-FFF2-40B4-BE49-F238E27FC236}">
                <a16:creationId xmlns:a16="http://schemas.microsoft.com/office/drawing/2014/main" id="{BACC66CF-2302-4E40-8362-317BF2A8EC6C}"/>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11</a:t>
            </a:r>
            <a:endParaRPr sz="975" b="0">
              <a:solidFill>
                <a:srgbClr val="62666D"/>
              </a:solidFill>
              <a:latin typeface="Arial"/>
              <a:ea typeface="Arial"/>
              <a:cs typeface="Arial"/>
            </a:endParaRPr>
          </a:p>
        </p:txBody>
      </p:sp>
      <p:sp>
        <p:nvSpPr>
          <p:cNvPr id="3" name="app">
            <a:extLst>
              <a:ext uri="{FF2B5EF4-FFF2-40B4-BE49-F238E27FC236}">
                <a16:creationId xmlns:a16="http://schemas.microsoft.com/office/drawing/2014/main" id="{2356417E-F369-48BA-A78A-F3E4226FE2E6}"/>
              </a:ext>
            </a:extLst>
          </p:cNvPr>
          <p:cNvSpPr>
            <a:spLocks noGrp="1"/>
          </p:cNvSpPr>
          <p:nvPr/>
        </p:nvSpPr>
        <p:spPr>
          <a:xfrm>
            <a:off x="666750" y="1809750"/>
            <a:ext cx="2857500" cy="523875"/>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YOUR SCRIPT</a:t>
            </a:r>
          </a:p>
        </p:txBody>
      </p:sp>
      <p:sp>
        <p:nvSpPr>
          <p:cNvPr id="4" name="lib">
            <a:extLst>
              <a:ext uri="{FF2B5EF4-FFF2-40B4-BE49-F238E27FC236}">
                <a16:creationId xmlns:a16="http://schemas.microsoft.com/office/drawing/2014/main" id="{90875D81-BC4F-4481-972B-5211D0008501}"/>
              </a:ext>
            </a:extLst>
          </p:cNvPr>
          <p:cNvSpPr>
            <a:spLocks noGrp="1"/>
          </p:cNvSpPr>
          <p:nvPr/>
        </p:nvSpPr>
        <p:spPr>
          <a:xfrm>
            <a:off x="4095750" y="1476375"/>
            <a:ext cx="4000500" cy="2762250"/>
          </a:xfrm>
          <a:prstGeom prst="rect">
            <a:avLst/>
          </a:prstGeom>
          <a:solidFill>
            <a:srgbClr val="D9F1FC"/>
          </a:solidFill>
          <a:ln w="9525">
            <a:solidFill>
              <a:srgbClr val="3D8DFF"/>
            </a:solidFill>
            <a:prstDash val="solid"/>
          </a:ln>
        </p:spPr>
        <p:txBody>
          <a:bodyPr/>
          <a:lstStyle/>
          <a:p>
            <a:endParaRPr lang="de-DE"/>
          </a:p>
        </p:txBody>
      </p:sp>
      <p:sp>
        <p:nvSpPr>
          <p:cNvPr id="5" name="libh">
            <a:extLst>
              <a:ext uri="{FF2B5EF4-FFF2-40B4-BE49-F238E27FC236}">
                <a16:creationId xmlns:a16="http://schemas.microsoft.com/office/drawing/2014/main" id="{A3B2DFC9-CB48-45CD-8DA9-AB17CB9B7E2B}"/>
              </a:ext>
            </a:extLst>
          </p:cNvPr>
          <p:cNvSpPr>
            <a:spLocks noGrp="1"/>
          </p:cNvSpPr>
          <p:nvPr/>
        </p:nvSpPr>
        <p:spPr>
          <a:xfrm>
            <a:off x="4476750" y="1809750"/>
            <a:ext cx="3238500" cy="428625"/>
          </a:xfrm>
          <a:prstGeom prst="rect">
            <a:avLst/>
          </a:prstGeom>
          <a:noFill/>
          <a:ln w="0">
            <a:noFill/>
            <a:prstDash val="solid"/>
          </a:ln>
        </p:spPr>
        <p:txBody>
          <a:bodyPr lIns="0" tIns="0" rIns="0" bIns="0" anchor="ctr">
            <a:normAutofit/>
          </a:bodyPr>
          <a:lstStyle/>
          <a:p>
            <a:pPr algn="ctr">
              <a:defRPr sz="1875" b="1">
                <a:solidFill>
                  <a:srgbClr val="3D8DFF"/>
                </a:solidFill>
                <a:latin typeface="Arial"/>
                <a:ea typeface="Arial"/>
                <a:cs typeface="Arial"/>
              </a:defRPr>
            </a:pPr>
            <a:r>
              <a:rPr sz="1875" b="1">
                <a:solidFill>
                  <a:srgbClr val="3D8DFF"/>
                </a:solidFill>
                <a:latin typeface="Arial"/>
                <a:ea typeface="Arial"/>
                <a:cs typeface="Arial"/>
              </a:rPr>
              <a:t>PYTHON LIBRARY</a:t>
            </a:r>
          </a:p>
        </p:txBody>
      </p:sp>
      <p:sp>
        <p:nvSpPr>
          <p:cNvPr id="6" name="libb">
            <a:extLst>
              <a:ext uri="{FF2B5EF4-FFF2-40B4-BE49-F238E27FC236}">
                <a16:creationId xmlns:a16="http://schemas.microsoft.com/office/drawing/2014/main" id="{38FEFFDB-2FD3-4CF4-9235-4F970302CF51}"/>
              </a:ext>
            </a:extLst>
          </p:cNvPr>
          <p:cNvSpPr>
            <a:spLocks noGrp="1"/>
          </p:cNvSpPr>
          <p:nvPr/>
        </p:nvSpPr>
        <p:spPr>
          <a:xfrm>
            <a:off x="4476750" y="2524125"/>
            <a:ext cx="3238500" cy="1143000"/>
          </a:xfrm>
          <a:prstGeom prst="rect">
            <a:avLst/>
          </a:prstGeom>
          <a:noFill/>
          <a:ln w="0">
            <a:noFill/>
            <a:prstDash val="solid"/>
          </a:ln>
        </p:spPr>
        <p:txBody>
          <a:bodyPr lIns="0" tIns="0" rIns="0" bIns="0" anchor="ctr">
            <a:normAutofit/>
          </a:bodyPr>
          <a:lstStyle/>
          <a:p>
            <a:pPr algn="ctr">
              <a:defRPr sz="1725" b="1">
                <a:solidFill>
                  <a:srgbClr val="111111"/>
                </a:solidFill>
                <a:latin typeface="Arial"/>
                <a:ea typeface="Arial"/>
                <a:cs typeface="Arial"/>
              </a:defRPr>
            </a:pPr>
            <a:r>
              <a:rPr sz="1725" b="1">
                <a:solidFill>
                  <a:srgbClr val="111111"/>
                </a:solidFill>
                <a:latin typeface="Arial"/>
                <a:ea typeface="Arial"/>
                <a:cs typeface="Arial"/>
              </a:rPr>
              <a:t>Functions, classes, and defaults</a:t>
            </a:r>
          </a:p>
          <a:p>
            <a:endParaRPr sz="1725" b="1">
              <a:solidFill>
                <a:srgbClr val="111111"/>
              </a:solidFill>
              <a:latin typeface="Arial"/>
              <a:ea typeface="Arial"/>
              <a:cs typeface="Arial"/>
            </a:endParaRPr>
          </a:p>
          <a:p>
            <a:pPr algn="ctr">
              <a:defRPr sz="1725" b="1">
                <a:solidFill>
                  <a:srgbClr val="111111"/>
                </a:solidFill>
                <a:latin typeface="Arial"/>
                <a:ea typeface="Arial"/>
                <a:cs typeface="Arial"/>
              </a:defRPr>
            </a:pPr>
            <a:r>
              <a:rPr sz="1725" b="1">
                <a:solidFill>
                  <a:srgbClr val="111111"/>
                </a:solidFill>
                <a:latin typeface="Arial"/>
                <a:ea typeface="Arial"/>
                <a:cs typeface="Arial"/>
              </a:rPr>
              <a:t>Install, import, call</a:t>
            </a:r>
          </a:p>
        </p:txBody>
      </p:sp>
      <p:sp>
        <p:nvSpPr>
          <p:cNvPr id="7" name="engine">
            <a:extLst>
              <a:ext uri="{FF2B5EF4-FFF2-40B4-BE49-F238E27FC236}">
                <a16:creationId xmlns:a16="http://schemas.microsoft.com/office/drawing/2014/main" id="{A2766694-8A75-4AC1-938C-CE375E47D92B}"/>
              </a:ext>
            </a:extLst>
          </p:cNvPr>
          <p:cNvSpPr>
            <a:spLocks noGrp="1"/>
          </p:cNvSpPr>
          <p:nvPr/>
        </p:nvSpPr>
        <p:spPr>
          <a:xfrm>
            <a:off x="8667750" y="1809750"/>
            <a:ext cx="2857500" cy="523875"/>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OCR PIPELINE</a:t>
            </a:r>
          </a:p>
        </p:txBody>
      </p:sp>
      <p:sp>
        <p:nvSpPr>
          <p:cNvPr id="8" name="Gerader Verbinder 7">
            <a:extLst>
              <a:ext uri="{FF2B5EF4-FFF2-40B4-BE49-F238E27FC236}">
                <a16:creationId xmlns:a16="http://schemas.microsoft.com/office/drawing/2014/main" id="{2EEA01DB-6BD8-42D2-B6E7-BAC509A14A13}"/>
              </a:ext>
            </a:extLst>
          </p:cNvPr>
          <p:cNvSpPr>
            <a:spLocks noGrp="1"/>
          </p:cNvSpPr>
          <p:nvPr/>
        </p:nvSpPr>
        <p:spPr>
          <a:xfrm>
            <a:off x="3524250" y="2076450"/>
            <a:ext cx="571500" cy="0"/>
          </a:xfrm>
          <a:prstGeom prst="line">
            <a:avLst/>
          </a:prstGeom>
          <a:noFill/>
          <a:ln w="38100">
            <a:solidFill>
              <a:srgbClr val="3D8DFF"/>
            </a:solidFill>
            <a:prstDash val="solid"/>
          </a:ln>
        </p:spPr>
        <p:txBody>
          <a:bodyPr/>
          <a:lstStyle/>
          <a:p>
            <a:endParaRPr lang="de-DE"/>
          </a:p>
        </p:txBody>
      </p:sp>
      <p:sp>
        <p:nvSpPr>
          <p:cNvPr id="9" name="Gerader Verbinder 8">
            <a:extLst>
              <a:ext uri="{FF2B5EF4-FFF2-40B4-BE49-F238E27FC236}">
                <a16:creationId xmlns:a16="http://schemas.microsoft.com/office/drawing/2014/main" id="{3AC4056E-3087-4101-968C-F5F86291F5DE}"/>
              </a:ext>
            </a:extLst>
          </p:cNvPr>
          <p:cNvSpPr>
            <a:spLocks noGrp="1"/>
          </p:cNvSpPr>
          <p:nvPr/>
        </p:nvSpPr>
        <p:spPr>
          <a:xfrm>
            <a:off x="8096250" y="2076450"/>
            <a:ext cx="571500" cy="0"/>
          </a:xfrm>
          <a:prstGeom prst="line">
            <a:avLst/>
          </a:prstGeom>
          <a:noFill/>
          <a:ln w="38100">
            <a:solidFill>
              <a:srgbClr val="3D8DFF"/>
            </a:solidFill>
            <a:prstDash val="solid"/>
          </a:ln>
        </p:spPr>
        <p:txBody>
          <a:bodyPr/>
          <a:lstStyle/>
          <a:p>
            <a:endParaRPr lang="de-DE"/>
          </a:p>
        </p:txBody>
      </p:sp>
      <p:sp>
        <p:nvSpPr>
          <p:cNvPr id="10" name="ex">
            <a:extLst>
              <a:ext uri="{FF2B5EF4-FFF2-40B4-BE49-F238E27FC236}">
                <a16:creationId xmlns:a16="http://schemas.microsoft.com/office/drawing/2014/main" id="{C35DEFC8-A39A-41A6-902B-FF504EAAC03E}"/>
              </a:ext>
            </a:extLst>
          </p:cNvPr>
          <p:cNvSpPr>
            <a:spLocks noGrp="1"/>
          </p:cNvSpPr>
          <p:nvPr/>
        </p:nvSpPr>
        <p:spPr>
          <a:xfrm>
            <a:off x="1381125" y="5000625"/>
            <a:ext cx="9429750" cy="571500"/>
          </a:xfrm>
          <a:prstGeom prst="rect">
            <a:avLst/>
          </a:prstGeom>
          <a:noFill/>
          <a:ln w="0">
            <a:noFill/>
            <a:prstDash val="solid"/>
          </a:ln>
        </p:spPr>
        <p:txBody>
          <a:bodyPr lIns="0" tIns="0" rIns="0" bIns="0" anchor="ctr">
            <a:normAutofit/>
          </a:bodyPr>
          <a:lstStyle/>
          <a:p>
            <a:pPr algn="ctr">
              <a:defRPr sz="1875" b="1">
                <a:solidFill>
                  <a:srgbClr val="62666D"/>
                </a:solidFill>
                <a:latin typeface="Consolas"/>
                <a:ea typeface="Consolas"/>
                <a:cs typeface="Consolas"/>
              </a:defRPr>
            </a:pPr>
            <a:r>
              <a:rPr sz="1875" b="1">
                <a:solidFill>
                  <a:srgbClr val="62666D"/>
                </a:solidFill>
                <a:latin typeface="Consolas"/>
                <a:ea typeface="Consolas"/>
                <a:cs typeface="Consolas"/>
              </a:rPr>
              <a:t>Example:  paddleocr  provides the Python interface used by our scripts.</a:t>
            </a:r>
          </a:p>
        </p:txBody>
      </p:sp>
    </p:spTree>
    <p:extLst>
      <p:ext uri="{BB962C8B-B14F-4D97-AF65-F5344CB8AC3E}">
        <p14:creationId xmlns:p14="http://schemas.microsoft.com/office/powerpoint/2010/main" val="1118283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0BA7187A-25FC-4C64-9577-FA792FCA0C58}"/>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PaddleOCR uses a toolkit and a runtime</a:t>
            </a:r>
          </a:p>
        </p:txBody>
      </p:sp>
      <p:sp>
        <p:nvSpPr>
          <p:cNvPr id="2" name="page">
            <a:extLst>
              <a:ext uri="{FF2B5EF4-FFF2-40B4-BE49-F238E27FC236}">
                <a16:creationId xmlns:a16="http://schemas.microsoft.com/office/drawing/2014/main" id="{0E715868-C48C-4047-ABE1-1BBB16B44105}"/>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12</a:t>
            </a:r>
            <a:endParaRPr sz="975" b="0">
              <a:solidFill>
                <a:srgbClr val="62666D"/>
              </a:solidFill>
              <a:latin typeface="Arial"/>
              <a:ea typeface="Arial"/>
              <a:cs typeface="Arial"/>
            </a:endParaRPr>
          </a:p>
        </p:txBody>
      </p:sp>
      <p:sp>
        <p:nvSpPr>
          <p:cNvPr id="3" name="th1">
            <a:extLst>
              <a:ext uri="{FF2B5EF4-FFF2-40B4-BE49-F238E27FC236}">
                <a16:creationId xmlns:a16="http://schemas.microsoft.com/office/drawing/2014/main" id="{8339F48D-45E5-461B-AB94-FAA114BD6672}"/>
              </a:ext>
            </a:extLst>
          </p:cNvPr>
          <p:cNvSpPr>
            <a:spLocks noGrp="1"/>
          </p:cNvSpPr>
          <p:nvPr/>
        </p:nvSpPr>
        <p:spPr>
          <a:xfrm>
            <a:off x="419100" y="1571625"/>
            <a:ext cx="5143500" cy="428625"/>
          </a:xfrm>
          <a:prstGeom prst="rect">
            <a:avLst/>
          </a:prstGeom>
          <a:noFill/>
          <a:ln w="0">
            <a:noFill/>
            <a:prstDash val="solid"/>
          </a:ln>
        </p:spPr>
        <p:txBody>
          <a:bodyPr lIns="0" tIns="0" rIns="0" bIns="0" anchor="ctr">
            <a:normAutofit/>
          </a:bodyPr>
          <a:lstStyle/>
          <a:p>
            <a:pPr algn="l">
              <a:defRPr sz="2100" b="1">
                <a:solidFill>
                  <a:srgbClr val="3D8DFF"/>
                </a:solidFill>
                <a:latin typeface="Arial"/>
                <a:ea typeface="Arial"/>
                <a:cs typeface="Arial"/>
              </a:defRPr>
            </a:pPr>
            <a:r>
              <a:rPr sz="2100" b="1">
                <a:solidFill>
                  <a:srgbClr val="3D8DFF"/>
                </a:solidFill>
                <a:latin typeface="Arial"/>
                <a:ea typeface="Arial"/>
                <a:cs typeface="Arial"/>
              </a:rPr>
              <a:t>paddleocr</a:t>
            </a:r>
          </a:p>
        </p:txBody>
      </p:sp>
      <p:sp>
        <p:nvSpPr>
          <p:cNvPr id="4" name="th2">
            <a:extLst>
              <a:ext uri="{FF2B5EF4-FFF2-40B4-BE49-F238E27FC236}">
                <a16:creationId xmlns:a16="http://schemas.microsoft.com/office/drawing/2014/main" id="{0D08437A-6D4B-419B-854B-1FFCB58ADAA7}"/>
              </a:ext>
            </a:extLst>
          </p:cNvPr>
          <p:cNvSpPr>
            <a:spLocks noGrp="1"/>
          </p:cNvSpPr>
          <p:nvPr/>
        </p:nvSpPr>
        <p:spPr>
          <a:xfrm>
            <a:off x="6381750" y="1571625"/>
            <a:ext cx="5143500" cy="428625"/>
          </a:xfrm>
          <a:prstGeom prst="rect">
            <a:avLst/>
          </a:prstGeom>
          <a:noFill/>
          <a:ln w="0">
            <a:noFill/>
            <a:prstDash val="solid"/>
          </a:ln>
        </p:spPr>
        <p:txBody>
          <a:bodyPr lIns="0" tIns="0" rIns="0" bIns="0" anchor="ctr">
            <a:normAutofit/>
          </a:bodyPr>
          <a:lstStyle/>
          <a:p>
            <a:pPr algn="l">
              <a:defRPr sz="2100" b="1">
                <a:solidFill>
                  <a:srgbClr val="3D8DFF"/>
                </a:solidFill>
                <a:latin typeface="Arial"/>
                <a:ea typeface="Arial"/>
                <a:cs typeface="Arial"/>
              </a:defRPr>
            </a:pPr>
            <a:r>
              <a:rPr sz="2100" b="1">
                <a:solidFill>
                  <a:srgbClr val="3D8DFF"/>
                </a:solidFill>
                <a:latin typeface="Arial"/>
                <a:ea typeface="Arial"/>
                <a:cs typeface="Arial"/>
              </a:rPr>
              <a:t>paddlepaddle</a:t>
            </a:r>
          </a:p>
        </p:txBody>
      </p:sp>
      <p:sp>
        <p:nvSpPr>
          <p:cNvPr id="5" name="Gerader Verbinder 4">
            <a:extLst>
              <a:ext uri="{FF2B5EF4-FFF2-40B4-BE49-F238E27FC236}">
                <a16:creationId xmlns:a16="http://schemas.microsoft.com/office/drawing/2014/main" id="{7A862CC2-44B5-4555-8715-3C2730752FA6}"/>
              </a:ext>
            </a:extLst>
          </p:cNvPr>
          <p:cNvSpPr>
            <a:spLocks noGrp="1"/>
          </p:cNvSpPr>
          <p:nvPr/>
        </p:nvSpPr>
        <p:spPr>
          <a:xfrm>
            <a:off x="5953125" y="1524000"/>
            <a:ext cx="0" cy="3619500"/>
          </a:xfrm>
          <a:prstGeom prst="line">
            <a:avLst/>
          </a:prstGeom>
          <a:noFill/>
          <a:ln w="19050">
            <a:solidFill>
              <a:srgbClr val="B8BCC4"/>
            </a:solidFill>
            <a:prstDash val="solid"/>
          </a:ln>
        </p:spPr>
        <p:txBody>
          <a:bodyPr/>
          <a:lstStyle/>
          <a:p>
            <a:endParaRPr lang="de-DE"/>
          </a:p>
        </p:txBody>
      </p:sp>
      <p:sp>
        <p:nvSpPr>
          <p:cNvPr id="6" name="b1">
            <a:extLst>
              <a:ext uri="{FF2B5EF4-FFF2-40B4-BE49-F238E27FC236}">
                <a16:creationId xmlns:a16="http://schemas.microsoft.com/office/drawing/2014/main" id="{58B355EF-F086-444D-BE60-0B2A2F62E20F}"/>
              </a:ext>
            </a:extLst>
          </p:cNvPr>
          <p:cNvSpPr>
            <a:spLocks noGrp="1"/>
          </p:cNvSpPr>
          <p:nvPr/>
        </p:nvSpPr>
        <p:spPr>
          <a:xfrm>
            <a:off x="419100" y="2238375"/>
            <a:ext cx="5143500" cy="2238375"/>
          </a:xfrm>
          <a:prstGeom prst="rect">
            <a:avLst/>
          </a:prstGeom>
          <a:noFill/>
          <a:ln w="0">
            <a:noFill/>
            <a:prstDash val="solid"/>
          </a:ln>
        </p:spPr>
        <p:txBody>
          <a:bodyPr lIns="0" tIns="0" rIns="0" bIns="0" anchor="ctr">
            <a:norm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The OCR toolkit used in the scripts</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 configures the pipeline</a:t>
            </a:r>
          </a:p>
          <a:p>
            <a:pPr algn="l">
              <a:defRPr sz="1800" b="0">
                <a:solidFill>
                  <a:srgbClr val="111111"/>
                </a:solidFill>
                <a:latin typeface="Arial"/>
                <a:ea typeface="Arial"/>
                <a:cs typeface="Arial"/>
              </a:defRPr>
            </a:pPr>
            <a:r>
              <a:rPr sz="1800" b="0">
                <a:solidFill>
                  <a:srgbClr val="111111"/>
                </a:solidFill>
                <a:latin typeface="Arial"/>
                <a:ea typeface="Arial"/>
                <a:cs typeface="Arial"/>
              </a:rPr>
              <a:t>• detects and recognizes text</a:t>
            </a:r>
          </a:p>
          <a:p>
            <a:pPr algn="l">
              <a:defRPr sz="1800" b="0">
                <a:solidFill>
                  <a:srgbClr val="111111"/>
                </a:solidFill>
                <a:latin typeface="Arial"/>
                <a:ea typeface="Arial"/>
                <a:cs typeface="Arial"/>
              </a:defRPr>
            </a:pPr>
            <a:r>
              <a:rPr sz="1800" b="0">
                <a:solidFill>
                  <a:srgbClr val="111111"/>
                </a:solidFill>
                <a:latin typeface="Arial"/>
                <a:ea typeface="Arial"/>
                <a:cs typeface="Arial"/>
              </a:rPr>
              <a:t>• exports results</a:t>
            </a:r>
          </a:p>
        </p:txBody>
      </p:sp>
      <p:sp>
        <p:nvSpPr>
          <p:cNvPr id="7" name="b2">
            <a:extLst>
              <a:ext uri="{FF2B5EF4-FFF2-40B4-BE49-F238E27FC236}">
                <a16:creationId xmlns:a16="http://schemas.microsoft.com/office/drawing/2014/main" id="{BA70CE6F-85C0-4EC0-A054-06A9EF98665E}"/>
              </a:ext>
            </a:extLst>
          </p:cNvPr>
          <p:cNvSpPr>
            <a:spLocks noGrp="1"/>
          </p:cNvSpPr>
          <p:nvPr/>
        </p:nvSpPr>
        <p:spPr>
          <a:xfrm>
            <a:off x="6381750" y="2238375"/>
            <a:ext cx="5143500" cy="2238375"/>
          </a:xfrm>
          <a:prstGeom prst="rect">
            <a:avLst/>
          </a:prstGeom>
          <a:noFill/>
          <a:ln w="0">
            <a:noFill/>
            <a:prstDash val="solid"/>
          </a:ln>
        </p:spPr>
        <p:txBody>
          <a:bodyPr lIns="0" tIns="0" rIns="0" bIns="0" anchor="ctr">
            <a:norm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The computation runtime</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 executes the trained models</a:t>
            </a:r>
          </a:p>
          <a:p>
            <a:pPr algn="l">
              <a:defRPr sz="1800" b="0">
                <a:solidFill>
                  <a:srgbClr val="111111"/>
                </a:solidFill>
                <a:latin typeface="Arial"/>
                <a:ea typeface="Arial"/>
                <a:cs typeface="Arial"/>
              </a:defRPr>
            </a:pPr>
            <a:r>
              <a:rPr sz="1800" b="0">
                <a:solidFill>
                  <a:srgbClr val="111111"/>
                </a:solidFill>
                <a:latin typeface="Arial"/>
                <a:ea typeface="Arial"/>
                <a:cs typeface="Arial"/>
              </a:rPr>
              <a:t>• supports CPU execution</a:t>
            </a:r>
          </a:p>
          <a:p>
            <a:pPr algn="l">
              <a:defRPr sz="1800" b="0">
                <a:solidFill>
                  <a:srgbClr val="111111"/>
                </a:solidFill>
                <a:latin typeface="Arial"/>
                <a:ea typeface="Arial"/>
                <a:cs typeface="Arial"/>
              </a:defRPr>
            </a:pPr>
            <a:r>
              <a:rPr sz="1800" b="0">
                <a:solidFill>
                  <a:srgbClr val="111111"/>
                </a:solidFill>
                <a:latin typeface="Arial"/>
                <a:ea typeface="Arial"/>
                <a:cs typeface="Arial"/>
              </a:rPr>
              <a:t>• installs as a separate Python package</a:t>
            </a:r>
          </a:p>
        </p:txBody>
      </p:sp>
      <p:sp>
        <p:nvSpPr>
          <p:cNvPr id="8" name="install">
            <a:extLst>
              <a:ext uri="{FF2B5EF4-FFF2-40B4-BE49-F238E27FC236}">
                <a16:creationId xmlns:a16="http://schemas.microsoft.com/office/drawing/2014/main" id="{FE1E3D9B-2E8C-479C-A18B-C89B33B57FE1}"/>
              </a:ext>
            </a:extLst>
          </p:cNvPr>
          <p:cNvSpPr>
            <a:spLocks noGrp="1"/>
          </p:cNvSpPr>
          <p:nvPr/>
        </p:nvSpPr>
        <p:spPr>
          <a:xfrm>
            <a:off x="1143000" y="5334000"/>
            <a:ext cx="9906000" cy="523875"/>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requirements.txt installs both packages into the active virtual environment.</a:t>
            </a:r>
          </a:p>
        </p:txBody>
      </p:sp>
    </p:spTree>
    <p:extLst>
      <p:ext uri="{BB962C8B-B14F-4D97-AF65-F5344CB8AC3E}">
        <p14:creationId xmlns:p14="http://schemas.microsoft.com/office/powerpoint/2010/main" val="264176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32A1E40-786B-4C65-A256-0B7FE57C9317}"/>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Step 1 runs PaddleOCR on one image</a:t>
            </a:r>
          </a:p>
        </p:txBody>
      </p:sp>
      <p:sp>
        <p:nvSpPr>
          <p:cNvPr id="2" name="page">
            <a:extLst>
              <a:ext uri="{FF2B5EF4-FFF2-40B4-BE49-F238E27FC236}">
                <a16:creationId xmlns:a16="http://schemas.microsoft.com/office/drawing/2014/main" id="{B7992F0F-F664-41F5-A696-E9CD8756ECF6}"/>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13</a:t>
            </a:r>
            <a:endParaRPr sz="975" b="0">
              <a:solidFill>
                <a:srgbClr val="62666D"/>
              </a:solidFill>
              <a:latin typeface="Arial"/>
              <a:ea typeface="Arial"/>
              <a:cs typeface="Arial"/>
            </a:endParaRPr>
          </a:p>
        </p:txBody>
      </p:sp>
      <p:sp>
        <p:nvSpPr>
          <p:cNvPr id="3" name="code">
            <a:extLst>
              <a:ext uri="{FF2B5EF4-FFF2-40B4-BE49-F238E27FC236}">
                <a16:creationId xmlns:a16="http://schemas.microsoft.com/office/drawing/2014/main" id="{ECDA6A96-C9AE-4303-98D3-7E43FAC3D01D}"/>
              </a:ext>
            </a:extLst>
          </p:cNvPr>
          <p:cNvSpPr>
            <a:spLocks noGrp="1"/>
          </p:cNvSpPr>
          <p:nvPr/>
        </p:nvSpPr>
        <p:spPr>
          <a:xfrm>
            <a:off x="419100" y="1428750"/>
            <a:ext cx="6953250" cy="4238625"/>
          </a:xfrm>
          <a:prstGeom prst="rect">
            <a:avLst/>
          </a:prstGeom>
          <a:solidFill>
            <a:srgbClr val="17212B"/>
          </a:solidFill>
          <a:ln w="0">
            <a:noFill/>
            <a:prstDash val="solid"/>
          </a:ln>
        </p:spPr>
        <p:txBody>
          <a:bodyPr/>
          <a:lstStyle/>
          <a:p>
            <a:endParaRPr lang="de-DE"/>
          </a:p>
        </p:txBody>
      </p:sp>
      <p:sp>
        <p:nvSpPr>
          <p:cNvPr id="4" name="label">
            <a:extLst>
              <a:ext uri="{FF2B5EF4-FFF2-40B4-BE49-F238E27FC236}">
                <a16:creationId xmlns:a16="http://schemas.microsoft.com/office/drawing/2014/main" id="{E61B4DB7-E22C-42FF-8817-E68BA48DA7B7}"/>
              </a:ext>
            </a:extLst>
          </p:cNvPr>
          <p:cNvSpPr>
            <a:spLocks noGrp="1"/>
          </p:cNvSpPr>
          <p:nvPr/>
        </p:nvSpPr>
        <p:spPr>
          <a:xfrm>
            <a:off x="628650" y="1543050"/>
            <a:ext cx="653415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PYTHON</a:t>
            </a:r>
          </a:p>
        </p:txBody>
      </p:sp>
      <p:sp>
        <p:nvSpPr>
          <p:cNvPr id="5" name="code-text">
            <a:extLst>
              <a:ext uri="{FF2B5EF4-FFF2-40B4-BE49-F238E27FC236}">
                <a16:creationId xmlns:a16="http://schemas.microsoft.com/office/drawing/2014/main" id="{1E17C94E-1939-483A-AFEA-D3150CFF6B10}"/>
              </a:ext>
            </a:extLst>
          </p:cNvPr>
          <p:cNvSpPr>
            <a:spLocks noGrp="1"/>
          </p:cNvSpPr>
          <p:nvPr/>
        </p:nvSpPr>
        <p:spPr>
          <a:xfrm>
            <a:off x="628650" y="1885950"/>
            <a:ext cx="6534150" cy="3648075"/>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from paddleocr import PaddleOCR</a:t>
            </a:r>
          </a:p>
          <a:p>
            <a:endParaRPr sz="1275" b="0">
              <a:solidFill>
                <a:srgbClr val="F5F7FA"/>
              </a:solidFill>
              <a:latin typeface="Consolas"/>
              <a:ea typeface="Consolas"/>
              <a:cs typeface="Consolas"/>
            </a:endParaRP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ocr = PaddleOCR(</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use_doc_orientation_classify=False,</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use_doc_unwarping=False,</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use_textline_orientation=False</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a:t>
            </a:r>
          </a:p>
          <a:p>
            <a:endParaRPr sz="1275" b="0">
              <a:solidFill>
                <a:srgbClr val="F5F7FA"/>
              </a:solidFill>
              <a:latin typeface="Consolas"/>
              <a:ea typeface="Consolas"/>
              <a:cs typeface="Consolas"/>
            </a:endParaRP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results = ocr.predict(input="example.png")</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for result in results:</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result.print()</a:t>
            </a:r>
          </a:p>
        </p:txBody>
      </p:sp>
      <p:sp>
        <p:nvSpPr>
          <p:cNvPr id="6" name="steps">
            <a:extLst>
              <a:ext uri="{FF2B5EF4-FFF2-40B4-BE49-F238E27FC236}">
                <a16:creationId xmlns:a16="http://schemas.microsoft.com/office/drawing/2014/main" id="{9CCC6C89-5E84-46BE-AF23-0E0AA93E53B2}"/>
              </a:ext>
            </a:extLst>
          </p:cNvPr>
          <p:cNvSpPr>
            <a:spLocks noGrp="1"/>
          </p:cNvSpPr>
          <p:nvPr/>
        </p:nvSpPr>
        <p:spPr>
          <a:xfrm>
            <a:off x="7810500" y="1714500"/>
            <a:ext cx="3524250" cy="2857500"/>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1  Import the library</a:t>
            </a:r>
          </a:p>
          <a:p>
            <a:endParaRPr sz="1875" b="1">
              <a:solidFill>
                <a:srgbClr val="111111"/>
              </a:solidFill>
              <a:latin typeface="Arial"/>
              <a:ea typeface="Arial"/>
              <a:cs typeface="Arial"/>
            </a:endParaRPr>
          </a:p>
          <a:p>
            <a:pPr algn="l">
              <a:defRPr sz="1875" b="1">
                <a:solidFill>
                  <a:srgbClr val="111111"/>
                </a:solidFill>
                <a:latin typeface="Arial"/>
                <a:ea typeface="Arial"/>
                <a:cs typeface="Arial"/>
              </a:defRPr>
            </a:pPr>
            <a:r>
              <a:rPr sz="1875" b="1">
                <a:solidFill>
                  <a:srgbClr val="111111"/>
                </a:solidFill>
                <a:latin typeface="Arial"/>
                <a:ea typeface="Arial"/>
                <a:cs typeface="Arial"/>
              </a:rPr>
              <a:t>2  Create the OCR pipeline</a:t>
            </a:r>
          </a:p>
          <a:p>
            <a:endParaRPr sz="1875" b="1">
              <a:solidFill>
                <a:srgbClr val="111111"/>
              </a:solidFill>
              <a:latin typeface="Arial"/>
              <a:ea typeface="Arial"/>
              <a:cs typeface="Arial"/>
            </a:endParaRPr>
          </a:p>
          <a:p>
            <a:pPr algn="l">
              <a:defRPr sz="1875" b="1">
                <a:solidFill>
                  <a:srgbClr val="111111"/>
                </a:solidFill>
                <a:latin typeface="Arial"/>
                <a:ea typeface="Arial"/>
                <a:cs typeface="Arial"/>
              </a:defRPr>
            </a:pPr>
            <a:r>
              <a:rPr sz="1875" b="1">
                <a:solidFill>
                  <a:srgbClr val="111111"/>
                </a:solidFill>
                <a:latin typeface="Arial"/>
                <a:ea typeface="Arial"/>
                <a:cs typeface="Arial"/>
              </a:rPr>
              <a:t>3  Pass the image path</a:t>
            </a:r>
          </a:p>
          <a:p>
            <a:endParaRPr sz="1875" b="1">
              <a:solidFill>
                <a:srgbClr val="111111"/>
              </a:solidFill>
              <a:latin typeface="Arial"/>
              <a:ea typeface="Arial"/>
              <a:cs typeface="Arial"/>
            </a:endParaRPr>
          </a:p>
          <a:p>
            <a:pPr algn="l">
              <a:defRPr sz="1875" b="1">
                <a:solidFill>
                  <a:srgbClr val="111111"/>
                </a:solidFill>
                <a:latin typeface="Arial"/>
                <a:ea typeface="Arial"/>
                <a:cs typeface="Arial"/>
              </a:defRPr>
            </a:pPr>
            <a:r>
              <a:rPr sz="1875" b="1">
                <a:solidFill>
                  <a:srgbClr val="111111"/>
                </a:solidFill>
                <a:latin typeface="Arial"/>
                <a:ea typeface="Arial"/>
                <a:cs typeface="Arial"/>
              </a:rPr>
              <a:t>4  Print the raw result</a:t>
            </a:r>
          </a:p>
        </p:txBody>
      </p:sp>
      <p:sp>
        <p:nvSpPr>
          <p:cNvPr id="7" name="path">
            <a:extLst>
              <a:ext uri="{FF2B5EF4-FFF2-40B4-BE49-F238E27FC236}">
                <a16:creationId xmlns:a16="http://schemas.microsoft.com/office/drawing/2014/main" id="{8CD2B6A7-5E98-4487-B972-BD8FEDEAC5BD}"/>
              </a:ext>
            </a:extLst>
          </p:cNvPr>
          <p:cNvSpPr>
            <a:spLocks noGrp="1"/>
          </p:cNvSpPr>
          <p:nvPr/>
        </p:nvSpPr>
        <p:spPr>
          <a:xfrm>
            <a:off x="7620000" y="5095875"/>
            <a:ext cx="3905250" cy="428625"/>
          </a:xfrm>
          <a:prstGeom prst="rect">
            <a:avLst/>
          </a:prstGeom>
          <a:noFill/>
          <a:ln w="0">
            <a:noFill/>
            <a:prstDash val="solid"/>
          </a:ln>
        </p:spPr>
        <p:txBody>
          <a:bodyPr lIns="0" tIns="0" rIns="0" bIns="0" anchor="ctr">
            <a:normAutofit/>
          </a:bodyPr>
          <a:lstStyle/>
          <a:p>
            <a:pPr algn="l">
              <a:defRPr sz="1275" b="1">
                <a:solidFill>
                  <a:srgbClr val="3D8DFF"/>
                </a:solidFill>
                <a:latin typeface="Consolas"/>
                <a:ea typeface="Consolas"/>
                <a:cs typeface="Consolas"/>
              </a:defRPr>
            </a:pPr>
            <a:r>
              <a:rPr sz="1275" b="1">
                <a:solidFill>
                  <a:srgbClr val="3D8DFF"/>
                </a:solidFill>
                <a:latin typeface="Consolas"/>
                <a:ea typeface="Consolas"/>
                <a:cs typeface="Consolas"/>
              </a:rPr>
              <a:t>Script: ocr_examples/01_paddleocr_basic.py</a:t>
            </a:r>
          </a:p>
        </p:txBody>
      </p:sp>
    </p:spTree>
    <p:extLst>
      <p:ext uri="{BB962C8B-B14F-4D97-AF65-F5344CB8AC3E}">
        <p14:creationId xmlns:p14="http://schemas.microsoft.com/office/powerpoint/2010/main" val="2095331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D7C04B2-FB14-4CDD-80AF-AAC944409EEA}"/>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Step 2 exports the raw result</a:t>
            </a:r>
          </a:p>
        </p:txBody>
      </p:sp>
      <p:sp>
        <p:nvSpPr>
          <p:cNvPr id="2" name="page">
            <a:extLst>
              <a:ext uri="{FF2B5EF4-FFF2-40B4-BE49-F238E27FC236}">
                <a16:creationId xmlns:a16="http://schemas.microsoft.com/office/drawing/2014/main" id="{76F389C2-C438-4ED5-B72E-2C545B157FA9}"/>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14</a:t>
            </a:r>
            <a:endParaRPr sz="975" b="0">
              <a:solidFill>
                <a:srgbClr val="62666D"/>
              </a:solidFill>
              <a:latin typeface="Arial"/>
              <a:ea typeface="Arial"/>
              <a:cs typeface="Arial"/>
            </a:endParaRPr>
          </a:p>
        </p:txBody>
      </p:sp>
      <p:sp>
        <p:nvSpPr>
          <p:cNvPr id="3" name="code">
            <a:extLst>
              <a:ext uri="{FF2B5EF4-FFF2-40B4-BE49-F238E27FC236}">
                <a16:creationId xmlns:a16="http://schemas.microsoft.com/office/drawing/2014/main" id="{643CBDB0-D366-4EA9-90D9-695D6C2A0A56}"/>
              </a:ext>
            </a:extLst>
          </p:cNvPr>
          <p:cNvSpPr>
            <a:spLocks noGrp="1"/>
          </p:cNvSpPr>
          <p:nvPr/>
        </p:nvSpPr>
        <p:spPr>
          <a:xfrm>
            <a:off x="419100" y="1666875"/>
            <a:ext cx="6667500" cy="3143250"/>
          </a:xfrm>
          <a:prstGeom prst="rect">
            <a:avLst/>
          </a:prstGeom>
          <a:solidFill>
            <a:srgbClr val="17212B"/>
          </a:solidFill>
          <a:ln w="0">
            <a:noFill/>
            <a:prstDash val="solid"/>
          </a:ln>
        </p:spPr>
        <p:txBody>
          <a:bodyPr/>
          <a:lstStyle/>
          <a:p>
            <a:endParaRPr lang="de-DE"/>
          </a:p>
        </p:txBody>
      </p:sp>
      <p:sp>
        <p:nvSpPr>
          <p:cNvPr id="4" name="label">
            <a:extLst>
              <a:ext uri="{FF2B5EF4-FFF2-40B4-BE49-F238E27FC236}">
                <a16:creationId xmlns:a16="http://schemas.microsoft.com/office/drawing/2014/main" id="{62169200-0564-41F6-B43E-58C92F459934}"/>
              </a:ext>
            </a:extLst>
          </p:cNvPr>
          <p:cNvSpPr>
            <a:spLocks noGrp="1"/>
          </p:cNvSpPr>
          <p:nvPr/>
        </p:nvSpPr>
        <p:spPr>
          <a:xfrm>
            <a:off x="628650" y="1781175"/>
            <a:ext cx="624840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PYTHON</a:t>
            </a:r>
          </a:p>
        </p:txBody>
      </p:sp>
      <p:sp>
        <p:nvSpPr>
          <p:cNvPr id="5" name="code-text">
            <a:extLst>
              <a:ext uri="{FF2B5EF4-FFF2-40B4-BE49-F238E27FC236}">
                <a16:creationId xmlns:a16="http://schemas.microsoft.com/office/drawing/2014/main" id="{2E76C293-44BE-4D84-83BB-BF6BC17E70CB}"/>
              </a:ext>
            </a:extLst>
          </p:cNvPr>
          <p:cNvSpPr>
            <a:spLocks noGrp="1"/>
          </p:cNvSpPr>
          <p:nvPr/>
        </p:nvSpPr>
        <p:spPr>
          <a:xfrm>
            <a:off x="628650" y="2124075"/>
            <a:ext cx="6248400" cy="2552700"/>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OUTPUT_DIR.mkdir(exist_ok=True)</a:t>
            </a:r>
          </a:p>
          <a:p>
            <a:endParaRPr sz="1275" b="0">
              <a:solidFill>
                <a:srgbClr val="F5F7FA"/>
              </a:solidFill>
              <a:latin typeface="Consolas"/>
              <a:ea typeface="Consolas"/>
              <a:cs typeface="Consolas"/>
            </a:endParaRP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for result in results:</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result.save_to_json(str(OUTPUT_DIR))</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result.save_to_img(str(OUTPUT_DIR))</a:t>
            </a:r>
          </a:p>
        </p:txBody>
      </p:sp>
      <p:sp>
        <p:nvSpPr>
          <p:cNvPr id="6" name="points">
            <a:extLst>
              <a:ext uri="{FF2B5EF4-FFF2-40B4-BE49-F238E27FC236}">
                <a16:creationId xmlns:a16="http://schemas.microsoft.com/office/drawing/2014/main" id="{1F6CBA1C-4ABF-4BB6-B6C4-54F65BF85DC4}"/>
              </a:ext>
            </a:extLst>
          </p:cNvPr>
          <p:cNvSpPr>
            <a:spLocks noGrp="1"/>
          </p:cNvSpPr>
          <p:nvPr/>
        </p:nvSpPr>
        <p:spPr>
          <a:xfrm>
            <a:off x="7572375" y="1762125"/>
            <a:ext cx="3714750" cy="2571750"/>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The export contains</a:t>
            </a:r>
          </a:p>
          <a:p>
            <a:endParaRPr sz="1875" b="1">
              <a:solidFill>
                <a:srgbClr val="111111"/>
              </a:solidFill>
              <a:latin typeface="Arial"/>
              <a:ea typeface="Arial"/>
              <a:cs typeface="Arial"/>
            </a:endParaRPr>
          </a:p>
          <a:p>
            <a:pPr algn="l">
              <a:defRPr sz="1875" b="1">
                <a:solidFill>
                  <a:srgbClr val="111111"/>
                </a:solidFill>
                <a:latin typeface="Arial"/>
                <a:ea typeface="Arial"/>
                <a:cs typeface="Arial"/>
              </a:defRPr>
            </a:pPr>
            <a:r>
              <a:rPr sz="1875" b="1">
                <a:solidFill>
                  <a:srgbClr val="111111"/>
                </a:solidFill>
                <a:latin typeface="Arial"/>
                <a:ea typeface="Arial"/>
                <a:cs typeface="Arial"/>
              </a:rPr>
              <a:t>• detected regions</a:t>
            </a:r>
          </a:p>
          <a:p>
            <a:pPr algn="l">
              <a:defRPr sz="1875" b="1">
                <a:solidFill>
                  <a:srgbClr val="111111"/>
                </a:solidFill>
                <a:latin typeface="Arial"/>
                <a:ea typeface="Arial"/>
                <a:cs typeface="Arial"/>
              </a:defRPr>
            </a:pPr>
            <a:r>
              <a:rPr sz="1875" b="1">
                <a:solidFill>
                  <a:srgbClr val="111111"/>
                </a:solidFill>
                <a:latin typeface="Arial"/>
                <a:ea typeface="Arial"/>
                <a:cs typeface="Arial"/>
              </a:rPr>
              <a:t>• recognized text</a:t>
            </a:r>
          </a:p>
          <a:p>
            <a:pPr algn="l">
              <a:defRPr sz="1875" b="1">
                <a:solidFill>
                  <a:srgbClr val="111111"/>
                </a:solidFill>
                <a:latin typeface="Arial"/>
                <a:ea typeface="Arial"/>
                <a:cs typeface="Arial"/>
              </a:defRPr>
            </a:pPr>
            <a:r>
              <a:rPr sz="1875" b="1">
                <a:solidFill>
                  <a:srgbClr val="111111"/>
                </a:solidFill>
                <a:latin typeface="Arial"/>
                <a:ea typeface="Arial"/>
                <a:cs typeface="Arial"/>
              </a:rPr>
              <a:t>• confidence scores</a:t>
            </a:r>
          </a:p>
          <a:p>
            <a:pPr algn="l">
              <a:defRPr sz="1875" b="1">
                <a:solidFill>
                  <a:srgbClr val="111111"/>
                </a:solidFill>
                <a:latin typeface="Arial"/>
                <a:ea typeface="Arial"/>
                <a:cs typeface="Arial"/>
              </a:defRPr>
            </a:pPr>
            <a:r>
              <a:rPr sz="1875" b="1">
                <a:solidFill>
                  <a:srgbClr val="111111"/>
                </a:solidFill>
                <a:latin typeface="Arial"/>
                <a:ea typeface="Arial"/>
                <a:cs typeface="Arial"/>
              </a:rPr>
              <a:t>• a visual overlay</a:t>
            </a:r>
          </a:p>
        </p:txBody>
      </p:sp>
      <p:sp>
        <p:nvSpPr>
          <p:cNvPr id="7" name="take">
            <a:extLst>
              <a:ext uri="{FF2B5EF4-FFF2-40B4-BE49-F238E27FC236}">
                <a16:creationId xmlns:a16="http://schemas.microsoft.com/office/drawing/2014/main" id="{36005384-0A43-48E1-B4D1-AED8C9D0B2ED}"/>
              </a:ext>
            </a:extLst>
          </p:cNvPr>
          <p:cNvSpPr>
            <a:spLocks noGrp="1"/>
          </p:cNvSpPr>
          <p:nvPr/>
        </p:nvSpPr>
        <p:spPr>
          <a:xfrm>
            <a:off x="419100" y="5143500"/>
            <a:ext cx="6191250" cy="523875"/>
          </a:xfrm>
          <a:prstGeom prst="rect">
            <a:avLst/>
          </a:prstGeom>
          <a:noFill/>
          <a:ln w="0">
            <a:noFill/>
            <a:prstDash val="solid"/>
          </a:ln>
        </p:spPr>
        <p:txBody>
          <a:bodyPr lIns="0" tIns="0" rIns="0" bIns="0" anchor="ctr">
            <a:normAutofit/>
          </a:bodyPr>
          <a:lstStyle/>
          <a:p>
            <a:pPr algn="l">
              <a:defRPr sz="1650" b="1">
                <a:solidFill>
                  <a:srgbClr val="62666D"/>
                </a:solidFill>
                <a:latin typeface="Arial"/>
                <a:ea typeface="Arial"/>
                <a:cs typeface="Arial"/>
              </a:defRPr>
            </a:pPr>
            <a:r>
              <a:rPr sz="1650" b="1">
                <a:solidFill>
                  <a:srgbClr val="62666D"/>
                </a:solidFill>
                <a:latin typeface="Arial"/>
                <a:ea typeface="Arial"/>
                <a:cs typeface="Arial"/>
              </a:rPr>
              <a:t>Keep raw exports for debugging and later comparisons.</a:t>
            </a:r>
          </a:p>
        </p:txBody>
      </p:sp>
      <p:sp>
        <p:nvSpPr>
          <p:cNvPr id="8" name="path">
            <a:extLst>
              <a:ext uri="{FF2B5EF4-FFF2-40B4-BE49-F238E27FC236}">
                <a16:creationId xmlns:a16="http://schemas.microsoft.com/office/drawing/2014/main" id="{A8BB4D5C-C12B-4472-AD82-D16181A5550C}"/>
              </a:ext>
            </a:extLst>
          </p:cNvPr>
          <p:cNvSpPr>
            <a:spLocks noGrp="1"/>
          </p:cNvSpPr>
          <p:nvPr/>
        </p:nvSpPr>
        <p:spPr>
          <a:xfrm>
            <a:off x="7572375" y="4857750"/>
            <a:ext cx="3714750" cy="714375"/>
          </a:xfrm>
          <a:prstGeom prst="rect">
            <a:avLst/>
          </a:prstGeom>
          <a:noFill/>
          <a:ln w="0">
            <a:noFill/>
            <a:prstDash val="solid"/>
          </a:ln>
        </p:spPr>
        <p:txBody>
          <a:bodyPr lIns="0" tIns="0" rIns="0" bIns="0" anchor="ctr">
            <a:normAutofit/>
          </a:bodyPr>
          <a:lstStyle/>
          <a:p>
            <a:pPr algn="l">
              <a:defRPr sz="1275" b="1">
                <a:solidFill>
                  <a:srgbClr val="3D8DFF"/>
                </a:solidFill>
                <a:latin typeface="Consolas"/>
                <a:ea typeface="Consolas"/>
                <a:cs typeface="Consolas"/>
              </a:defRPr>
            </a:pPr>
            <a:r>
              <a:rPr sz="1275" b="1">
                <a:solidFill>
                  <a:srgbClr val="3D8DFF"/>
                </a:solidFill>
                <a:latin typeface="Consolas"/>
                <a:ea typeface="Consolas"/>
                <a:cs typeface="Consolas"/>
              </a:rPr>
              <a:t>Script:</a:t>
            </a:r>
          </a:p>
          <a:p>
            <a:pPr algn="l">
              <a:defRPr sz="1275" b="1">
                <a:solidFill>
                  <a:srgbClr val="3D8DFF"/>
                </a:solidFill>
                <a:latin typeface="Consolas"/>
                <a:ea typeface="Consolas"/>
                <a:cs typeface="Consolas"/>
              </a:defRPr>
            </a:pPr>
            <a:r>
              <a:rPr sz="1275" b="1">
                <a:solidFill>
                  <a:srgbClr val="3D8DFF"/>
                </a:solidFill>
                <a:latin typeface="Consolas"/>
                <a:ea typeface="Consolas"/>
                <a:cs typeface="Consolas"/>
              </a:rPr>
              <a:t>ocr_examples/02_paddleocr_export.py</a:t>
            </a:r>
          </a:p>
        </p:txBody>
      </p:sp>
    </p:spTree>
    <p:extLst>
      <p:ext uri="{BB962C8B-B14F-4D97-AF65-F5344CB8AC3E}">
        <p14:creationId xmlns:p14="http://schemas.microsoft.com/office/powerpoint/2010/main" val="442092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0DFCE9E4-AD76-4B10-AF30-D346E814CFA2}"/>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Useful OCR evidence includes text, position, and confidence</a:t>
            </a:r>
          </a:p>
        </p:txBody>
      </p:sp>
      <p:sp>
        <p:nvSpPr>
          <p:cNvPr id="2" name="page">
            <a:extLst>
              <a:ext uri="{FF2B5EF4-FFF2-40B4-BE49-F238E27FC236}">
                <a16:creationId xmlns:a16="http://schemas.microsoft.com/office/drawing/2014/main" id="{779011EB-B7A4-4B1B-A378-8163066E521B}"/>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15</a:t>
            </a:r>
            <a:endParaRPr sz="975" b="0">
              <a:solidFill>
                <a:srgbClr val="62666D"/>
              </a:solidFill>
              <a:latin typeface="Arial"/>
              <a:ea typeface="Arial"/>
              <a:cs typeface="Arial"/>
            </a:endParaRPr>
          </a:p>
        </p:txBody>
      </p:sp>
      <p:sp>
        <p:nvSpPr>
          <p:cNvPr id="3" name="h0">
            <a:extLst>
              <a:ext uri="{FF2B5EF4-FFF2-40B4-BE49-F238E27FC236}">
                <a16:creationId xmlns:a16="http://schemas.microsoft.com/office/drawing/2014/main" id="{0786EBA3-0A4A-4F31-A8AF-0F40CEA9BB65}"/>
              </a:ext>
            </a:extLst>
          </p:cNvPr>
          <p:cNvSpPr>
            <a:spLocks noGrp="1"/>
          </p:cNvSpPr>
          <p:nvPr/>
        </p:nvSpPr>
        <p:spPr>
          <a:xfrm>
            <a:off x="419100" y="1666875"/>
            <a:ext cx="3238500" cy="428625"/>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Text</a:t>
            </a:r>
          </a:p>
        </p:txBody>
      </p:sp>
      <p:sp>
        <p:nvSpPr>
          <p:cNvPr id="4" name="b0">
            <a:extLst>
              <a:ext uri="{FF2B5EF4-FFF2-40B4-BE49-F238E27FC236}">
                <a16:creationId xmlns:a16="http://schemas.microsoft.com/office/drawing/2014/main" id="{ABD276A3-F9BA-4B67-9FC9-F3A1EF09815E}"/>
              </a:ext>
            </a:extLst>
          </p:cNvPr>
          <p:cNvSpPr>
            <a:spLocks noGrp="1"/>
          </p:cNvSpPr>
          <p:nvPr/>
        </p:nvSpPr>
        <p:spPr>
          <a:xfrm>
            <a:off x="419100" y="2305050"/>
            <a:ext cx="3238500" cy="2381250"/>
          </a:xfrm>
          <a:prstGeom prst="rect">
            <a:avLst/>
          </a:prstGeom>
          <a:solidFill>
            <a:srgbClr val="EDEDED"/>
          </a:solidFill>
          <a:ln w="0">
            <a:noFill/>
            <a:prstDash val="solid"/>
          </a:ln>
        </p:spPr>
        <p:txBody>
          <a:bodyPr/>
          <a:lstStyle/>
          <a:p>
            <a:endParaRPr lang="de-DE"/>
          </a:p>
        </p:txBody>
      </p:sp>
      <p:sp>
        <p:nvSpPr>
          <p:cNvPr id="5" name="v0">
            <a:extLst>
              <a:ext uri="{FF2B5EF4-FFF2-40B4-BE49-F238E27FC236}">
                <a16:creationId xmlns:a16="http://schemas.microsoft.com/office/drawing/2014/main" id="{37FEB004-2A1C-4669-9B92-F01ED97316D9}"/>
              </a:ext>
            </a:extLst>
          </p:cNvPr>
          <p:cNvSpPr>
            <a:spLocks noGrp="1"/>
          </p:cNvSpPr>
          <p:nvPr/>
        </p:nvSpPr>
        <p:spPr>
          <a:xfrm>
            <a:off x="647700" y="2714625"/>
            <a:ext cx="2781300" cy="1143000"/>
          </a:xfrm>
          <a:prstGeom prst="rect">
            <a:avLst/>
          </a:prstGeom>
          <a:noFill/>
          <a:ln w="0">
            <a:noFill/>
            <a:prstDash val="solid"/>
          </a:ln>
        </p:spPr>
        <p:txBody>
          <a:bodyPr lIns="0" tIns="0" rIns="0" bIns="0" anchor="ctr">
            <a:normAutofit/>
          </a:bodyPr>
          <a:lstStyle/>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"Total €7.70"</a:t>
            </a:r>
          </a:p>
        </p:txBody>
      </p:sp>
      <p:sp>
        <p:nvSpPr>
          <p:cNvPr id="6" name="h1">
            <a:extLst>
              <a:ext uri="{FF2B5EF4-FFF2-40B4-BE49-F238E27FC236}">
                <a16:creationId xmlns:a16="http://schemas.microsoft.com/office/drawing/2014/main" id="{5A88821D-141D-48E5-ACEA-A0FD70814511}"/>
              </a:ext>
            </a:extLst>
          </p:cNvPr>
          <p:cNvSpPr>
            <a:spLocks noGrp="1"/>
          </p:cNvSpPr>
          <p:nvPr/>
        </p:nvSpPr>
        <p:spPr>
          <a:xfrm>
            <a:off x="4143375" y="1666875"/>
            <a:ext cx="3238500" cy="428625"/>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Coordinates</a:t>
            </a:r>
          </a:p>
        </p:txBody>
      </p:sp>
      <p:sp>
        <p:nvSpPr>
          <p:cNvPr id="7" name="b1">
            <a:extLst>
              <a:ext uri="{FF2B5EF4-FFF2-40B4-BE49-F238E27FC236}">
                <a16:creationId xmlns:a16="http://schemas.microsoft.com/office/drawing/2014/main" id="{46D0A819-4932-4130-875F-EA058C42F94D}"/>
              </a:ext>
            </a:extLst>
          </p:cNvPr>
          <p:cNvSpPr>
            <a:spLocks noGrp="1"/>
          </p:cNvSpPr>
          <p:nvPr/>
        </p:nvSpPr>
        <p:spPr>
          <a:xfrm>
            <a:off x="4143375" y="2305050"/>
            <a:ext cx="3238500" cy="2381250"/>
          </a:xfrm>
          <a:prstGeom prst="rect">
            <a:avLst/>
          </a:prstGeom>
          <a:solidFill>
            <a:srgbClr val="D9F1FC"/>
          </a:solidFill>
          <a:ln w="0">
            <a:noFill/>
            <a:prstDash val="solid"/>
          </a:ln>
        </p:spPr>
        <p:txBody>
          <a:bodyPr/>
          <a:lstStyle/>
          <a:p>
            <a:endParaRPr lang="de-DE"/>
          </a:p>
        </p:txBody>
      </p:sp>
      <p:sp>
        <p:nvSpPr>
          <p:cNvPr id="8" name="v1">
            <a:extLst>
              <a:ext uri="{FF2B5EF4-FFF2-40B4-BE49-F238E27FC236}">
                <a16:creationId xmlns:a16="http://schemas.microsoft.com/office/drawing/2014/main" id="{1C71A162-00D2-4A98-A98C-8DC32BE75FC5}"/>
              </a:ext>
            </a:extLst>
          </p:cNvPr>
          <p:cNvSpPr>
            <a:spLocks noGrp="1"/>
          </p:cNvSpPr>
          <p:nvPr/>
        </p:nvSpPr>
        <p:spPr>
          <a:xfrm>
            <a:off x="4371975" y="2714625"/>
            <a:ext cx="2781300" cy="1143000"/>
          </a:xfrm>
          <a:prstGeom prst="rect">
            <a:avLst/>
          </a:prstGeom>
          <a:noFill/>
          <a:ln w="0">
            <a:noFill/>
            <a:prstDash val="solid"/>
          </a:ln>
        </p:spPr>
        <p:txBody>
          <a:bodyPr lIns="0" tIns="0" rIns="0" bIns="0" anchor="ctr">
            <a:normAutofit/>
          </a:bodyPr>
          <a:lstStyle/>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x=118, y=406</a:t>
            </a:r>
          </a:p>
          <a:p>
            <a:pPr algn="l">
              <a:defRPr sz="1875" b="1">
                <a:solidFill>
                  <a:srgbClr val="111111"/>
                </a:solidFill>
                <a:latin typeface="Consolas"/>
                <a:ea typeface="Consolas"/>
                <a:cs typeface="Consolas"/>
              </a:defRPr>
            </a:pPr>
            <a:r>
              <a:rPr sz="1875" b="1">
                <a:solidFill>
                  <a:srgbClr val="111111"/>
                </a:solidFill>
                <a:latin typeface="Consolas"/>
                <a:ea typeface="Consolas"/>
                <a:cs typeface="Consolas"/>
              </a:rPr>
              <a:t>w=252, h=31</a:t>
            </a:r>
          </a:p>
        </p:txBody>
      </p:sp>
      <p:sp>
        <p:nvSpPr>
          <p:cNvPr id="9" name="h2">
            <a:extLst>
              <a:ext uri="{FF2B5EF4-FFF2-40B4-BE49-F238E27FC236}">
                <a16:creationId xmlns:a16="http://schemas.microsoft.com/office/drawing/2014/main" id="{161EE41B-7BA4-47A5-A244-8D83C85A8F85}"/>
              </a:ext>
            </a:extLst>
          </p:cNvPr>
          <p:cNvSpPr>
            <a:spLocks noGrp="1"/>
          </p:cNvSpPr>
          <p:nvPr/>
        </p:nvSpPr>
        <p:spPr>
          <a:xfrm>
            <a:off x="7867650" y="1666875"/>
            <a:ext cx="3238500" cy="428625"/>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Confidence</a:t>
            </a:r>
          </a:p>
        </p:txBody>
      </p:sp>
      <p:sp>
        <p:nvSpPr>
          <p:cNvPr id="10" name="b2">
            <a:extLst>
              <a:ext uri="{FF2B5EF4-FFF2-40B4-BE49-F238E27FC236}">
                <a16:creationId xmlns:a16="http://schemas.microsoft.com/office/drawing/2014/main" id="{F60C2A9A-3BF1-487E-9702-7FA725561A17}"/>
              </a:ext>
            </a:extLst>
          </p:cNvPr>
          <p:cNvSpPr>
            <a:spLocks noGrp="1"/>
          </p:cNvSpPr>
          <p:nvPr/>
        </p:nvSpPr>
        <p:spPr>
          <a:xfrm>
            <a:off x="7867650" y="2305050"/>
            <a:ext cx="3238500" cy="2381250"/>
          </a:xfrm>
          <a:prstGeom prst="rect">
            <a:avLst/>
          </a:prstGeom>
          <a:solidFill>
            <a:srgbClr val="EDEDED"/>
          </a:solidFill>
          <a:ln w="0">
            <a:noFill/>
            <a:prstDash val="solid"/>
          </a:ln>
        </p:spPr>
        <p:txBody>
          <a:bodyPr/>
          <a:lstStyle/>
          <a:p>
            <a:endParaRPr lang="de-DE"/>
          </a:p>
        </p:txBody>
      </p:sp>
      <p:sp>
        <p:nvSpPr>
          <p:cNvPr id="11" name="v2">
            <a:extLst>
              <a:ext uri="{FF2B5EF4-FFF2-40B4-BE49-F238E27FC236}">
                <a16:creationId xmlns:a16="http://schemas.microsoft.com/office/drawing/2014/main" id="{8BA0D8B4-5831-4BDB-B2AD-7463FAC10BBC}"/>
              </a:ext>
            </a:extLst>
          </p:cNvPr>
          <p:cNvSpPr>
            <a:spLocks noGrp="1"/>
          </p:cNvSpPr>
          <p:nvPr/>
        </p:nvSpPr>
        <p:spPr>
          <a:xfrm>
            <a:off x="8096250" y="2714625"/>
            <a:ext cx="2781300" cy="1143000"/>
          </a:xfrm>
          <a:prstGeom prst="rect">
            <a:avLst/>
          </a:prstGeom>
          <a:noFill/>
          <a:ln w="0">
            <a:noFill/>
            <a:prstDash val="solid"/>
          </a:ln>
        </p:spPr>
        <p:txBody>
          <a:bodyPr lIns="0" tIns="0" rIns="0" bIns="0" anchor="ctr">
            <a:normAutofit/>
          </a:bodyPr>
          <a:lstStyle/>
          <a:p>
            <a:pPr algn="l">
              <a:defRPr sz="3600" b="1">
                <a:solidFill>
                  <a:srgbClr val="3D8DFF"/>
                </a:solidFill>
                <a:latin typeface="Consolas"/>
                <a:ea typeface="Consolas"/>
                <a:cs typeface="Consolas"/>
              </a:defRPr>
            </a:pPr>
            <a:r>
              <a:rPr sz="3600" b="1">
                <a:solidFill>
                  <a:srgbClr val="3D8DFF"/>
                </a:solidFill>
                <a:latin typeface="Consolas"/>
                <a:ea typeface="Consolas"/>
                <a:cs typeface="Consolas"/>
              </a:rPr>
              <a:t>0.94</a:t>
            </a:r>
          </a:p>
        </p:txBody>
      </p:sp>
      <p:sp>
        <p:nvSpPr>
          <p:cNvPr id="12" name="take">
            <a:extLst>
              <a:ext uri="{FF2B5EF4-FFF2-40B4-BE49-F238E27FC236}">
                <a16:creationId xmlns:a16="http://schemas.microsoft.com/office/drawing/2014/main" id="{C237B89B-3C57-4E59-87B0-CA8BE860C1B5}"/>
              </a:ext>
            </a:extLst>
          </p:cNvPr>
          <p:cNvSpPr>
            <a:spLocks noGrp="1"/>
          </p:cNvSpPr>
          <p:nvPr/>
        </p:nvSpPr>
        <p:spPr>
          <a:xfrm>
            <a:off x="419100" y="5334000"/>
            <a:ext cx="10668000" cy="619125"/>
          </a:xfrm>
          <a:prstGeom prst="rect">
            <a:avLst/>
          </a:prstGeom>
          <a:noFill/>
          <a:ln w="0">
            <a:noFill/>
            <a:prstDash val="solid"/>
          </a:ln>
        </p:spPr>
        <p:txBody>
          <a:bodyPr lIns="0" tIns="0" rIns="0" bIns="0" anchor="ctr">
            <a:normAutofit/>
          </a:bodyPr>
          <a:lstStyle/>
          <a:p>
            <a:pPr algn="l">
              <a:defRPr sz="2100" b="1">
                <a:solidFill>
                  <a:srgbClr val="111111"/>
                </a:solidFill>
                <a:latin typeface="Arial"/>
                <a:ea typeface="Arial"/>
                <a:cs typeface="Arial"/>
              </a:defRPr>
            </a:pPr>
            <a:r>
              <a:rPr sz="2100" b="1">
                <a:solidFill>
                  <a:srgbClr val="111111"/>
                </a:solidFill>
                <a:latin typeface="Arial"/>
                <a:ea typeface="Arial"/>
                <a:cs typeface="Arial"/>
              </a:rPr>
              <a:t>Text + location + certainty make the result auditable.</a:t>
            </a:r>
          </a:p>
        </p:txBody>
      </p:sp>
    </p:spTree>
    <p:extLst>
      <p:ext uri="{BB962C8B-B14F-4D97-AF65-F5344CB8AC3E}">
        <p14:creationId xmlns:p14="http://schemas.microsoft.com/office/powerpoint/2010/main" val="1786641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D197CBDF-2A3E-449B-A54A-0A73FD9EDD86}"/>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Preprocessing can turn a borderline case into a match</a:t>
            </a:r>
          </a:p>
        </p:txBody>
      </p:sp>
      <p:sp>
        <p:nvSpPr>
          <p:cNvPr id="2" name="page">
            <a:extLst>
              <a:ext uri="{FF2B5EF4-FFF2-40B4-BE49-F238E27FC236}">
                <a16:creationId xmlns:a16="http://schemas.microsoft.com/office/drawing/2014/main" id="{E4AC5388-EA87-4E62-8AEA-29BFAC2FF104}"/>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16</a:t>
            </a:r>
            <a:endParaRPr sz="975" b="0">
              <a:solidFill>
                <a:srgbClr val="62666D"/>
              </a:solidFill>
              <a:latin typeface="Arial"/>
              <a:ea typeface="Arial"/>
              <a:cs typeface="Arial"/>
            </a:endParaRPr>
          </a:p>
        </p:txBody>
      </p:sp>
      <p:sp>
        <p:nvSpPr>
          <p:cNvPr id="3" name="img0">
            <a:extLst>
              <a:ext uri="{FF2B5EF4-FFF2-40B4-BE49-F238E27FC236}">
                <a16:creationId xmlns:a16="http://schemas.microsoft.com/office/drawing/2014/main" id="{1BBAF450-74F7-47E0-93D6-09F5FEE80BCB}"/>
              </a:ext>
            </a:extLst>
          </p:cNvPr>
          <p:cNvSpPr>
            <a:spLocks noGrp="1"/>
          </p:cNvSpPr>
          <p:nvPr/>
        </p:nvSpPr>
        <p:spPr>
          <a:xfrm>
            <a:off x="419100" y="1809750"/>
            <a:ext cx="3333750" cy="2428875"/>
          </a:xfrm>
          <a:prstGeom prst="rect">
            <a:avLst/>
          </a:prstGeom>
          <a:solidFill>
            <a:srgbClr val="D8D2C9"/>
          </a:solidFill>
          <a:ln w="9525">
            <a:solidFill>
              <a:srgbClr val="B8BCC4"/>
            </a:solidFill>
            <a:prstDash val="solid"/>
          </a:ln>
        </p:spPr>
        <p:txBody>
          <a:bodyPr/>
          <a:lstStyle/>
          <a:p>
            <a:endParaRPr lang="de-DE"/>
          </a:p>
        </p:txBody>
      </p:sp>
      <p:sp>
        <p:nvSpPr>
          <p:cNvPr id="4" name="lab0">
            <a:extLst>
              <a:ext uri="{FF2B5EF4-FFF2-40B4-BE49-F238E27FC236}">
                <a16:creationId xmlns:a16="http://schemas.microsoft.com/office/drawing/2014/main" id="{497EE023-75FE-4C2A-B1EC-33B5663292D3}"/>
              </a:ext>
            </a:extLst>
          </p:cNvPr>
          <p:cNvSpPr>
            <a:spLocks noGrp="1"/>
          </p:cNvSpPr>
          <p:nvPr/>
        </p:nvSpPr>
        <p:spPr>
          <a:xfrm>
            <a:off x="419100" y="4476750"/>
            <a:ext cx="3333750" cy="381000"/>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Original</a:t>
            </a:r>
          </a:p>
        </p:txBody>
      </p:sp>
      <p:sp>
        <p:nvSpPr>
          <p:cNvPr id="5" name="v0">
            <a:extLst>
              <a:ext uri="{FF2B5EF4-FFF2-40B4-BE49-F238E27FC236}">
                <a16:creationId xmlns:a16="http://schemas.microsoft.com/office/drawing/2014/main" id="{BC800D8C-23FE-4351-A3E2-D2A629FA8022}"/>
              </a:ext>
            </a:extLst>
          </p:cNvPr>
          <p:cNvSpPr>
            <a:spLocks noGrp="1"/>
          </p:cNvSpPr>
          <p:nvPr/>
        </p:nvSpPr>
        <p:spPr>
          <a:xfrm>
            <a:off x="838200" y="2571750"/>
            <a:ext cx="2476500" cy="666750"/>
          </a:xfrm>
          <a:prstGeom prst="rect">
            <a:avLst/>
          </a:prstGeom>
          <a:noFill/>
          <a:ln w="0">
            <a:noFill/>
            <a:prstDash val="solid"/>
          </a:ln>
        </p:spPr>
        <p:txBody>
          <a:bodyPr lIns="0" tIns="0" rIns="0" bIns="0" anchor="ctr">
            <a:normAutofit/>
          </a:bodyPr>
          <a:lstStyle/>
          <a:p>
            <a:pPr algn="ctr">
              <a:defRPr sz="2625" b="1">
                <a:solidFill>
                  <a:srgbClr val="77706A"/>
                </a:solidFill>
                <a:latin typeface="Consolas"/>
                <a:ea typeface="Consolas"/>
                <a:cs typeface="Consolas"/>
              </a:defRPr>
            </a:pPr>
            <a:r>
              <a:rPr sz="2625" b="1">
                <a:solidFill>
                  <a:srgbClr val="77706A"/>
                </a:solidFill>
                <a:latin typeface="Consolas"/>
                <a:ea typeface="Consolas"/>
                <a:cs typeface="Consolas"/>
              </a:rPr>
              <a:t>Totol  €7.70</a:t>
            </a:r>
          </a:p>
        </p:txBody>
      </p:sp>
      <p:sp>
        <p:nvSpPr>
          <p:cNvPr id="6" name="img1">
            <a:extLst>
              <a:ext uri="{FF2B5EF4-FFF2-40B4-BE49-F238E27FC236}">
                <a16:creationId xmlns:a16="http://schemas.microsoft.com/office/drawing/2014/main" id="{70BF1F78-7C11-444F-8505-263D332A82AF}"/>
              </a:ext>
            </a:extLst>
          </p:cNvPr>
          <p:cNvSpPr>
            <a:spLocks noGrp="1"/>
          </p:cNvSpPr>
          <p:nvPr/>
        </p:nvSpPr>
        <p:spPr>
          <a:xfrm>
            <a:off x="4276725" y="1809750"/>
            <a:ext cx="3333750" cy="2428875"/>
          </a:xfrm>
          <a:prstGeom prst="rect">
            <a:avLst/>
          </a:prstGeom>
          <a:solidFill>
            <a:srgbClr val="C7C7C7"/>
          </a:solidFill>
          <a:ln w="9525">
            <a:solidFill>
              <a:srgbClr val="B8BCC4"/>
            </a:solidFill>
            <a:prstDash val="solid"/>
          </a:ln>
        </p:spPr>
        <p:txBody>
          <a:bodyPr/>
          <a:lstStyle/>
          <a:p>
            <a:endParaRPr lang="de-DE"/>
          </a:p>
        </p:txBody>
      </p:sp>
      <p:sp>
        <p:nvSpPr>
          <p:cNvPr id="7" name="lab1">
            <a:extLst>
              <a:ext uri="{FF2B5EF4-FFF2-40B4-BE49-F238E27FC236}">
                <a16:creationId xmlns:a16="http://schemas.microsoft.com/office/drawing/2014/main" id="{3360F6E3-8C37-4ED7-8FB7-7CDCF4027AA4}"/>
              </a:ext>
            </a:extLst>
          </p:cNvPr>
          <p:cNvSpPr>
            <a:spLocks noGrp="1"/>
          </p:cNvSpPr>
          <p:nvPr/>
        </p:nvSpPr>
        <p:spPr>
          <a:xfrm>
            <a:off x="4276725" y="4476750"/>
            <a:ext cx="3333750" cy="381000"/>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Grayscale</a:t>
            </a:r>
          </a:p>
        </p:txBody>
      </p:sp>
      <p:sp>
        <p:nvSpPr>
          <p:cNvPr id="8" name="v1">
            <a:extLst>
              <a:ext uri="{FF2B5EF4-FFF2-40B4-BE49-F238E27FC236}">
                <a16:creationId xmlns:a16="http://schemas.microsoft.com/office/drawing/2014/main" id="{3B9A98C9-F1AA-4427-BE49-3B21C20F6D18}"/>
              </a:ext>
            </a:extLst>
          </p:cNvPr>
          <p:cNvSpPr>
            <a:spLocks noGrp="1"/>
          </p:cNvSpPr>
          <p:nvPr/>
        </p:nvSpPr>
        <p:spPr>
          <a:xfrm>
            <a:off x="4695825" y="2571750"/>
            <a:ext cx="2476500" cy="666750"/>
          </a:xfrm>
          <a:prstGeom prst="rect">
            <a:avLst/>
          </a:prstGeom>
          <a:noFill/>
          <a:ln w="0">
            <a:noFill/>
            <a:prstDash val="solid"/>
          </a:ln>
        </p:spPr>
        <p:txBody>
          <a:bodyPr lIns="0" tIns="0" rIns="0" bIns="0" anchor="ctr">
            <a:normAutofit/>
          </a:bodyPr>
          <a:lstStyle/>
          <a:p>
            <a:pPr algn="ctr">
              <a:defRPr sz="2625" b="1">
                <a:solidFill>
                  <a:srgbClr val="111111"/>
                </a:solidFill>
                <a:latin typeface="Consolas"/>
                <a:ea typeface="Consolas"/>
                <a:cs typeface="Consolas"/>
              </a:defRPr>
            </a:pPr>
            <a:r>
              <a:rPr sz="2625" b="1">
                <a:solidFill>
                  <a:srgbClr val="111111"/>
                </a:solidFill>
                <a:latin typeface="Consolas"/>
                <a:ea typeface="Consolas"/>
                <a:cs typeface="Consolas"/>
              </a:rPr>
              <a:t>Total  €7.70</a:t>
            </a:r>
          </a:p>
        </p:txBody>
      </p:sp>
      <p:sp>
        <p:nvSpPr>
          <p:cNvPr id="9" name="img2">
            <a:extLst>
              <a:ext uri="{FF2B5EF4-FFF2-40B4-BE49-F238E27FC236}">
                <a16:creationId xmlns:a16="http://schemas.microsoft.com/office/drawing/2014/main" id="{AE837E89-82C2-4B70-8429-4C95A7905236}"/>
              </a:ext>
            </a:extLst>
          </p:cNvPr>
          <p:cNvSpPr>
            <a:spLocks noGrp="1"/>
          </p:cNvSpPr>
          <p:nvPr/>
        </p:nvSpPr>
        <p:spPr>
          <a:xfrm>
            <a:off x="8134350" y="1809750"/>
            <a:ext cx="3333750" cy="2428875"/>
          </a:xfrm>
          <a:prstGeom prst="rect">
            <a:avLst/>
          </a:prstGeom>
          <a:solidFill>
            <a:srgbClr val="FFFFFF"/>
          </a:solidFill>
          <a:ln w="9525">
            <a:solidFill>
              <a:srgbClr val="B8BCC4"/>
            </a:solidFill>
            <a:prstDash val="solid"/>
          </a:ln>
        </p:spPr>
        <p:txBody>
          <a:bodyPr/>
          <a:lstStyle/>
          <a:p>
            <a:endParaRPr lang="de-DE"/>
          </a:p>
        </p:txBody>
      </p:sp>
      <p:sp>
        <p:nvSpPr>
          <p:cNvPr id="10" name="lab2">
            <a:extLst>
              <a:ext uri="{FF2B5EF4-FFF2-40B4-BE49-F238E27FC236}">
                <a16:creationId xmlns:a16="http://schemas.microsoft.com/office/drawing/2014/main" id="{C9E79E07-A965-48B4-8C63-3784C7658758}"/>
              </a:ext>
            </a:extLst>
          </p:cNvPr>
          <p:cNvSpPr>
            <a:spLocks noGrp="1"/>
          </p:cNvSpPr>
          <p:nvPr/>
        </p:nvSpPr>
        <p:spPr>
          <a:xfrm>
            <a:off x="8134350" y="4476750"/>
            <a:ext cx="3333750" cy="381000"/>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Threshold</a:t>
            </a:r>
          </a:p>
        </p:txBody>
      </p:sp>
      <p:sp>
        <p:nvSpPr>
          <p:cNvPr id="11" name="v2">
            <a:extLst>
              <a:ext uri="{FF2B5EF4-FFF2-40B4-BE49-F238E27FC236}">
                <a16:creationId xmlns:a16="http://schemas.microsoft.com/office/drawing/2014/main" id="{3A30EF1C-7CA2-44EF-9EEC-B4BE6A49965B}"/>
              </a:ext>
            </a:extLst>
          </p:cNvPr>
          <p:cNvSpPr>
            <a:spLocks noGrp="1"/>
          </p:cNvSpPr>
          <p:nvPr/>
        </p:nvSpPr>
        <p:spPr>
          <a:xfrm>
            <a:off x="8553450" y="2571750"/>
            <a:ext cx="2476500" cy="666750"/>
          </a:xfrm>
          <a:prstGeom prst="rect">
            <a:avLst/>
          </a:prstGeom>
          <a:noFill/>
          <a:ln w="0">
            <a:noFill/>
            <a:prstDash val="solid"/>
          </a:ln>
        </p:spPr>
        <p:txBody>
          <a:bodyPr lIns="0" tIns="0" rIns="0" bIns="0" anchor="ctr">
            <a:normAutofit/>
          </a:bodyPr>
          <a:lstStyle/>
          <a:p>
            <a:pPr algn="ctr">
              <a:defRPr sz="2625" b="1">
                <a:solidFill>
                  <a:srgbClr val="111111"/>
                </a:solidFill>
                <a:latin typeface="Consolas"/>
                <a:ea typeface="Consolas"/>
                <a:cs typeface="Consolas"/>
              </a:defRPr>
            </a:pPr>
            <a:r>
              <a:rPr sz="2625" b="1">
                <a:solidFill>
                  <a:srgbClr val="111111"/>
                </a:solidFill>
                <a:latin typeface="Consolas"/>
                <a:ea typeface="Consolas"/>
                <a:cs typeface="Consolas"/>
              </a:rPr>
              <a:t>Total  €7.70</a:t>
            </a:r>
          </a:p>
        </p:txBody>
      </p:sp>
      <p:sp>
        <p:nvSpPr>
          <p:cNvPr id="12" name="rule">
            <a:extLst>
              <a:ext uri="{FF2B5EF4-FFF2-40B4-BE49-F238E27FC236}">
                <a16:creationId xmlns:a16="http://schemas.microsoft.com/office/drawing/2014/main" id="{A7402BFE-675B-4A4A-B9D6-9371FA063FD8}"/>
              </a:ext>
            </a:extLst>
          </p:cNvPr>
          <p:cNvSpPr>
            <a:spLocks noGrp="1"/>
          </p:cNvSpPr>
          <p:nvPr/>
        </p:nvSpPr>
        <p:spPr>
          <a:xfrm>
            <a:off x="419100" y="5381625"/>
            <a:ext cx="10668000" cy="571500"/>
          </a:xfrm>
          <a:prstGeom prst="rect">
            <a:avLst/>
          </a:prstGeom>
          <a:noFill/>
          <a:ln w="0">
            <a:noFill/>
            <a:prstDash val="solid"/>
          </a:ln>
        </p:spPr>
        <p:txBody>
          <a:bodyPr lIns="0" tIns="0" rIns="0" bIns="0" anchor="ctr">
            <a:normAutofit/>
          </a:bodyPr>
          <a:lstStyle/>
          <a:p>
            <a:pPr algn="l">
              <a:defRPr sz="1875" b="0">
                <a:solidFill>
                  <a:srgbClr val="62666D"/>
                </a:solidFill>
                <a:latin typeface="Arial"/>
                <a:ea typeface="Arial"/>
                <a:cs typeface="Arial"/>
              </a:defRPr>
            </a:pPr>
            <a:r>
              <a:rPr sz="1875" b="0">
                <a:solidFill>
                  <a:srgbClr val="62666D"/>
                </a:solidFill>
                <a:latin typeface="Arial"/>
                <a:ea typeface="Arial"/>
                <a:cs typeface="Arial"/>
              </a:rPr>
              <a:t>Test only what measurably helps: same images, same metric, documented parameters.</a:t>
            </a:r>
          </a:p>
        </p:txBody>
      </p:sp>
    </p:spTree>
    <p:extLst>
      <p:ext uri="{BB962C8B-B14F-4D97-AF65-F5344CB8AC3E}">
        <p14:creationId xmlns:p14="http://schemas.microsoft.com/office/powerpoint/2010/main" val="1808110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1E39CAB-C810-471C-9990-B183DED89331}"/>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Step 3 creates comparable OCR evidence</a:t>
            </a:r>
          </a:p>
        </p:txBody>
      </p:sp>
      <p:sp>
        <p:nvSpPr>
          <p:cNvPr id="2" name="page">
            <a:extLst>
              <a:ext uri="{FF2B5EF4-FFF2-40B4-BE49-F238E27FC236}">
                <a16:creationId xmlns:a16="http://schemas.microsoft.com/office/drawing/2014/main" id="{0E8E0F4F-8A45-4B70-AE5F-C7F613F9CE82}"/>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17</a:t>
            </a:r>
            <a:endParaRPr sz="975" b="0">
              <a:solidFill>
                <a:srgbClr val="62666D"/>
              </a:solidFill>
              <a:latin typeface="Arial"/>
              <a:ea typeface="Arial"/>
              <a:cs typeface="Arial"/>
            </a:endParaRPr>
          </a:p>
        </p:txBody>
      </p:sp>
      <p:sp>
        <p:nvSpPr>
          <p:cNvPr id="3" name="code">
            <a:extLst>
              <a:ext uri="{FF2B5EF4-FFF2-40B4-BE49-F238E27FC236}">
                <a16:creationId xmlns:a16="http://schemas.microsoft.com/office/drawing/2014/main" id="{C3CC0C66-522D-4302-A5F4-27ADB90166ED}"/>
              </a:ext>
            </a:extLst>
          </p:cNvPr>
          <p:cNvSpPr>
            <a:spLocks noGrp="1"/>
          </p:cNvSpPr>
          <p:nvPr/>
        </p:nvSpPr>
        <p:spPr>
          <a:xfrm>
            <a:off x="419100" y="1524000"/>
            <a:ext cx="5905500" cy="3905250"/>
          </a:xfrm>
          <a:prstGeom prst="rect">
            <a:avLst/>
          </a:prstGeom>
          <a:solidFill>
            <a:srgbClr val="17212B"/>
          </a:solidFill>
          <a:ln w="0">
            <a:noFill/>
            <a:prstDash val="solid"/>
          </a:ln>
        </p:spPr>
        <p:txBody>
          <a:bodyPr/>
          <a:lstStyle/>
          <a:p>
            <a:endParaRPr lang="de-DE"/>
          </a:p>
        </p:txBody>
      </p:sp>
      <p:sp>
        <p:nvSpPr>
          <p:cNvPr id="4" name="label">
            <a:extLst>
              <a:ext uri="{FF2B5EF4-FFF2-40B4-BE49-F238E27FC236}">
                <a16:creationId xmlns:a16="http://schemas.microsoft.com/office/drawing/2014/main" id="{82476BF7-BFED-417A-8720-9BB49851FC65}"/>
              </a:ext>
            </a:extLst>
          </p:cNvPr>
          <p:cNvSpPr>
            <a:spLocks noGrp="1"/>
          </p:cNvSpPr>
          <p:nvPr/>
        </p:nvSpPr>
        <p:spPr>
          <a:xfrm>
            <a:off x="628650" y="1638300"/>
            <a:ext cx="5486400" cy="228600"/>
          </a:xfrm>
          <a:prstGeom prst="rect">
            <a:avLst/>
          </a:prstGeom>
          <a:noFill/>
          <a:ln w="0">
            <a:noFill/>
            <a:prstDash val="solid"/>
          </a:ln>
        </p:spPr>
        <p:txBody>
          <a:bodyPr lIns="0" tIns="0" rIns="0" bIns="0" anchor="ctr">
            <a:normAutofit/>
          </a:bodyPr>
          <a:lstStyle/>
          <a:p>
            <a:pPr algn="l">
              <a:defRPr sz="975" b="1">
                <a:solidFill>
                  <a:srgbClr val="6DCBF4"/>
                </a:solidFill>
                <a:latin typeface="Consolas"/>
                <a:ea typeface="Consolas"/>
                <a:cs typeface="Consolas"/>
              </a:defRPr>
            </a:pPr>
            <a:r>
              <a:rPr sz="975" b="1">
                <a:solidFill>
                  <a:srgbClr val="6DCBF4"/>
                </a:solidFill>
                <a:latin typeface="Consolas"/>
                <a:ea typeface="Consolas"/>
                <a:cs typeface="Consolas"/>
              </a:rPr>
              <a:t>JSON</a:t>
            </a:r>
          </a:p>
        </p:txBody>
      </p:sp>
      <p:sp>
        <p:nvSpPr>
          <p:cNvPr id="5" name="code-text">
            <a:extLst>
              <a:ext uri="{FF2B5EF4-FFF2-40B4-BE49-F238E27FC236}">
                <a16:creationId xmlns:a16="http://schemas.microsoft.com/office/drawing/2014/main" id="{F3384F49-402E-4C83-B139-0F85D2EF4B22}"/>
              </a:ext>
            </a:extLst>
          </p:cNvPr>
          <p:cNvSpPr>
            <a:spLocks noGrp="1"/>
          </p:cNvSpPr>
          <p:nvPr/>
        </p:nvSpPr>
        <p:spPr>
          <a:xfrm>
            <a:off x="628650" y="1981200"/>
            <a:ext cx="5486400" cy="3314700"/>
          </a:xfrm>
          <a:prstGeom prst="rect">
            <a:avLst/>
          </a:prstGeom>
          <a:noFill/>
          <a:ln w="0">
            <a:noFill/>
            <a:prstDash val="solid"/>
          </a:ln>
        </p:spPr>
        <p:txBody>
          <a:bodyPr lIns="0" tIns="0" rIns="0" bIns="0" anchor="ctr">
            <a:normAutofit/>
          </a:bodyPr>
          <a:lstStyle/>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"text": "Total €7.70",</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"polygon": [[118,406],[370,406],</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[370,437],[118,437]],</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"confidence": 0.94,</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"source": "example.png",</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  "engine": "paddleocr"</a:t>
            </a:r>
          </a:p>
          <a:p>
            <a:pPr algn="l">
              <a:defRPr sz="1275" b="0">
                <a:solidFill>
                  <a:srgbClr val="F5F7FA"/>
                </a:solidFill>
                <a:latin typeface="Consolas"/>
                <a:ea typeface="Consolas"/>
                <a:cs typeface="Consolas"/>
              </a:defRPr>
            </a:pPr>
            <a:r>
              <a:rPr sz="1275" b="0">
                <a:solidFill>
                  <a:srgbClr val="F5F7FA"/>
                </a:solidFill>
                <a:latin typeface="Consolas"/>
                <a:ea typeface="Consolas"/>
                <a:cs typeface="Consolas"/>
              </a:rPr>
              <a:t>}</a:t>
            </a:r>
          </a:p>
        </p:txBody>
      </p:sp>
      <p:sp>
        <p:nvSpPr>
          <p:cNvPr id="6" name="why">
            <a:extLst>
              <a:ext uri="{FF2B5EF4-FFF2-40B4-BE49-F238E27FC236}">
                <a16:creationId xmlns:a16="http://schemas.microsoft.com/office/drawing/2014/main" id="{38E5C097-0EA4-4CA5-885D-7CB8BCC1DADF}"/>
              </a:ext>
            </a:extLst>
          </p:cNvPr>
          <p:cNvSpPr>
            <a:spLocks noGrp="1"/>
          </p:cNvSpPr>
          <p:nvPr/>
        </p:nvSpPr>
        <p:spPr>
          <a:xfrm>
            <a:off x="6762750" y="1619250"/>
            <a:ext cx="4095750" cy="361950"/>
          </a:xfrm>
          <a:prstGeom prst="rect">
            <a:avLst/>
          </a:prstGeom>
          <a:noFill/>
          <a:ln w="0">
            <a:noFill/>
            <a:prstDash val="solid"/>
          </a:ln>
        </p:spPr>
        <p:txBody>
          <a:bodyPr lIns="0" tIns="0" rIns="0" bIns="0" anchor="ctr">
            <a:normAutofit/>
          </a:bodyPr>
          <a:lstStyle/>
          <a:p>
            <a:pPr algn="l">
              <a:defRPr sz="1875" b="1">
                <a:solidFill>
                  <a:srgbClr val="111111"/>
                </a:solidFill>
                <a:latin typeface="Arial"/>
                <a:ea typeface="Arial"/>
                <a:cs typeface="Arial"/>
              </a:defRPr>
            </a:pPr>
            <a:r>
              <a:rPr sz="1875" b="1">
                <a:solidFill>
                  <a:srgbClr val="111111"/>
                </a:solidFill>
                <a:latin typeface="Arial"/>
                <a:ea typeface="Arial"/>
                <a:cs typeface="Arial"/>
              </a:rPr>
              <a:t>The evidence schema keeps</a:t>
            </a:r>
          </a:p>
        </p:txBody>
      </p:sp>
      <p:sp>
        <p:nvSpPr>
          <p:cNvPr id="7" name="items">
            <a:extLst>
              <a:ext uri="{FF2B5EF4-FFF2-40B4-BE49-F238E27FC236}">
                <a16:creationId xmlns:a16="http://schemas.microsoft.com/office/drawing/2014/main" id="{11F98ACF-F673-4EAA-BD11-D64784700915}"/>
              </a:ext>
            </a:extLst>
          </p:cNvPr>
          <p:cNvSpPr>
            <a:spLocks noGrp="1"/>
          </p:cNvSpPr>
          <p:nvPr/>
        </p:nvSpPr>
        <p:spPr>
          <a:xfrm>
            <a:off x="6762750" y="2190750"/>
            <a:ext cx="4476750" cy="2476500"/>
          </a:xfrm>
          <a:prstGeom prst="rect">
            <a:avLst/>
          </a:prstGeom>
          <a:noFill/>
          <a:ln w="0">
            <a:noFill/>
            <a:prstDash val="solid"/>
          </a:ln>
        </p:spPr>
        <p:txBody>
          <a:bodyPr lIns="0" tIns="0" rIns="0" bIns="0" anchor="ctr">
            <a:norm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 recognized text</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 original polygon coordinates</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 confidence and source</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 the engine identifier</a:t>
            </a:r>
          </a:p>
        </p:txBody>
      </p:sp>
      <p:sp>
        <p:nvSpPr>
          <p:cNvPr id="8" name="path">
            <a:extLst>
              <a:ext uri="{FF2B5EF4-FFF2-40B4-BE49-F238E27FC236}">
                <a16:creationId xmlns:a16="http://schemas.microsoft.com/office/drawing/2014/main" id="{3C470105-3725-47EA-ABC8-1EE76D469BBD}"/>
              </a:ext>
            </a:extLst>
          </p:cNvPr>
          <p:cNvSpPr>
            <a:spLocks noGrp="1"/>
          </p:cNvSpPr>
          <p:nvPr/>
        </p:nvSpPr>
        <p:spPr>
          <a:xfrm>
            <a:off x="6762750" y="5095875"/>
            <a:ext cx="4572000" cy="428625"/>
          </a:xfrm>
          <a:prstGeom prst="rect">
            <a:avLst/>
          </a:prstGeom>
          <a:noFill/>
          <a:ln w="0">
            <a:noFill/>
            <a:prstDash val="solid"/>
          </a:ln>
        </p:spPr>
        <p:txBody>
          <a:bodyPr lIns="0" tIns="0" rIns="0" bIns="0" anchor="ctr">
            <a:normAutofit/>
          </a:bodyPr>
          <a:lstStyle/>
          <a:p>
            <a:pPr algn="l">
              <a:defRPr sz="1275" b="1">
                <a:solidFill>
                  <a:srgbClr val="3D8DFF"/>
                </a:solidFill>
                <a:latin typeface="Consolas"/>
                <a:ea typeface="Consolas"/>
                <a:cs typeface="Consolas"/>
              </a:defRPr>
            </a:pPr>
            <a:r>
              <a:rPr sz="1275" b="1">
                <a:solidFill>
                  <a:srgbClr val="3D8DFF"/>
                </a:solidFill>
                <a:latin typeface="Consolas"/>
                <a:ea typeface="Consolas"/>
                <a:cs typeface="Consolas"/>
              </a:rPr>
              <a:t>Script: ocr_examples/03_paddleocr_evidence.py</a:t>
            </a:r>
          </a:p>
        </p:txBody>
      </p:sp>
    </p:spTree>
    <p:extLst>
      <p:ext uri="{BB962C8B-B14F-4D97-AF65-F5344CB8AC3E}">
        <p14:creationId xmlns:p14="http://schemas.microsoft.com/office/powerpoint/2010/main" val="215296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itle">
            <a:extLst>
              <a:ext uri="{FF2B5EF4-FFF2-40B4-BE49-F238E27FC236}">
                <a16:creationId xmlns:a16="http://schemas.microsoft.com/office/drawing/2014/main" id="{F5118FC6-F50A-4B3C-BCCB-A4C29F675835}"/>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Data work is a core part of the machine-learning process</a:t>
            </a:r>
          </a:p>
        </p:txBody>
      </p:sp>
      <p:sp>
        <p:nvSpPr>
          <p:cNvPr id="2" name="page">
            <a:extLst>
              <a:ext uri="{FF2B5EF4-FFF2-40B4-BE49-F238E27FC236}">
                <a16:creationId xmlns:a16="http://schemas.microsoft.com/office/drawing/2014/main" id="{2BB5E765-090A-42AC-86BD-ABC1203BF226}"/>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18</a:t>
            </a:r>
            <a:endParaRPr sz="975" b="0">
              <a:solidFill>
                <a:srgbClr val="62666D"/>
              </a:solidFill>
              <a:latin typeface="Arial"/>
              <a:ea typeface="Arial"/>
              <a:cs typeface="Arial"/>
            </a:endParaRPr>
          </a:p>
        </p:txBody>
      </p:sp>
      <p:sp>
        <p:nvSpPr>
          <p:cNvPr id="3" name="Gerader Verbinder 2">
            <a:extLst>
              <a:ext uri="{FF2B5EF4-FFF2-40B4-BE49-F238E27FC236}">
                <a16:creationId xmlns:a16="http://schemas.microsoft.com/office/drawing/2014/main" id="{366E16E7-7CFB-4E22-AAD1-E146719B99F6}"/>
              </a:ext>
            </a:extLst>
          </p:cNvPr>
          <p:cNvSpPr>
            <a:spLocks noGrp="1"/>
          </p:cNvSpPr>
          <p:nvPr/>
        </p:nvSpPr>
        <p:spPr>
          <a:xfrm>
            <a:off x="2228850" y="2952750"/>
            <a:ext cx="342900" cy="0"/>
          </a:xfrm>
          <a:prstGeom prst="line">
            <a:avLst/>
          </a:prstGeom>
          <a:noFill/>
          <a:ln w="38100">
            <a:solidFill>
              <a:srgbClr val="3D8DFF"/>
            </a:solidFill>
            <a:prstDash val="solid"/>
          </a:ln>
        </p:spPr>
        <p:txBody>
          <a:bodyPr/>
          <a:lstStyle/>
          <a:p>
            <a:endParaRPr lang="de-DE"/>
          </a:p>
        </p:txBody>
      </p:sp>
      <p:sp>
        <p:nvSpPr>
          <p:cNvPr id="4" name="Gerader Verbinder 3">
            <a:extLst>
              <a:ext uri="{FF2B5EF4-FFF2-40B4-BE49-F238E27FC236}">
                <a16:creationId xmlns:a16="http://schemas.microsoft.com/office/drawing/2014/main" id="{A3E8C555-8E12-48ED-9007-7B5E811E470E}"/>
              </a:ext>
            </a:extLst>
          </p:cNvPr>
          <p:cNvSpPr>
            <a:spLocks noGrp="1"/>
          </p:cNvSpPr>
          <p:nvPr/>
        </p:nvSpPr>
        <p:spPr>
          <a:xfrm>
            <a:off x="4476750" y="2952750"/>
            <a:ext cx="342900" cy="0"/>
          </a:xfrm>
          <a:prstGeom prst="line">
            <a:avLst/>
          </a:prstGeom>
          <a:noFill/>
          <a:ln w="38100">
            <a:solidFill>
              <a:srgbClr val="3D8DFF"/>
            </a:solidFill>
            <a:prstDash val="solid"/>
          </a:ln>
        </p:spPr>
        <p:txBody>
          <a:bodyPr/>
          <a:lstStyle/>
          <a:p>
            <a:endParaRPr lang="de-DE"/>
          </a:p>
        </p:txBody>
      </p:sp>
      <p:sp>
        <p:nvSpPr>
          <p:cNvPr id="5" name="Gerader Verbinder 4">
            <a:extLst>
              <a:ext uri="{FF2B5EF4-FFF2-40B4-BE49-F238E27FC236}">
                <a16:creationId xmlns:a16="http://schemas.microsoft.com/office/drawing/2014/main" id="{D61AE863-A1DA-4379-866D-474824D4C355}"/>
              </a:ext>
            </a:extLst>
          </p:cNvPr>
          <p:cNvSpPr>
            <a:spLocks noGrp="1"/>
          </p:cNvSpPr>
          <p:nvPr/>
        </p:nvSpPr>
        <p:spPr>
          <a:xfrm>
            <a:off x="6724650" y="2952750"/>
            <a:ext cx="342900" cy="0"/>
          </a:xfrm>
          <a:prstGeom prst="line">
            <a:avLst/>
          </a:prstGeom>
          <a:noFill/>
          <a:ln w="38100">
            <a:solidFill>
              <a:srgbClr val="3D8DFF"/>
            </a:solidFill>
            <a:prstDash val="solid"/>
          </a:ln>
        </p:spPr>
        <p:txBody>
          <a:bodyPr/>
          <a:lstStyle/>
          <a:p>
            <a:endParaRPr lang="de-DE"/>
          </a:p>
        </p:txBody>
      </p:sp>
      <p:sp>
        <p:nvSpPr>
          <p:cNvPr id="6" name="Gerader Verbinder 5">
            <a:extLst>
              <a:ext uri="{FF2B5EF4-FFF2-40B4-BE49-F238E27FC236}">
                <a16:creationId xmlns:a16="http://schemas.microsoft.com/office/drawing/2014/main" id="{52E98018-F599-41FF-919A-30593CDCAA37}"/>
              </a:ext>
            </a:extLst>
          </p:cNvPr>
          <p:cNvSpPr>
            <a:spLocks noGrp="1"/>
          </p:cNvSpPr>
          <p:nvPr/>
        </p:nvSpPr>
        <p:spPr>
          <a:xfrm>
            <a:off x="8972550" y="2952750"/>
            <a:ext cx="342900" cy="0"/>
          </a:xfrm>
          <a:prstGeom prst="line">
            <a:avLst/>
          </a:prstGeom>
          <a:noFill/>
          <a:ln w="38100">
            <a:solidFill>
              <a:srgbClr val="3D8DFF"/>
            </a:solidFill>
            <a:prstDash val="solid"/>
          </a:ln>
        </p:spPr>
        <p:txBody>
          <a:bodyPr/>
          <a:lstStyle/>
          <a:p>
            <a:endParaRPr lang="de-DE"/>
          </a:p>
        </p:txBody>
      </p:sp>
      <p:sp>
        <p:nvSpPr>
          <p:cNvPr id="7" name="stage0">
            <a:extLst>
              <a:ext uri="{FF2B5EF4-FFF2-40B4-BE49-F238E27FC236}">
                <a16:creationId xmlns:a16="http://schemas.microsoft.com/office/drawing/2014/main" id="{07FB5B68-DAA9-41A0-B83D-59B98EAB6D18}"/>
              </a:ext>
            </a:extLst>
          </p:cNvPr>
          <p:cNvSpPr>
            <a:spLocks noGrp="1"/>
          </p:cNvSpPr>
          <p:nvPr/>
        </p:nvSpPr>
        <p:spPr>
          <a:xfrm>
            <a:off x="419100" y="2000250"/>
            <a:ext cx="1809750" cy="1905000"/>
          </a:xfrm>
          <a:prstGeom prst="rect">
            <a:avLst/>
          </a:prstGeom>
          <a:solidFill>
            <a:srgbClr val="EDEDED"/>
          </a:solidFill>
          <a:ln w="0">
            <a:noFill/>
            <a:prstDash val="solid"/>
          </a:ln>
        </p:spPr>
        <p:txBody>
          <a:bodyPr/>
          <a:lstStyle/>
          <a:p>
            <a:endParaRPr lang="de-DE"/>
          </a:p>
        </p:txBody>
      </p:sp>
      <p:sp>
        <p:nvSpPr>
          <p:cNvPr id="8" name="stage-h0">
            <a:extLst>
              <a:ext uri="{FF2B5EF4-FFF2-40B4-BE49-F238E27FC236}">
                <a16:creationId xmlns:a16="http://schemas.microsoft.com/office/drawing/2014/main" id="{392ECD48-700E-4E2B-9C5B-3018C82E1B23}"/>
              </a:ext>
            </a:extLst>
          </p:cNvPr>
          <p:cNvSpPr>
            <a:spLocks noGrp="1"/>
          </p:cNvSpPr>
          <p:nvPr/>
        </p:nvSpPr>
        <p:spPr>
          <a:xfrm>
            <a:off x="590550" y="2238375"/>
            <a:ext cx="1466850" cy="333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COLLECT</a:t>
            </a:r>
          </a:p>
        </p:txBody>
      </p:sp>
      <p:sp>
        <p:nvSpPr>
          <p:cNvPr id="9" name="stage-b0">
            <a:extLst>
              <a:ext uri="{FF2B5EF4-FFF2-40B4-BE49-F238E27FC236}">
                <a16:creationId xmlns:a16="http://schemas.microsoft.com/office/drawing/2014/main" id="{59BA08CE-1658-47A4-BC9A-DA22B37D076A}"/>
              </a:ext>
            </a:extLst>
          </p:cNvPr>
          <p:cNvSpPr>
            <a:spLocks noGrp="1"/>
          </p:cNvSpPr>
          <p:nvPr/>
        </p:nvSpPr>
        <p:spPr>
          <a:xfrm>
            <a:off x="590550" y="2781300"/>
            <a:ext cx="1466850" cy="714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Synthetic images</a:t>
            </a:r>
          </a:p>
          <a:p>
            <a:pPr algn="ctr">
              <a:defRPr sz="1500" b="1">
                <a:solidFill>
                  <a:srgbClr val="111111"/>
                </a:solidFill>
                <a:latin typeface="Arial"/>
                <a:ea typeface="Arial"/>
                <a:cs typeface="Arial"/>
              </a:defRPr>
            </a:pPr>
            <a:r>
              <a:rPr sz="1500" b="1">
                <a:solidFill>
                  <a:srgbClr val="111111"/>
                </a:solidFill>
                <a:latin typeface="Arial"/>
                <a:ea typeface="Arial"/>
                <a:cs typeface="Arial"/>
              </a:rPr>
              <a:t>and metadata</a:t>
            </a:r>
          </a:p>
        </p:txBody>
      </p:sp>
      <p:sp>
        <p:nvSpPr>
          <p:cNvPr id="10" name="stage1">
            <a:extLst>
              <a:ext uri="{FF2B5EF4-FFF2-40B4-BE49-F238E27FC236}">
                <a16:creationId xmlns:a16="http://schemas.microsoft.com/office/drawing/2014/main" id="{4C332A63-2E34-42A3-92AC-9A29467134D4}"/>
              </a:ext>
            </a:extLst>
          </p:cNvPr>
          <p:cNvSpPr>
            <a:spLocks noGrp="1"/>
          </p:cNvSpPr>
          <p:nvPr/>
        </p:nvSpPr>
        <p:spPr>
          <a:xfrm>
            <a:off x="2667000" y="2000250"/>
            <a:ext cx="1809750" cy="1905000"/>
          </a:xfrm>
          <a:prstGeom prst="rect">
            <a:avLst/>
          </a:prstGeom>
          <a:solidFill>
            <a:srgbClr val="D9F1FC"/>
          </a:solidFill>
          <a:ln w="9525">
            <a:solidFill>
              <a:srgbClr val="3D8DFF"/>
            </a:solidFill>
            <a:prstDash val="solid"/>
          </a:ln>
        </p:spPr>
        <p:txBody>
          <a:bodyPr/>
          <a:lstStyle/>
          <a:p>
            <a:endParaRPr lang="de-DE"/>
          </a:p>
        </p:txBody>
      </p:sp>
      <p:sp>
        <p:nvSpPr>
          <p:cNvPr id="11" name="stage-h1">
            <a:extLst>
              <a:ext uri="{FF2B5EF4-FFF2-40B4-BE49-F238E27FC236}">
                <a16:creationId xmlns:a16="http://schemas.microsoft.com/office/drawing/2014/main" id="{33C45009-B8A7-42E5-93EE-750EA4E25C04}"/>
              </a:ext>
            </a:extLst>
          </p:cNvPr>
          <p:cNvSpPr>
            <a:spLocks noGrp="1"/>
          </p:cNvSpPr>
          <p:nvPr/>
        </p:nvSpPr>
        <p:spPr>
          <a:xfrm>
            <a:off x="2838450" y="2238375"/>
            <a:ext cx="1466850" cy="333375"/>
          </a:xfrm>
          <a:prstGeom prst="rect">
            <a:avLst/>
          </a:prstGeom>
          <a:noFill/>
          <a:ln w="0">
            <a:noFill/>
            <a:prstDash val="solid"/>
          </a:ln>
        </p:spPr>
        <p:txBody>
          <a:bodyPr lIns="0" tIns="0" rIns="0" bIns="0" anchor="ctr">
            <a:normAutofit/>
          </a:bodyPr>
          <a:lstStyle/>
          <a:p>
            <a:pPr algn="ctr">
              <a:defRPr sz="1500" b="1">
                <a:solidFill>
                  <a:srgbClr val="3D8DFF"/>
                </a:solidFill>
                <a:latin typeface="Arial"/>
                <a:ea typeface="Arial"/>
                <a:cs typeface="Arial"/>
              </a:defRPr>
            </a:pPr>
            <a:r>
              <a:rPr sz="1500" b="1">
                <a:solidFill>
                  <a:srgbClr val="3D8DFF"/>
                </a:solidFill>
                <a:latin typeface="Arial"/>
                <a:ea typeface="Arial"/>
                <a:cs typeface="Arial"/>
              </a:rPr>
              <a:t>PREPARE</a:t>
            </a:r>
          </a:p>
        </p:txBody>
      </p:sp>
      <p:sp>
        <p:nvSpPr>
          <p:cNvPr id="12" name="stage-b1">
            <a:extLst>
              <a:ext uri="{FF2B5EF4-FFF2-40B4-BE49-F238E27FC236}">
                <a16:creationId xmlns:a16="http://schemas.microsoft.com/office/drawing/2014/main" id="{FAB6AADF-BE06-49C8-AE4D-71C7AB92C78B}"/>
              </a:ext>
            </a:extLst>
          </p:cNvPr>
          <p:cNvSpPr>
            <a:spLocks noGrp="1"/>
          </p:cNvSpPr>
          <p:nvPr/>
        </p:nvSpPr>
        <p:spPr>
          <a:xfrm>
            <a:off x="2838450" y="2781300"/>
            <a:ext cx="1466850" cy="714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Clean, normalize,</a:t>
            </a:r>
          </a:p>
          <a:p>
            <a:pPr algn="ctr">
              <a:defRPr sz="1500" b="1">
                <a:solidFill>
                  <a:srgbClr val="111111"/>
                </a:solidFill>
                <a:latin typeface="Arial"/>
                <a:ea typeface="Arial"/>
                <a:cs typeface="Arial"/>
              </a:defRPr>
            </a:pPr>
            <a:r>
              <a:rPr sz="1500" b="1">
                <a:solidFill>
                  <a:srgbClr val="111111"/>
                </a:solidFill>
                <a:latin typeface="Arial"/>
                <a:ea typeface="Arial"/>
                <a:cs typeface="Arial"/>
              </a:rPr>
              <a:t>and split data</a:t>
            </a:r>
          </a:p>
        </p:txBody>
      </p:sp>
      <p:sp>
        <p:nvSpPr>
          <p:cNvPr id="13" name="stage2">
            <a:extLst>
              <a:ext uri="{FF2B5EF4-FFF2-40B4-BE49-F238E27FC236}">
                <a16:creationId xmlns:a16="http://schemas.microsoft.com/office/drawing/2014/main" id="{8925E8C1-D81D-4A35-B573-0C42327BBAFD}"/>
              </a:ext>
            </a:extLst>
          </p:cNvPr>
          <p:cNvSpPr>
            <a:spLocks noGrp="1"/>
          </p:cNvSpPr>
          <p:nvPr/>
        </p:nvSpPr>
        <p:spPr>
          <a:xfrm>
            <a:off x="4914900" y="2000250"/>
            <a:ext cx="1809750" cy="1905000"/>
          </a:xfrm>
          <a:prstGeom prst="rect">
            <a:avLst/>
          </a:prstGeom>
          <a:solidFill>
            <a:srgbClr val="EDEDED"/>
          </a:solidFill>
          <a:ln w="0">
            <a:noFill/>
            <a:prstDash val="solid"/>
          </a:ln>
        </p:spPr>
        <p:txBody>
          <a:bodyPr/>
          <a:lstStyle/>
          <a:p>
            <a:endParaRPr lang="de-DE"/>
          </a:p>
        </p:txBody>
      </p:sp>
      <p:sp>
        <p:nvSpPr>
          <p:cNvPr id="14" name="stage-h2">
            <a:extLst>
              <a:ext uri="{FF2B5EF4-FFF2-40B4-BE49-F238E27FC236}">
                <a16:creationId xmlns:a16="http://schemas.microsoft.com/office/drawing/2014/main" id="{FF5684E2-7146-455F-8FB3-CB02E5159B62}"/>
              </a:ext>
            </a:extLst>
          </p:cNvPr>
          <p:cNvSpPr>
            <a:spLocks noGrp="1"/>
          </p:cNvSpPr>
          <p:nvPr/>
        </p:nvSpPr>
        <p:spPr>
          <a:xfrm>
            <a:off x="5086350" y="2238375"/>
            <a:ext cx="1466850" cy="333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RUN</a:t>
            </a:r>
          </a:p>
        </p:txBody>
      </p:sp>
      <p:sp>
        <p:nvSpPr>
          <p:cNvPr id="15" name="stage-b2">
            <a:extLst>
              <a:ext uri="{FF2B5EF4-FFF2-40B4-BE49-F238E27FC236}">
                <a16:creationId xmlns:a16="http://schemas.microsoft.com/office/drawing/2014/main" id="{C8F479B1-13F6-4188-9E72-46BBEC60EE1F}"/>
              </a:ext>
            </a:extLst>
          </p:cNvPr>
          <p:cNvSpPr>
            <a:spLocks noGrp="1"/>
          </p:cNvSpPr>
          <p:nvPr/>
        </p:nvSpPr>
        <p:spPr>
          <a:xfrm>
            <a:off x="5086350" y="2781300"/>
            <a:ext cx="1466850" cy="714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Apply the OCR</a:t>
            </a:r>
          </a:p>
          <a:p>
            <a:pPr algn="ctr">
              <a:defRPr sz="1500" b="1">
                <a:solidFill>
                  <a:srgbClr val="111111"/>
                </a:solidFill>
                <a:latin typeface="Arial"/>
                <a:ea typeface="Arial"/>
                <a:cs typeface="Arial"/>
              </a:defRPr>
            </a:pPr>
            <a:r>
              <a:rPr sz="1500" b="1">
                <a:solidFill>
                  <a:srgbClr val="111111"/>
                </a:solidFill>
                <a:latin typeface="Arial"/>
                <a:ea typeface="Arial"/>
                <a:cs typeface="Arial"/>
              </a:rPr>
              <a:t>engine</a:t>
            </a:r>
          </a:p>
        </p:txBody>
      </p:sp>
      <p:sp>
        <p:nvSpPr>
          <p:cNvPr id="16" name="stage3">
            <a:extLst>
              <a:ext uri="{FF2B5EF4-FFF2-40B4-BE49-F238E27FC236}">
                <a16:creationId xmlns:a16="http://schemas.microsoft.com/office/drawing/2014/main" id="{F7D60B0F-CCA0-42A4-92F5-04FDE47A52D9}"/>
              </a:ext>
            </a:extLst>
          </p:cNvPr>
          <p:cNvSpPr>
            <a:spLocks noGrp="1"/>
          </p:cNvSpPr>
          <p:nvPr/>
        </p:nvSpPr>
        <p:spPr>
          <a:xfrm>
            <a:off x="7162800" y="2000250"/>
            <a:ext cx="1809750" cy="1905000"/>
          </a:xfrm>
          <a:prstGeom prst="rect">
            <a:avLst/>
          </a:prstGeom>
          <a:solidFill>
            <a:srgbClr val="D9F1FC"/>
          </a:solidFill>
          <a:ln w="9525">
            <a:solidFill>
              <a:srgbClr val="3D8DFF"/>
            </a:solidFill>
            <a:prstDash val="solid"/>
          </a:ln>
        </p:spPr>
        <p:txBody>
          <a:bodyPr/>
          <a:lstStyle/>
          <a:p>
            <a:endParaRPr lang="de-DE"/>
          </a:p>
        </p:txBody>
      </p:sp>
      <p:sp>
        <p:nvSpPr>
          <p:cNvPr id="17" name="stage-h3">
            <a:extLst>
              <a:ext uri="{FF2B5EF4-FFF2-40B4-BE49-F238E27FC236}">
                <a16:creationId xmlns:a16="http://schemas.microsoft.com/office/drawing/2014/main" id="{7AEE87AD-4C1A-461F-AEE4-B08B5FF212E5}"/>
              </a:ext>
            </a:extLst>
          </p:cNvPr>
          <p:cNvSpPr>
            <a:spLocks noGrp="1"/>
          </p:cNvSpPr>
          <p:nvPr/>
        </p:nvSpPr>
        <p:spPr>
          <a:xfrm>
            <a:off x="7334250" y="2238375"/>
            <a:ext cx="1466850" cy="333375"/>
          </a:xfrm>
          <a:prstGeom prst="rect">
            <a:avLst/>
          </a:prstGeom>
          <a:noFill/>
          <a:ln w="0">
            <a:noFill/>
            <a:prstDash val="solid"/>
          </a:ln>
        </p:spPr>
        <p:txBody>
          <a:bodyPr lIns="0" tIns="0" rIns="0" bIns="0" anchor="ctr">
            <a:normAutofit/>
          </a:bodyPr>
          <a:lstStyle/>
          <a:p>
            <a:pPr algn="ctr">
              <a:defRPr sz="1500" b="1">
                <a:solidFill>
                  <a:srgbClr val="3D8DFF"/>
                </a:solidFill>
                <a:latin typeface="Arial"/>
                <a:ea typeface="Arial"/>
                <a:cs typeface="Arial"/>
              </a:defRPr>
            </a:pPr>
            <a:r>
              <a:rPr sz="1500" b="1">
                <a:solidFill>
                  <a:srgbClr val="3D8DFF"/>
                </a:solidFill>
                <a:latin typeface="Arial"/>
                <a:ea typeface="Arial"/>
                <a:cs typeface="Arial"/>
              </a:rPr>
              <a:t>EVALUATE</a:t>
            </a:r>
          </a:p>
        </p:txBody>
      </p:sp>
      <p:sp>
        <p:nvSpPr>
          <p:cNvPr id="18" name="stage-b3">
            <a:extLst>
              <a:ext uri="{FF2B5EF4-FFF2-40B4-BE49-F238E27FC236}">
                <a16:creationId xmlns:a16="http://schemas.microsoft.com/office/drawing/2014/main" id="{7067786F-7C19-42E1-9E00-CDC75704A758}"/>
              </a:ext>
            </a:extLst>
          </p:cNvPr>
          <p:cNvSpPr>
            <a:spLocks noGrp="1"/>
          </p:cNvSpPr>
          <p:nvPr/>
        </p:nvSpPr>
        <p:spPr>
          <a:xfrm>
            <a:off x="7334250" y="2781300"/>
            <a:ext cx="1466850" cy="714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Compare with</a:t>
            </a:r>
          </a:p>
          <a:p>
            <a:pPr algn="ctr">
              <a:defRPr sz="1500" b="1">
                <a:solidFill>
                  <a:srgbClr val="111111"/>
                </a:solidFill>
                <a:latin typeface="Arial"/>
                <a:ea typeface="Arial"/>
                <a:cs typeface="Arial"/>
              </a:defRPr>
            </a:pPr>
            <a:r>
              <a:rPr sz="1500" b="1">
                <a:solidFill>
                  <a:srgbClr val="111111"/>
                </a:solidFill>
                <a:latin typeface="Arial"/>
                <a:ea typeface="Arial"/>
                <a:cs typeface="Arial"/>
              </a:rPr>
              <a:t>ground truth</a:t>
            </a:r>
          </a:p>
        </p:txBody>
      </p:sp>
      <p:sp>
        <p:nvSpPr>
          <p:cNvPr id="19" name="stage4">
            <a:extLst>
              <a:ext uri="{FF2B5EF4-FFF2-40B4-BE49-F238E27FC236}">
                <a16:creationId xmlns:a16="http://schemas.microsoft.com/office/drawing/2014/main" id="{049D30A5-B1E6-424D-9C98-608AF1D370CC}"/>
              </a:ext>
            </a:extLst>
          </p:cNvPr>
          <p:cNvSpPr>
            <a:spLocks noGrp="1"/>
          </p:cNvSpPr>
          <p:nvPr/>
        </p:nvSpPr>
        <p:spPr>
          <a:xfrm>
            <a:off x="9410700" y="2000250"/>
            <a:ext cx="1809750" cy="1905000"/>
          </a:xfrm>
          <a:prstGeom prst="rect">
            <a:avLst/>
          </a:prstGeom>
          <a:solidFill>
            <a:srgbClr val="EDEDED"/>
          </a:solidFill>
          <a:ln w="0">
            <a:noFill/>
            <a:prstDash val="solid"/>
          </a:ln>
        </p:spPr>
        <p:txBody>
          <a:bodyPr/>
          <a:lstStyle/>
          <a:p>
            <a:endParaRPr lang="de-DE"/>
          </a:p>
        </p:txBody>
      </p:sp>
      <p:sp>
        <p:nvSpPr>
          <p:cNvPr id="20" name="stage-h4">
            <a:extLst>
              <a:ext uri="{FF2B5EF4-FFF2-40B4-BE49-F238E27FC236}">
                <a16:creationId xmlns:a16="http://schemas.microsoft.com/office/drawing/2014/main" id="{7D364FC7-160B-491A-ACCE-6CB94CDD46F3}"/>
              </a:ext>
            </a:extLst>
          </p:cNvPr>
          <p:cNvSpPr>
            <a:spLocks noGrp="1"/>
          </p:cNvSpPr>
          <p:nvPr/>
        </p:nvSpPr>
        <p:spPr>
          <a:xfrm>
            <a:off x="9582150" y="2238375"/>
            <a:ext cx="1466850" cy="333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ITERATE</a:t>
            </a:r>
          </a:p>
        </p:txBody>
      </p:sp>
      <p:sp>
        <p:nvSpPr>
          <p:cNvPr id="21" name="stage-b4">
            <a:extLst>
              <a:ext uri="{FF2B5EF4-FFF2-40B4-BE49-F238E27FC236}">
                <a16:creationId xmlns:a16="http://schemas.microsoft.com/office/drawing/2014/main" id="{B286C4A4-0C0F-40B2-AF46-4320E9E9BC52}"/>
              </a:ext>
            </a:extLst>
          </p:cNvPr>
          <p:cNvSpPr>
            <a:spLocks noGrp="1"/>
          </p:cNvSpPr>
          <p:nvPr/>
        </p:nvSpPr>
        <p:spPr>
          <a:xfrm>
            <a:off x="9582150" y="2781300"/>
            <a:ext cx="1466850" cy="71437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Analyze errors</a:t>
            </a:r>
          </a:p>
          <a:p>
            <a:pPr algn="ctr">
              <a:defRPr sz="1500" b="1">
                <a:solidFill>
                  <a:srgbClr val="111111"/>
                </a:solidFill>
                <a:latin typeface="Arial"/>
                <a:ea typeface="Arial"/>
                <a:cs typeface="Arial"/>
              </a:defRPr>
            </a:pPr>
            <a:r>
              <a:rPr sz="1500" b="1">
                <a:solidFill>
                  <a:srgbClr val="111111"/>
                </a:solidFill>
                <a:latin typeface="Arial"/>
                <a:ea typeface="Arial"/>
                <a:cs typeface="Arial"/>
              </a:rPr>
              <a:t>and adjust</a:t>
            </a:r>
          </a:p>
        </p:txBody>
      </p:sp>
      <p:sp>
        <p:nvSpPr>
          <p:cNvPr id="22" name="take">
            <a:extLst>
              <a:ext uri="{FF2B5EF4-FFF2-40B4-BE49-F238E27FC236}">
                <a16:creationId xmlns:a16="http://schemas.microsoft.com/office/drawing/2014/main" id="{047BB246-D8A3-49CA-BDFE-F9D3D3617D3A}"/>
              </a:ext>
            </a:extLst>
          </p:cNvPr>
          <p:cNvSpPr>
            <a:spLocks noGrp="1"/>
          </p:cNvSpPr>
          <p:nvPr/>
        </p:nvSpPr>
        <p:spPr>
          <a:xfrm>
            <a:off x="762000" y="4762500"/>
            <a:ext cx="10668000" cy="857250"/>
          </a:xfrm>
          <a:prstGeom prst="rect">
            <a:avLst/>
          </a:prstGeom>
          <a:noFill/>
          <a:ln w="0">
            <a:noFill/>
            <a:prstDash val="solid"/>
          </a:ln>
        </p:spPr>
        <p:txBody>
          <a:bodyPr lIns="0" tIns="0" rIns="0" bIns="0" anchor="ctr">
            <a:normAutofit/>
          </a:bodyPr>
          <a:lstStyle/>
          <a:p>
            <a:pPr algn="ctr">
              <a:defRPr sz="2175" b="1">
                <a:solidFill>
                  <a:srgbClr val="111111"/>
                </a:solidFill>
                <a:latin typeface="Arial"/>
                <a:ea typeface="Arial"/>
                <a:cs typeface="Arial"/>
              </a:defRPr>
            </a:pPr>
            <a:r>
              <a:rPr sz="2175" b="1">
                <a:solidFill>
                  <a:srgbClr val="111111"/>
                </a:solidFill>
                <a:latin typeface="Arial"/>
                <a:ea typeface="Arial"/>
                <a:cs typeface="Arial"/>
              </a:rPr>
              <a:t>Model execution is only one step. Data preparation and analysis determine whether results are trustworthy.</a:t>
            </a:r>
          </a:p>
        </p:txBody>
      </p:sp>
    </p:spTree>
    <p:extLst>
      <p:ext uri="{BB962C8B-B14F-4D97-AF65-F5344CB8AC3E}">
        <p14:creationId xmlns:p14="http://schemas.microsoft.com/office/powerpoint/2010/main" val="61494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6A6EA092-95BE-43FE-96E5-FE83285A4DDA}"/>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OCR preprocessing changes pixels before recognition</a:t>
            </a:r>
          </a:p>
        </p:txBody>
      </p:sp>
      <p:sp>
        <p:nvSpPr>
          <p:cNvPr id="2" name="page">
            <a:extLst>
              <a:ext uri="{FF2B5EF4-FFF2-40B4-BE49-F238E27FC236}">
                <a16:creationId xmlns:a16="http://schemas.microsoft.com/office/drawing/2014/main" id="{711FF221-E580-4A59-8DA3-3571DC56C875}"/>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19</a:t>
            </a:r>
            <a:endParaRPr sz="975" b="0">
              <a:solidFill>
                <a:srgbClr val="62666D"/>
              </a:solidFill>
              <a:latin typeface="Arial"/>
              <a:ea typeface="Arial"/>
              <a:cs typeface="Arial"/>
            </a:endParaRPr>
          </a:p>
        </p:txBody>
      </p:sp>
      <p:sp>
        <p:nvSpPr>
          <p:cNvPr id="3" name="goal-label">
            <a:extLst>
              <a:ext uri="{FF2B5EF4-FFF2-40B4-BE49-F238E27FC236}">
                <a16:creationId xmlns:a16="http://schemas.microsoft.com/office/drawing/2014/main" id="{2B067126-F97B-4D37-972D-42F259E5AD91}"/>
              </a:ext>
            </a:extLst>
          </p:cNvPr>
          <p:cNvSpPr>
            <a:spLocks noGrp="1"/>
          </p:cNvSpPr>
          <p:nvPr/>
        </p:nvSpPr>
        <p:spPr>
          <a:xfrm>
            <a:off x="419100" y="1524000"/>
            <a:ext cx="1714500" cy="400050"/>
          </a:xfrm>
          <a:prstGeom prst="rect">
            <a:avLst/>
          </a:prstGeom>
          <a:solidFill>
            <a:srgbClr val="D9F1FC"/>
          </a:solidFill>
          <a:ln w="0">
            <a:noFill/>
            <a:prstDash val="solid"/>
          </a:ln>
        </p:spPr>
        <p:txBody>
          <a:bodyPr/>
          <a:lstStyle/>
          <a:p>
            <a:endParaRPr lang="de-DE"/>
          </a:p>
        </p:txBody>
      </p:sp>
      <p:sp>
        <p:nvSpPr>
          <p:cNvPr id="4" name="goal">
            <a:extLst>
              <a:ext uri="{FF2B5EF4-FFF2-40B4-BE49-F238E27FC236}">
                <a16:creationId xmlns:a16="http://schemas.microsoft.com/office/drawing/2014/main" id="{CAB4D480-55E8-4741-9F49-A8D9C0BEBDDB}"/>
              </a:ext>
            </a:extLst>
          </p:cNvPr>
          <p:cNvSpPr>
            <a:spLocks noGrp="1"/>
          </p:cNvSpPr>
          <p:nvPr/>
        </p:nvSpPr>
        <p:spPr>
          <a:xfrm>
            <a:off x="571500" y="1571625"/>
            <a:ext cx="1409700" cy="285750"/>
          </a:xfrm>
          <a:prstGeom prst="rect">
            <a:avLst/>
          </a:prstGeom>
          <a:noFill/>
          <a:ln w="0">
            <a:noFill/>
            <a:prstDash val="solid"/>
          </a:ln>
        </p:spPr>
        <p:txBody>
          <a:bodyPr lIns="0" tIns="0" rIns="0" bIns="0" anchor="ctr">
            <a:normAutofit/>
          </a:bodyPr>
          <a:lstStyle/>
          <a:p>
            <a:pPr algn="ctr">
              <a:defRPr sz="1425" b="1">
                <a:solidFill>
                  <a:srgbClr val="3D8DFF"/>
                </a:solidFill>
                <a:latin typeface="Arial"/>
                <a:ea typeface="Arial"/>
                <a:cs typeface="Arial"/>
              </a:defRPr>
            </a:pPr>
            <a:r>
              <a:rPr sz="1425" b="1">
                <a:solidFill>
                  <a:srgbClr val="3D8DFF"/>
                </a:solidFill>
                <a:latin typeface="Arial"/>
                <a:ea typeface="Arial"/>
                <a:cs typeface="Arial"/>
              </a:rPr>
              <a:t>GOAL</a:t>
            </a:r>
          </a:p>
        </p:txBody>
      </p:sp>
      <p:sp>
        <p:nvSpPr>
          <p:cNvPr id="5" name="goal-b">
            <a:extLst>
              <a:ext uri="{FF2B5EF4-FFF2-40B4-BE49-F238E27FC236}">
                <a16:creationId xmlns:a16="http://schemas.microsoft.com/office/drawing/2014/main" id="{1AC41751-D941-4127-ADAC-5DC36B5A4E9E}"/>
              </a:ext>
            </a:extLst>
          </p:cNvPr>
          <p:cNvSpPr>
            <a:spLocks noGrp="1"/>
          </p:cNvSpPr>
          <p:nvPr/>
        </p:nvSpPr>
        <p:spPr>
          <a:xfrm>
            <a:off x="419100" y="2143125"/>
            <a:ext cx="4000500" cy="1000125"/>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Make relevant characters easier to separate from background and layout noise.</a:t>
            </a:r>
          </a:p>
        </p:txBody>
      </p:sp>
      <p:sp>
        <p:nvSpPr>
          <p:cNvPr id="6" name="ops-label">
            <a:extLst>
              <a:ext uri="{FF2B5EF4-FFF2-40B4-BE49-F238E27FC236}">
                <a16:creationId xmlns:a16="http://schemas.microsoft.com/office/drawing/2014/main" id="{365CD6D4-0E79-43D4-AD89-7933A6511F34}"/>
              </a:ext>
            </a:extLst>
          </p:cNvPr>
          <p:cNvSpPr>
            <a:spLocks noGrp="1"/>
          </p:cNvSpPr>
          <p:nvPr/>
        </p:nvSpPr>
        <p:spPr>
          <a:xfrm>
            <a:off x="4953000" y="1524000"/>
            <a:ext cx="2190750" cy="400050"/>
          </a:xfrm>
          <a:prstGeom prst="rect">
            <a:avLst/>
          </a:prstGeom>
          <a:solidFill>
            <a:srgbClr val="D9F1FC"/>
          </a:solidFill>
          <a:ln w="0">
            <a:noFill/>
            <a:prstDash val="solid"/>
          </a:ln>
        </p:spPr>
        <p:txBody>
          <a:bodyPr/>
          <a:lstStyle/>
          <a:p>
            <a:endParaRPr lang="de-DE"/>
          </a:p>
        </p:txBody>
      </p:sp>
      <p:sp>
        <p:nvSpPr>
          <p:cNvPr id="7" name="ops">
            <a:extLst>
              <a:ext uri="{FF2B5EF4-FFF2-40B4-BE49-F238E27FC236}">
                <a16:creationId xmlns:a16="http://schemas.microsoft.com/office/drawing/2014/main" id="{582AB1B3-CE65-4481-A278-683FF1C0255C}"/>
              </a:ext>
            </a:extLst>
          </p:cNvPr>
          <p:cNvSpPr>
            <a:spLocks noGrp="1"/>
          </p:cNvSpPr>
          <p:nvPr/>
        </p:nvSpPr>
        <p:spPr>
          <a:xfrm>
            <a:off x="5105400" y="1571625"/>
            <a:ext cx="1885950" cy="285750"/>
          </a:xfrm>
          <a:prstGeom prst="rect">
            <a:avLst/>
          </a:prstGeom>
          <a:noFill/>
          <a:ln w="0">
            <a:noFill/>
            <a:prstDash val="solid"/>
          </a:ln>
        </p:spPr>
        <p:txBody>
          <a:bodyPr lIns="0" tIns="0" rIns="0" bIns="0" anchor="ctr">
            <a:normAutofit/>
          </a:bodyPr>
          <a:lstStyle/>
          <a:p>
            <a:pPr algn="ctr">
              <a:defRPr sz="1425" b="1">
                <a:solidFill>
                  <a:srgbClr val="3D8DFF"/>
                </a:solidFill>
                <a:latin typeface="Arial"/>
                <a:ea typeface="Arial"/>
                <a:cs typeface="Arial"/>
              </a:defRPr>
            </a:pPr>
            <a:r>
              <a:rPr sz="1425" b="1">
                <a:solidFill>
                  <a:srgbClr val="3D8DFF"/>
                </a:solidFill>
                <a:latin typeface="Arial"/>
                <a:ea typeface="Arial"/>
                <a:cs typeface="Arial"/>
              </a:rPr>
              <a:t>OPERATIONS</a:t>
            </a:r>
          </a:p>
        </p:txBody>
      </p:sp>
      <p:sp>
        <p:nvSpPr>
          <p:cNvPr id="8" name="ops-b">
            <a:extLst>
              <a:ext uri="{FF2B5EF4-FFF2-40B4-BE49-F238E27FC236}">
                <a16:creationId xmlns:a16="http://schemas.microsoft.com/office/drawing/2014/main" id="{DE4EFA8D-980F-4E4A-A697-A4DED9451404}"/>
              </a:ext>
            </a:extLst>
          </p:cNvPr>
          <p:cNvSpPr>
            <a:spLocks noGrp="1"/>
          </p:cNvSpPr>
          <p:nvPr/>
        </p:nvSpPr>
        <p:spPr>
          <a:xfrm>
            <a:off x="4953000" y="2143125"/>
            <a:ext cx="3333750" cy="2476500"/>
          </a:xfrm>
          <a:prstGeom prst="rect">
            <a:avLst/>
          </a:prstGeom>
          <a:noFill/>
          <a:ln w="0">
            <a:noFill/>
            <a:prstDash val="solid"/>
          </a:ln>
        </p:spPr>
        <p:txBody>
          <a:bodyPr lIns="0" tIns="0" rIns="0" bIns="0" anchor="ctr">
            <a:normAutofit/>
          </a:bodyPr>
          <a:lstStyle/>
          <a:p>
            <a:pPr algn="l">
              <a:defRPr sz="1725" b="0">
                <a:solidFill>
                  <a:srgbClr val="111111"/>
                </a:solidFill>
                <a:latin typeface="Arial"/>
                <a:ea typeface="Arial"/>
                <a:cs typeface="Arial"/>
              </a:defRPr>
            </a:pPr>
            <a:r>
              <a:rPr sz="1725" b="0">
                <a:solidFill>
                  <a:srgbClr val="111111"/>
                </a:solidFill>
                <a:latin typeface="Arial"/>
                <a:ea typeface="Arial"/>
                <a:cs typeface="Arial"/>
              </a:rPr>
              <a:t>• crop relevant regions</a:t>
            </a:r>
          </a:p>
          <a:p>
            <a:pPr algn="l">
              <a:defRPr sz="1725" b="0">
                <a:solidFill>
                  <a:srgbClr val="111111"/>
                </a:solidFill>
                <a:latin typeface="Arial"/>
                <a:ea typeface="Arial"/>
                <a:cs typeface="Arial"/>
              </a:defRPr>
            </a:pPr>
            <a:r>
              <a:rPr sz="1725" b="0">
                <a:solidFill>
                  <a:srgbClr val="111111"/>
                </a:solidFill>
                <a:latin typeface="Arial"/>
                <a:ea typeface="Arial"/>
                <a:cs typeface="Arial"/>
              </a:rPr>
              <a:t>• resize carefully</a:t>
            </a:r>
          </a:p>
          <a:p>
            <a:pPr algn="l">
              <a:defRPr sz="1725" b="0">
                <a:solidFill>
                  <a:srgbClr val="111111"/>
                </a:solidFill>
                <a:latin typeface="Arial"/>
                <a:ea typeface="Arial"/>
                <a:cs typeface="Arial"/>
              </a:defRPr>
            </a:pPr>
            <a:r>
              <a:rPr sz="1725" b="0">
                <a:solidFill>
                  <a:srgbClr val="111111"/>
                </a:solidFill>
                <a:latin typeface="Arial"/>
                <a:ea typeface="Arial"/>
                <a:cs typeface="Arial"/>
              </a:rPr>
              <a:t>• grayscale conversion</a:t>
            </a:r>
          </a:p>
          <a:p>
            <a:pPr algn="l">
              <a:defRPr sz="1725" b="0">
                <a:solidFill>
                  <a:srgbClr val="111111"/>
                </a:solidFill>
                <a:latin typeface="Arial"/>
                <a:ea typeface="Arial"/>
                <a:cs typeface="Arial"/>
              </a:defRPr>
            </a:pPr>
            <a:r>
              <a:rPr sz="1725" b="0">
                <a:solidFill>
                  <a:srgbClr val="111111"/>
                </a:solidFill>
                <a:latin typeface="Arial"/>
                <a:ea typeface="Arial"/>
                <a:cs typeface="Arial"/>
              </a:rPr>
              <a:t>• denoising</a:t>
            </a:r>
          </a:p>
          <a:p>
            <a:pPr algn="l">
              <a:defRPr sz="1725" b="0">
                <a:solidFill>
                  <a:srgbClr val="111111"/>
                </a:solidFill>
                <a:latin typeface="Arial"/>
                <a:ea typeface="Arial"/>
                <a:cs typeface="Arial"/>
              </a:defRPr>
            </a:pPr>
            <a:r>
              <a:rPr sz="1725" b="0">
                <a:solidFill>
                  <a:srgbClr val="111111"/>
                </a:solidFill>
                <a:latin typeface="Arial"/>
                <a:ea typeface="Arial"/>
                <a:cs typeface="Arial"/>
              </a:rPr>
              <a:t>• thresholding / binarization</a:t>
            </a:r>
          </a:p>
          <a:p>
            <a:pPr algn="l">
              <a:defRPr sz="1725" b="0">
                <a:solidFill>
                  <a:srgbClr val="111111"/>
                </a:solidFill>
                <a:latin typeface="Arial"/>
                <a:ea typeface="Arial"/>
                <a:cs typeface="Arial"/>
              </a:defRPr>
            </a:pPr>
            <a:r>
              <a:rPr sz="1725" b="0">
                <a:solidFill>
                  <a:srgbClr val="111111"/>
                </a:solidFill>
                <a:latin typeface="Arial"/>
                <a:ea typeface="Arial"/>
                <a:cs typeface="Arial"/>
              </a:rPr>
              <a:t>• deskewing and rotation</a:t>
            </a:r>
          </a:p>
        </p:txBody>
      </p:sp>
      <p:sp>
        <p:nvSpPr>
          <p:cNvPr id="9" name="risk-label">
            <a:extLst>
              <a:ext uri="{FF2B5EF4-FFF2-40B4-BE49-F238E27FC236}">
                <a16:creationId xmlns:a16="http://schemas.microsoft.com/office/drawing/2014/main" id="{F8CA32BA-4398-4A84-9E2C-8125E782A0AF}"/>
              </a:ext>
            </a:extLst>
          </p:cNvPr>
          <p:cNvSpPr>
            <a:spLocks noGrp="1"/>
          </p:cNvSpPr>
          <p:nvPr/>
        </p:nvSpPr>
        <p:spPr>
          <a:xfrm>
            <a:off x="8858250" y="1524000"/>
            <a:ext cx="1714500" cy="400050"/>
          </a:xfrm>
          <a:prstGeom prst="rect">
            <a:avLst/>
          </a:prstGeom>
          <a:solidFill>
            <a:srgbClr val="F8E5E5"/>
          </a:solidFill>
          <a:ln w="0">
            <a:noFill/>
            <a:prstDash val="solid"/>
          </a:ln>
        </p:spPr>
        <p:txBody>
          <a:bodyPr/>
          <a:lstStyle/>
          <a:p>
            <a:endParaRPr lang="de-DE"/>
          </a:p>
        </p:txBody>
      </p:sp>
      <p:sp>
        <p:nvSpPr>
          <p:cNvPr id="10" name="risk">
            <a:extLst>
              <a:ext uri="{FF2B5EF4-FFF2-40B4-BE49-F238E27FC236}">
                <a16:creationId xmlns:a16="http://schemas.microsoft.com/office/drawing/2014/main" id="{188A275B-BA3A-42BA-9BF2-8742DE305301}"/>
              </a:ext>
            </a:extLst>
          </p:cNvPr>
          <p:cNvSpPr>
            <a:spLocks noGrp="1"/>
          </p:cNvSpPr>
          <p:nvPr/>
        </p:nvSpPr>
        <p:spPr>
          <a:xfrm>
            <a:off x="9010650" y="1571625"/>
            <a:ext cx="1409700" cy="285750"/>
          </a:xfrm>
          <a:prstGeom prst="rect">
            <a:avLst/>
          </a:prstGeom>
          <a:noFill/>
          <a:ln w="0">
            <a:noFill/>
            <a:prstDash val="solid"/>
          </a:ln>
        </p:spPr>
        <p:txBody>
          <a:bodyPr lIns="0" tIns="0" rIns="0" bIns="0" anchor="ctr">
            <a:normAutofit/>
          </a:bodyPr>
          <a:lstStyle/>
          <a:p>
            <a:pPr algn="ctr">
              <a:defRPr sz="1425" b="1">
                <a:solidFill>
                  <a:srgbClr val="C64B4B"/>
                </a:solidFill>
                <a:latin typeface="Arial"/>
                <a:ea typeface="Arial"/>
                <a:cs typeface="Arial"/>
              </a:defRPr>
            </a:pPr>
            <a:r>
              <a:rPr sz="1425" b="1">
                <a:solidFill>
                  <a:srgbClr val="C64B4B"/>
                </a:solidFill>
                <a:latin typeface="Arial"/>
                <a:ea typeface="Arial"/>
                <a:cs typeface="Arial"/>
              </a:rPr>
              <a:t>RISK</a:t>
            </a:r>
          </a:p>
        </p:txBody>
      </p:sp>
      <p:sp>
        <p:nvSpPr>
          <p:cNvPr id="11" name="risk-b">
            <a:extLst>
              <a:ext uri="{FF2B5EF4-FFF2-40B4-BE49-F238E27FC236}">
                <a16:creationId xmlns:a16="http://schemas.microsoft.com/office/drawing/2014/main" id="{57BD76D2-B0C6-471B-BA5A-633DAC1164C8}"/>
              </a:ext>
            </a:extLst>
          </p:cNvPr>
          <p:cNvSpPr>
            <a:spLocks noGrp="1"/>
          </p:cNvSpPr>
          <p:nvPr/>
        </p:nvSpPr>
        <p:spPr>
          <a:xfrm>
            <a:off x="8858250" y="2143125"/>
            <a:ext cx="2571750" cy="1428750"/>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Every transformation can also erase strokes, punctuation, or spatial evidence.</a:t>
            </a:r>
          </a:p>
        </p:txBody>
      </p:sp>
      <p:sp>
        <p:nvSpPr>
          <p:cNvPr id="12" name="rule-box">
            <a:extLst>
              <a:ext uri="{FF2B5EF4-FFF2-40B4-BE49-F238E27FC236}">
                <a16:creationId xmlns:a16="http://schemas.microsoft.com/office/drawing/2014/main" id="{4417FF12-A7D9-481D-96E1-DFC3B5B75A3E}"/>
              </a:ext>
            </a:extLst>
          </p:cNvPr>
          <p:cNvSpPr>
            <a:spLocks noGrp="1"/>
          </p:cNvSpPr>
          <p:nvPr/>
        </p:nvSpPr>
        <p:spPr>
          <a:xfrm>
            <a:off x="2381250" y="5000625"/>
            <a:ext cx="7429500" cy="666750"/>
          </a:xfrm>
          <a:prstGeom prst="rect">
            <a:avLst/>
          </a:prstGeom>
          <a:solidFill>
            <a:srgbClr val="D9F1FC"/>
          </a:solidFill>
          <a:ln w="0">
            <a:noFill/>
            <a:prstDash val="solid"/>
          </a:ln>
        </p:spPr>
        <p:txBody>
          <a:bodyPr/>
          <a:lstStyle/>
          <a:p>
            <a:endParaRPr lang="de-DE"/>
          </a:p>
        </p:txBody>
      </p:sp>
      <p:sp>
        <p:nvSpPr>
          <p:cNvPr id="13" name="rule">
            <a:extLst>
              <a:ext uri="{FF2B5EF4-FFF2-40B4-BE49-F238E27FC236}">
                <a16:creationId xmlns:a16="http://schemas.microsoft.com/office/drawing/2014/main" id="{EF3F90BE-6501-478A-81E8-F863E726BC89}"/>
              </a:ext>
            </a:extLst>
          </p:cNvPr>
          <p:cNvSpPr>
            <a:spLocks noGrp="1"/>
          </p:cNvSpPr>
          <p:nvPr/>
        </p:nvSpPr>
        <p:spPr>
          <a:xfrm>
            <a:off x="2619375" y="5095875"/>
            <a:ext cx="6953250" cy="476250"/>
          </a:xfrm>
          <a:prstGeom prst="rect">
            <a:avLst/>
          </a:prstGeom>
          <a:noFill/>
          <a:ln w="0">
            <a:noFill/>
            <a:prstDash val="solid"/>
          </a:ln>
        </p:spPr>
        <p:txBody>
          <a:bodyPr lIns="0" tIns="0" rIns="0" bIns="0" anchor="ctr">
            <a:normAutofit fontScale="90580"/>
          </a:bodyPr>
          <a:lstStyle/>
          <a:p>
            <a:pPr algn="ctr">
              <a:defRPr sz="1725" b="1">
                <a:solidFill>
                  <a:srgbClr val="111111"/>
                </a:solidFill>
                <a:latin typeface="Arial"/>
                <a:ea typeface="Arial"/>
                <a:cs typeface="Arial"/>
              </a:defRPr>
            </a:pPr>
            <a:r>
              <a:rPr sz="1725" b="1">
                <a:solidFill>
                  <a:srgbClr val="111111"/>
                </a:solidFill>
                <a:latin typeface="Arial"/>
                <a:ea typeface="Arial"/>
                <a:cs typeface="Arial"/>
              </a:rPr>
              <a:t>Keep the original image. Record parameters. Evaluate every variant against the same ground truth.</a:t>
            </a:r>
          </a:p>
        </p:txBody>
      </p:sp>
    </p:spTree>
    <p:extLst>
      <p:ext uri="{BB962C8B-B14F-4D97-AF65-F5344CB8AC3E}">
        <p14:creationId xmlns:p14="http://schemas.microsoft.com/office/powerpoint/2010/main" val="1809426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itle">
            <a:extLst>
              <a:ext uri="{FF2B5EF4-FFF2-40B4-BE49-F238E27FC236}">
                <a16:creationId xmlns:a16="http://schemas.microsoft.com/office/drawing/2014/main" id="{B333D435-41D3-4387-B931-FC8E794A9314}"/>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Postprocessing turns raw OCR evidence into usable data</a:t>
            </a:r>
          </a:p>
        </p:txBody>
      </p:sp>
      <p:sp>
        <p:nvSpPr>
          <p:cNvPr id="2" name="page">
            <a:extLst>
              <a:ext uri="{FF2B5EF4-FFF2-40B4-BE49-F238E27FC236}">
                <a16:creationId xmlns:a16="http://schemas.microsoft.com/office/drawing/2014/main" id="{8B404301-FFA1-4E08-A250-2A3A2E90935C}"/>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20</a:t>
            </a:r>
            <a:endParaRPr sz="975" b="0">
              <a:solidFill>
                <a:srgbClr val="62666D"/>
              </a:solidFill>
              <a:latin typeface="Arial"/>
              <a:ea typeface="Arial"/>
              <a:cs typeface="Arial"/>
            </a:endParaRPr>
          </a:p>
        </p:txBody>
      </p:sp>
      <p:sp>
        <p:nvSpPr>
          <p:cNvPr id="3" name="Gerader Verbinder 2">
            <a:extLst>
              <a:ext uri="{FF2B5EF4-FFF2-40B4-BE49-F238E27FC236}">
                <a16:creationId xmlns:a16="http://schemas.microsoft.com/office/drawing/2014/main" id="{7BFA1346-5AE8-418C-A163-CF70583CE0E7}"/>
              </a:ext>
            </a:extLst>
          </p:cNvPr>
          <p:cNvSpPr>
            <a:spLocks noGrp="1"/>
          </p:cNvSpPr>
          <p:nvPr/>
        </p:nvSpPr>
        <p:spPr>
          <a:xfrm>
            <a:off x="2714625" y="3124200"/>
            <a:ext cx="1190625" cy="0"/>
          </a:xfrm>
          <a:prstGeom prst="line">
            <a:avLst/>
          </a:prstGeom>
          <a:noFill/>
          <a:ln w="38100">
            <a:solidFill>
              <a:srgbClr val="3D8DFF"/>
            </a:solidFill>
            <a:prstDash val="solid"/>
          </a:ln>
        </p:spPr>
        <p:txBody>
          <a:bodyPr/>
          <a:lstStyle/>
          <a:p>
            <a:endParaRPr lang="de-DE"/>
          </a:p>
        </p:txBody>
      </p:sp>
      <p:sp>
        <p:nvSpPr>
          <p:cNvPr id="4" name="Gerader Verbinder 3">
            <a:extLst>
              <a:ext uri="{FF2B5EF4-FFF2-40B4-BE49-F238E27FC236}">
                <a16:creationId xmlns:a16="http://schemas.microsoft.com/office/drawing/2014/main" id="{56DCF001-15DA-4E1B-ACB3-3DB0C0B85D6E}"/>
              </a:ext>
            </a:extLst>
          </p:cNvPr>
          <p:cNvSpPr>
            <a:spLocks noGrp="1"/>
          </p:cNvSpPr>
          <p:nvPr/>
        </p:nvSpPr>
        <p:spPr>
          <a:xfrm>
            <a:off x="6048375" y="3124200"/>
            <a:ext cx="1190625" cy="0"/>
          </a:xfrm>
          <a:prstGeom prst="line">
            <a:avLst/>
          </a:prstGeom>
          <a:noFill/>
          <a:ln w="38100">
            <a:solidFill>
              <a:srgbClr val="3D8DFF"/>
            </a:solidFill>
            <a:prstDash val="solid"/>
          </a:ln>
        </p:spPr>
        <p:txBody>
          <a:bodyPr/>
          <a:lstStyle/>
          <a:p>
            <a:endParaRPr lang="de-DE"/>
          </a:p>
        </p:txBody>
      </p:sp>
      <p:sp>
        <p:nvSpPr>
          <p:cNvPr id="5" name="Gerader Verbinder 4">
            <a:extLst>
              <a:ext uri="{FF2B5EF4-FFF2-40B4-BE49-F238E27FC236}">
                <a16:creationId xmlns:a16="http://schemas.microsoft.com/office/drawing/2014/main" id="{3493E471-4C52-453A-8487-EB8A5C4BDAAB}"/>
              </a:ext>
            </a:extLst>
          </p:cNvPr>
          <p:cNvSpPr>
            <a:spLocks noGrp="1"/>
          </p:cNvSpPr>
          <p:nvPr/>
        </p:nvSpPr>
        <p:spPr>
          <a:xfrm>
            <a:off x="9382125" y="3124200"/>
            <a:ext cx="1190625" cy="0"/>
          </a:xfrm>
          <a:prstGeom prst="line">
            <a:avLst/>
          </a:prstGeom>
          <a:noFill/>
          <a:ln w="38100">
            <a:solidFill>
              <a:srgbClr val="3D8DFF"/>
            </a:solidFill>
            <a:prstDash val="solid"/>
          </a:ln>
        </p:spPr>
        <p:txBody>
          <a:bodyPr/>
          <a:lstStyle/>
          <a:p>
            <a:endParaRPr lang="de-DE"/>
          </a:p>
        </p:txBody>
      </p:sp>
      <p:sp>
        <p:nvSpPr>
          <p:cNvPr id="6" name="raw">
            <a:extLst>
              <a:ext uri="{FF2B5EF4-FFF2-40B4-BE49-F238E27FC236}">
                <a16:creationId xmlns:a16="http://schemas.microsoft.com/office/drawing/2014/main" id="{C7C51B49-2B0E-4565-88E8-F5A315E5DC71}"/>
              </a:ext>
            </a:extLst>
          </p:cNvPr>
          <p:cNvSpPr>
            <a:spLocks noGrp="1"/>
          </p:cNvSpPr>
          <p:nvPr/>
        </p:nvSpPr>
        <p:spPr>
          <a:xfrm>
            <a:off x="419100" y="1952625"/>
            <a:ext cx="2286000" cy="2333625"/>
          </a:xfrm>
          <a:prstGeom prst="rect">
            <a:avLst/>
          </a:prstGeom>
          <a:solidFill>
            <a:srgbClr val="EDEDED"/>
          </a:solidFill>
          <a:ln w="0">
            <a:noFill/>
            <a:prstDash val="solid"/>
          </a:ln>
        </p:spPr>
        <p:txBody>
          <a:bodyPr/>
          <a:lstStyle/>
          <a:p>
            <a:endParaRPr lang="de-DE"/>
          </a:p>
        </p:txBody>
      </p:sp>
      <p:sp>
        <p:nvSpPr>
          <p:cNvPr id="7" name="raw-h">
            <a:extLst>
              <a:ext uri="{FF2B5EF4-FFF2-40B4-BE49-F238E27FC236}">
                <a16:creationId xmlns:a16="http://schemas.microsoft.com/office/drawing/2014/main" id="{B9152257-E810-4355-82FA-EBDDF833BE6F}"/>
              </a:ext>
            </a:extLst>
          </p:cNvPr>
          <p:cNvSpPr>
            <a:spLocks noGrp="1"/>
          </p:cNvSpPr>
          <p:nvPr/>
        </p:nvSpPr>
        <p:spPr>
          <a:xfrm>
            <a:off x="647700" y="2190750"/>
            <a:ext cx="1828800" cy="333375"/>
          </a:xfrm>
          <a:prstGeom prst="rect">
            <a:avLst/>
          </a:prstGeom>
          <a:noFill/>
          <a:ln w="0">
            <a:noFill/>
            <a:prstDash val="solid"/>
          </a:ln>
        </p:spPr>
        <p:txBody>
          <a:bodyPr lIns="0" tIns="0" rIns="0" bIns="0" anchor="ctr">
            <a:normAutofit/>
          </a:bodyPr>
          <a:lstStyle/>
          <a:p>
            <a:pPr algn="ctr">
              <a:defRPr sz="1650" b="1">
                <a:solidFill>
                  <a:srgbClr val="111111"/>
                </a:solidFill>
                <a:latin typeface="Arial"/>
                <a:ea typeface="Arial"/>
                <a:cs typeface="Arial"/>
              </a:defRPr>
            </a:pPr>
            <a:r>
              <a:rPr sz="1650" b="1">
                <a:solidFill>
                  <a:srgbClr val="111111"/>
                </a:solidFill>
                <a:latin typeface="Arial"/>
                <a:ea typeface="Arial"/>
                <a:cs typeface="Arial"/>
              </a:rPr>
              <a:t>RAW EVIDENCE</a:t>
            </a:r>
          </a:p>
        </p:txBody>
      </p:sp>
      <p:sp>
        <p:nvSpPr>
          <p:cNvPr id="8" name="raw-b">
            <a:extLst>
              <a:ext uri="{FF2B5EF4-FFF2-40B4-BE49-F238E27FC236}">
                <a16:creationId xmlns:a16="http://schemas.microsoft.com/office/drawing/2014/main" id="{312E225E-7BD7-44D7-9979-F947B83A873C}"/>
              </a:ext>
            </a:extLst>
          </p:cNvPr>
          <p:cNvSpPr>
            <a:spLocks noGrp="1"/>
          </p:cNvSpPr>
          <p:nvPr/>
        </p:nvSpPr>
        <p:spPr>
          <a:xfrm>
            <a:off x="647700" y="2857500"/>
            <a:ext cx="1828800" cy="1000125"/>
          </a:xfrm>
          <a:prstGeom prst="rect">
            <a:avLst/>
          </a:prstGeom>
          <a:noFill/>
          <a:ln w="0">
            <a:noFill/>
            <a:prstDash val="solid"/>
          </a:ln>
        </p:spPr>
        <p:txBody>
          <a:bodyPr lIns="0" tIns="0" rIns="0" bIns="0" anchor="ctr">
            <a:normAutofit/>
          </a:bodyPr>
          <a:lstStyle/>
          <a:p>
            <a:pPr algn="ctr">
              <a:defRPr sz="1725" b="1">
                <a:solidFill>
                  <a:srgbClr val="111111"/>
                </a:solidFill>
                <a:latin typeface="Arial"/>
                <a:ea typeface="Arial"/>
                <a:cs typeface="Arial"/>
              </a:defRPr>
            </a:pPr>
            <a:r>
              <a:rPr sz="1725" b="1">
                <a:solidFill>
                  <a:srgbClr val="111111"/>
                </a:solidFill>
                <a:latin typeface="Arial"/>
                <a:ea typeface="Arial"/>
                <a:cs typeface="Arial"/>
              </a:rPr>
              <a:t>text</a:t>
            </a:r>
          </a:p>
          <a:p>
            <a:pPr algn="ctr">
              <a:defRPr sz="1725" b="1">
                <a:solidFill>
                  <a:srgbClr val="111111"/>
                </a:solidFill>
                <a:latin typeface="Arial"/>
                <a:ea typeface="Arial"/>
                <a:cs typeface="Arial"/>
              </a:defRPr>
            </a:pPr>
            <a:r>
              <a:rPr sz="1725" b="1">
                <a:solidFill>
                  <a:srgbClr val="111111"/>
                </a:solidFill>
                <a:latin typeface="Arial"/>
                <a:ea typeface="Arial"/>
                <a:cs typeface="Arial"/>
              </a:rPr>
              <a:t>coordinates</a:t>
            </a:r>
          </a:p>
          <a:p>
            <a:pPr algn="ctr">
              <a:defRPr sz="1725" b="1">
                <a:solidFill>
                  <a:srgbClr val="111111"/>
                </a:solidFill>
                <a:latin typeface="Arial"/>
                <a:ea typeface="Arial"/>
                <a:cs typeface="Arial"/>
              </a:defRPr>
            </a:pPr>
            <a:r>
              <a:rPr sz="1725" b="1">
                <a:solidFill>
                  <a:srgbClr val="111111"/>
                </a:solidFill>
                <a:latin typeface="Arial"/>
                <a:ea typeface="Arial"/>
                <a:cs typeface="Arial"/>
              </a:rPr>
              <a:t>confidence</a:t>
            </a:r>
          </a:p>
        </p:txBody>
      </p:sp>
      <p:sp>
        <p:nvSpPr>
          <p:cNvPr id="9" name="norm">
            <a:extLst>
              <a:ext uri="{FF2B5EF4-FFF2-40B4-BE49-F238E27FC236}">
                <a16:creationId xmlns:a16="http://schemas.microsoft.com/office/drawing/2014/main" id="{D2B64D96-AC69-4FB7-AC1A-8F7C45BD48DB}"/>
              </a:ext>
            </a:extLst>
          </p:cNvPr>
          <p:cNvSpPr>
            <a:spLocks noGrp="1"/>
          </p:cNvSpPr>
          <p:nvPr/>
        </p:nvSpPr>
        <p:spPr>
          <a:xfrm>
            <a:off x="3905250" y="1952625"/>
            <a:ext cx="2143125" cy="2333625"/>
          </a:xfrm>
          <a:prstGeom prst="rect">
            <a:avLst/>
          </a:prstGeom>
          <a:solidFill>
            <a:srgbClr val="D9F1FC"/>
          </a:solidFill>
          <a:ln w="9525">
            <a:solidFill>
              <a:srgbClr val="3D8DFF"/>
            </a:solidFill>
            <a:prstDash val="solid"/>
          </a:ln>
        </p:spPr>
        <p:txBody>
          <a:bodyPr/>
          <a:lstStyle/>
          <a:p>
            <a:endParaRPr lang="de-DE"/>
          </a:p>
        </p:txBody>
      </p:sp>
      <p:sp>
        <p:nvSpPr>
          <p:cNvPr id="10" name="norm-h">
            <a:extLst>
              <a:ext uri="{FF2B5EF4-FFF2-40B4-BE49-F238E27FC236}">
                <a16:creationId xmlns:a16="http://schemas.microsoft.com/office/drawing/2014/main" id="{DCF29A10-B948-49CA-9735-918B840409C1}"/>
              </a:ext>
            </a:extLst>
          </p:cNvPr>
          <p:cNvSpPr>
            <a:spLocks noGrp="1"/>
          </p:cNvSpPr>
          <p:nvPr/>
        </p:nvSpPr>
        <p:spPr>
          <a:xfrm>
            <a:off x="4133850" y="2190750"/>
            <a:ext cx="1685925" cy="333375"/>
          </a:xfrm>
          <a:prstGeom prst="rect">
            <a:avLst/>
          </a:prstGeom>
          <a:noFill/>
          <a:ln w="0">
            <a:noFill/>
            <a:prstDash val="solid"/>
          </a:ln>
        </p:spPr>
        <p:txBody>
          <a:bodyPr lIns="0" tIns="0" rIns="0" bIns="0" anchor="ctr">
            <a:normAutofit/>
          </a:bodyPr>
          <a:lstStyle/>
          <a:p>
            <a:pPr algn="ctr">
              <a:defRPr sz="1650" b="1">
                <a:solidFill>
                  <a:srgbClr val="3D8DFF"/>
                </a:solidFill>
                <a:latin typeface="Arial"/>
                <a:ea typeface="Arial"/>
                <a:cs typeface="Arial"/>
              </a:defRPr>
            </a:pPr>
            <a:r>
              <a:rPr sz="1650" b="1">
                <a:solidFill>
                  <a:srgbClr val="3D8DFF"/>
                </a:solidFill>
                <a:latin typeface="Arial"/>
                <a:ea typeface="Arial"/>
                <a:cs typeface="Arial"/>
              </a:rPr>
              <a:t>NORMALIZE</a:t>
            </a:r>
          </a:p>
        </p:txBody>
      </p:sp>
      <p:sp>
        <p:nvSpPr>
          <p:cNvPr id="11" name="norm-b">
            <a:extLst>
              <a:ext uri="{FF2B5EF4-FFF2-40B4-BE49-F238E27FC236}">
                <a16:creationId xmlns:a16="http://schemas.microsoft.com/office/drawing/2014/main" id="{5C5183CD-9517-4B83-BBA0-E7EF8281546C}"/>
              </a:ext>
            </a:extLst>
          </p:cNvPr>
          <p:cNvSpPr>
            <a:spLocks noGrp="1"/>
          </p:cNvSpPr>
          <p:nvPr/>
        </p:nvSpPr>
        <p:spPr>
          <a:xfrm>
            <a:off x="4133850" y="2857500"/>
            <a:ext cx="1685925" cy="1000125"/>
          </a:xfrm>
          <a:prstGeom prst="rect">
            <a:avLst/>
          </a:prstGeom>
          <a:noFill/>
          <a:ln w="0">
            <a:noFill/>
            <a:prstDash val="solid"/>
          </a:ln>
        </p:spPr>
        <p:txBody>
          <a:bodyPr lIns="0" tIns="0" rIns="0" bIns="0" anchor="ctr">
            <a:normAutofit/>
          </a:bodyPr>
          <a:lstStyle/>
          <a:p>
            <a:pPr algn="ctr">
              <a:defRPr sz="1725" b="1">
                <a:solidFill>
                  <a:srgbClr val="111111"/>
                </a:solidFill>
                <a:latin typeface="Arial"/>
                <a:ea typeface="Arial"/>
                <a:cs typeface="Arial"/>
              </a:defRPr>
            </a:pPr>
            <a:r>
              <a:rPr sz="1725" b="1">
                <a:solidFill>
                  <a:srgbClr val="111111"/>
                </a:solidFill>
                <a:latin typeface="Arial"/>
                <a:ea typeface="Arial"/>
                <a:cs typeface="Arial"/>
              </a:rPr>
              <a:t>Unicode</a:t>
            </a:r>
          </a:p>
          <a:p>
            <a:pPr algn="ctr">
              <a:defRPr sz="1725" b="1">
                <a:solidFill>
                  <a:srgbClr val="111111"/>
                </a:solidFill>
                <a:latin typeface="Arial"/>
                <a:ea typeface="Arial"/>
                <a:cs typeface="Arial"/>
              </a:defRPr>
            </a:pPr>
            <a:r>
              <a:rPr sz="1725" b="1">
                <a:solidFill>
                  <a:srgbClr val="111111"/>
                </a:solidFill>
                <a:latin typeface="Arial"/>
                <a:ea typeface="Arial"/>
                <a:cs typeface="Arial"/>
              </a:rPr>
              <a:t>whitespace</a:t>
            </a:r>
          </a:p>
          <a:p>
            <a:pPr algn="ctr">
              <a:defRPr sz="1725" b="1">
                <a:solidFill>
                  <a:srgbClr val="111111"/>
                </a:solidFill>
                <a:latin typeface="Arial"/>
                <a:ea typeface="Arial"/>
                <a:cs typeface="Arial"/>
              </a:defRPr>
            </a:pPr>
            <a:r>
              <a:rPr sz="1725" b="1">
                <a:solidFill>
                  <a:srgbClr val="111111"/>
                </a:solidFill>
                <a:latin typeface="Arial"/>
                <a:ea typeface="Arial"/>
                <a:cs typeface="Arial"/>
              </a:rPr>
              <a:t>number formats</a:t>
            </a:r>
          </a:p>
        </p:txBody>
      </p:sp>
      <p:sp>
        <p:nvSpPr>
          <p:cNvPr id="12" name="resolve">
            <a:extLst>
              <a:ext uri="{FF2B5EF4-FFF2-40B4-BE49-F238E27FC236}">
                <a16:creationId xmlns:a16="http://schemas.microsoft.com/office/drawing/2014/main" id="{D1D90352-CDD6-4B35-BDDB-1096D7BFCEF3}"/>
              </a:ext>
            </a:extLst>
          </p:cNvPr>
          <p:cNvSpPr>
            <a:spLocks noGrp="1"/>
          </p:cNvSpPr>
          <p:nvPr/>
        </p:nvSpPr>
        <p:spPr>
          <a:xfrm>
            <a:off x="7239000" y="1952625"/>
            <a:ext cx="2143125" cy="2333625"/>
          </a:xfrm>
          <a:prstGeom prst="rect">
            <a:avLst/>
          </a:prstGeom>
          <a:solidFill>
            <a:srgbClr val="EDEDED"/>
          </a:solidFill>
          <a:ln w="0">
            <a:noFill/>
            <a:prstDash val="solid"/>
          </a:ln>
        </p:spPr>
        <p:txBody>
          <a:bodyPr/>
          <a:lstStyle/>
          <a:p>
            <a:endParaRPr lang="de-DE"/>
          </a:p>
        </p:txBody>
      </p:sp>
      <p:sp>
        <p:nvSpPr>
          <p:cNvPr id="13" name="resolve-h">
            <a:extLst>
              <a:ext uri="{FF2B5EF4-FFF2-40B4-BE49-F238E27FC236}">
                <a16:creationId xmlns:a16="http://schemas.microsoft.com/office/drawing/2014/main" id="{33DB1438-E9B1-47E2-9B29-8615821C68AF}"/>
              </a:ext>
            </a:extLst>
          </p:cNvPr>
          <p:cNvSpPr>
            <a:spLocks noGrp="1"/>
          </p:cNvSpPr>
          <p:nvPr/>
        </p:nvSpPr>
        <p:spPr>
          <a:xfrm>
            <a:off x="7467600" y="2190750"/>
            <a:ext cx="1685925" cy="333375"/>
          </a:xfrm>
          <a:prstGeom prst="rect">
            <a:avLst/>
          </a:prstGeom>
          <a:noFill/>
          <a:ln w="0">
            <a:noFill/>
            <a:prstDash val="solid"/>
          </a:ln>
        </p:spPr>
        <p:txBody>
          <a:bodyPr lIns="0" tIns="0" rIns="0" bIns="0" anchor="ctr">
            <a:normAutofit/>
          </a:bodyPr>
          <a:lstStyle/>
          <a:p>
            <a:pPr algn="ctr">
              <a:defRPr sz="1650" b="1">
                <a:solidFill>
                  <a:srgbClr val="111111"/>
                </a:solidFill>
                <a:latin typeface="Arial"/>
                <a:ea typeface="Arial"/>
                <a:cs typeface="Arial"/>
              </a:defRPr>
            </a:pPr>
            <a:r>
              <a:rPr sz="1650" b="1">
                <a:solidFill>
                  <a:srgbClr val="111111"/>
                </a:solidFill>
                <a:latin typeface="Arial"/>
                <a:ea typeface="Arial"/>
                <a:cs typeface="Arial"/>
              </a:rPr>
              <a:t>RESOLVE</a:t>
            </a:r>
          </a:p>
        </p:txBody>
      </p:sp>
      <p:sp>
        <p:nvSpPr>
          <p:cNvPr id="14" name="resolve-b">
            <a:extLst>
              <a:ext uri="{FF2B5EF4-FFF2-40B4-BE49-F238E27FC236}">
                <a16:creationId xmlns:a16="http://schemas.microsoft.com/office/drawing/2014/main" id="{7ECAEBFD-D34A-42F5-90F4-CE125E3F12E6}"/>
              </a:ext>
            </a:extLst>
          </p:cNvPr>
          <p:cNvSpPr>
            <a:spLocks noGrp="1"/>
          </p:cNvSpPr>
          <p:nvPr/>
        </p:nvSpPr>
        <p:spPr>
          <a:xfrm>
            <a:off x="7467600" y="2857500"/>
            <a:ext cx="1685925" cy="1000125"/>
          </a:xfrm>
          <a:prstGeom prst="rect">
            <a:avLst/>
          </a:prstGeom>
          <a:noFill/>
          <a:ln w="0">
            <a:noFill/>
            <a:prstDash val="solid"/>
          </a:ln>
        </p:spPr>
        <p:txBody>
          <a:bodyPr lIns="0" tIns="0" rIns="0" bIns="0" anchor="ctr">
            <a:normAutofit/>
          </a:bodyPr>
          <a:lstStyle/>
          <a:p>
            <a:pPr algn="ctr">
              <a:defRPr sz="1725" b="1">
                <a:solidFill>
                  <a:srgbClr val="111111"/>
                </a:solidFill>
                <a:latin typeface="Arial"/>
                <a:ea typeface="Arial"/>
                <a:cs typeface="Arial"/>
              </a:defRPr>
            </a:pPr>
            <a:r>
              <a:rPr sz="1725" b="1">
                <a:solidFill>
                  <a:srgbClr val="111111"/>
                </a:solidFill>
                <a:latin typeface="Arial"/>
                <a:ea typeface="Arial"/>
                <a:cs typeface="Arial"/>
              </a:rPr>
              <a:t>merge tokens</a:t>
            </a:r>
          </a:p>
          <a:p>
            <a:pPr algn="ctr">
              <a:defRPr sz="1725" b="1">
                <a:solidFill>
                  <a:srgbClr val="111111"/>
                </a:solidFill>
                <a:latin typeface="Arial"/>
                <a:ea typeface="Arial"/>
                <a:cs typeface="Arial"/>
              </a:defRPr>
            </a:pPr>
            <a:r>
              <a:rPr sz="1725" b="1">
                <a:solidFill>
                  <a:srgbClr val="111111"/>
                </a:solidFill>
                <a:latin typeface="Arial"/>
                <a:ea typeface="Arial"/>
                <a:cs typeface="Arial"/>
              </a:rPr>
              <a:t>match fields</a:t>
            </a:r>
          </a:p>
          <a:p>
            <a:pPr algn="ctr">
              <a:defRPr sz="1725" b="1">
                <a:solidFill>
                  <a:srgbClr val="111111"/>
                </a:solidFill>
                <a:latin typeface="Arial"/>
                <a:ea typeface="Arial"/>
                <a:cs typeface="Arial"/>
              </a:defRPr>
            </a:pPr>
            <a:r>
              <a:rPr sz="1725" b="1">
                <a:solidFill>
                  <a:srgbClr val="111111"/>
                </a:solidFill>
                <a:latin typeface="Arial"/>
                <a:ea typeface="Arial"/>
                <a:cs typeface="Arial"/>
              </a:rPr>
              <a:t>apply rules</a:t>
            </a:r>
          </a:p>
        </p:txBody>
      </p:sp>
      <p:sp>
        <p:nvSpPr>
          <p:cNvPr id="15" name="result">
            <a:extLst>
              <a:ext uri="{FF2B5EF4-FFF2-40B4-BE49-F238E27FC236}">
                <a16:creationId xmlns:a16="http://schemas.microsoft.com/office/drawing/2014/main" id="{3363D408-B318-4DA4-BD29-64AE2C4CB242}"/>
              </a:ext>
            </a:extLst>
          </p:cNvPr>
          <p:cNvSpPr>
            <a:spLocks noGrp="1"/>
          </p:cNvSpPr>
          <p:nvPr/>
        </p:nvSpPr>
        <p:spPr>
          <a:xfrm>
            <a:off x="10572750" y="1952625"/>
            <a:ext cx="1200150" cy="2333625"/>
          </a:xfrm>
          <a:prstGeom prst="rect">
            <a:avLst/>
          </a:prstGeom>
          <a:solidFill>
            <a:srgbClr val="D9F1FC"/>
          </a:solidFill>
          <a:ln w="9525">
            <a:solidFill>
              <a:srgbClr val="3D8DFF"/>
            </a:solidFill>
            <a:prstDash val="solid"/>
          </a:ln>
        </p:spPr>
        <p:txBody>
          <a:bodyPr/>
          <a:lstStyle/>
          <a:p>
            <a:endParaRPr lang="de-DE"/>
          </a:p>
        </p:txBody>
      </p:sp>
      <p:sp>
        <p:nvSpPr>
          <p:cNvPr id="16" name="result-h">
            <a:extLst>
              <a:ext uri="{FF2B5EF4-FFF2-40B4-BE49-F238E27FC236}">
                <a16:creationId xmlns:a16="http://schemas.microsoft.com/office/drawing/2014/main" id="{F58DEA1F-A5CF-45E8-83A5-436125D36FE6}"/>
              </a:ext>
            </a:extLst>
          </p:cNvPr>
          <p:cNvSpPr>
            <a:spLocks noGrp="1"/>
          </p:cNvSpPr>
          <p:nvPr/>
        </p:nvSpPr>
        <p:spPr>
          <a:xfrm>
            <a:off x="10668000" y="2190750"/>
            <a:ext cx="1009650" cy="333375"/>
          </a:xfrm>
          <a:prstGeom prst="rect">
            <a:avLst/>
          </a:prstGeom>
          <a:noFill/>
          <a:ln w="0">
            <a:noFill/>
            <a:prstDash val="solid"/>
          </a:ln>
        </p:spPr>
        <p:txBody>
          <a:bodyPr lIns="0" tIns="0" rIns="0" bIns="0" anchor="ctr">
            <a:normAutofit/>
          </a:bodyPr>
          <a:lstStyle/>
          <a:p>
            <a:pPr algn="ctr">
              <a:defRPr sz="1500" b="1">
                <a:solidFill>
                  <a:srgbClr val="3D8DFF"/>
                </a:solidFill>
                <a:latin typeface="Arial"/>
                <a:ea typeface="Arial"/>
                <a:cs typeface="Arial"/>
              </a:defRPr>
            </a:pPr>
            <a:r>
              <a:rPr sz="1500" b="1">
                <a:solidFill>
                  <a:srgbClr val="3D8DFF"/>
                </a:solidFill>
                <a:latin typeface="Arial"/>
                <a:ea typeface="Arial"/>
                <a:cs typeface="Arial"/>
              </a:rPr>
              <a:t>RESULT</a:t>
            </a:r>
          </a:p>
        </p:txBody>
      </p:sp>
      <p:sp>
        <p:nvSpPr>
          <p:cNvPr id="17" name="result-b">
            <a:extLst>
              <a:ext uri="{FF2B5EF4-FFF2-40B4-BE49-F238E27FC236}">
                <a16:creationId xmlns:a16="http://schemas.microsoft.com/office/drawing/2014/main" id="{9CBA0C9A-8987-4D92-B3A6-253A6D97AE25}"/>
              </a:ext>
            </a:extLst>
          </p:cNvPr>
          <p:cNvSpPr>
            <a:spLocks noGrp="1"/>
          </p:cNvSpPr>
          <p:nvPr/>
        </p:nvSpPr>
        <p:spPr>
          <a:xfrm>
            <a:off x="10668000" y="2857500"/>
            <a:ext cx="1009650" cy="1000125"/>
          </a:xfrm>
          <a:prstGeom prst="rect">
            <a:avLst/>
          </a:prstGeom>
          <a:noFill/>
          <a:ln w="0">
            <a:noFill/>
            <a:prstDash val="solid"/>
          </a:ln>
        </p:spPr>
        <p:txBody>
          <a:bodyPr lIns="0" tIns="0" rIns="0" bIns="0" anchor="ctr">
            <a:normAutofit/>
          </a:bodyPr>
          <a:lstStyle/>
          <a:p>
            <a:pPr algn="ctr">
              <a:defRPr sz="1500" b="1">
                <a:solidFill>
                  <a:srgbClr val="111111"/>
                </a:solidFill>
                <a:latin typeface="Arial"/>
                <a:ea typeface="Arial"/>
                <a:cs typeface="Arial"/>
              </a:defRPr>
            </a:pPr>
            <a:r>
              <a:rPr sz="1500" b="1">
                <a:solidFill>
                  <a:srgbClr val="111111"/>
                </a:solidFill>
                <a:latin typeface="Arial"/>
                <a:ea typeface="Arial"/>
                <a:cs typeface="Arial"/>
              </a:rPr>
              <a:t>validated</a:t>
            </a:r>
          </a:p>
          <a:p>
            <a:pPr algn="ctr">
              <a:defRPr sz="1500" b="1">
                <a:solidFill>
                  <a:srgbClr val="111111"/>
                </a:solidFill>
                <a:latin typeface="Arial"/>
                <a:ea typeface="Arial"/>
                <a:cs typeface="Arial"/>
              </a:defRPr>
            </a:pPr>
            <a:r>
              <a:rPr sz="1500" b="1">
                <a:solidFill>
                  <a:srgbClr val="111111"/>
                </a:solidFill>
                <a:latin typeface="Arial"/>
                <a:ea typeface="Arial"/>
                <a:cs typeface="Arial"/>
              </a:rPr>
              <a:t>structured</a:t>
            </a:r>
          </a:p>
          <a:p>
            <a:pPr algn="ctr">
              <a:defRPr sz="1500" b="1">
                <a:solidFill>
                  <a:srgbClr val="111111"/>
                </a:solidFill>
                <a:latin typeface="Arial"/>
                <a:ea typeface="Arial"/>
                <a:cs typeface="Arial"/>
              </a:defRPr>
            </a:pPr>
            <a:r>
              <a:rPr sz="1500" b="1">
                <a:solidFill>
                  <a:srgbClr val="111111"/>
                </a:solidFill>
                <a:latin typeface="Arial"/>
                <a:ea typeface="Arial"/>
                <a:cs typeface="Arial"/>
              </a:rPr>
              <a:t>data</a:t>
            </a:r>
          </a:p>
        </p:txBody>
      </p:sp>
      <p:sp>
        <p:nvSpPr>
          <p:cNvPr id="18" name="warning">
            <a:extLst>
              <a:ext uri="{FF2B5EF4-FFF2-40B4-BE49-F238E27FC236}">
                <a16:creationId xmlns:a16="http://schemas.microsoft.com/office/drawing/2014/main" id="{8E8254A8-78B4-438B-AC6D-652B899D938F}"/>
              </a:ext>
            </a:extLst>
          </p:cNvPr>
          <p:cNvSpPr>
            <a:spLocks noGrp="1"/>
          </p:cNvSpPr>
          <p:nvPr/>
        </p:nvSpPr>
        <p:spPr>
          <a:xfrm>
            <a:off x="952500" y="4905375"/>
            <a:ext cx="10287000" cy="666750"/>
          </a:xfrm>
          <a:prstGeom prst="rect">
            <a:avLst/>
          </a:prstGeom>
          <a:noFill/>
          <a:ln w="0">
            <a:noFill/>
            <a:prstDash val="solid"/>
          </a:ln>
        </p:spPr>
        <p:txBody>
          <a:bodyPr lIns="0" tIns="0" rIns="0" bIns="0" anchor="ctr">
            <a:normAutofit/>
          </a:bodyPr>
          <a:lstStyle/>
          <a:p>
            <a:pPr algn="ctr">
              <a:defRPr sz="2025" b="1">
                <a:solidFill>
                  <a:srgbClr val="C64B4B"/>
                </a:solidFill>
                <a:latin typeface="Arial"/>
                <a:ea typeface="Arial"/>
                <a:cs typeface="Arial"/>
              </a:defRPr>
            </a:pPr>
            <a:r>
              <a:rPr sz="2025" b="1">
                <a:solidFill>
                  <a:srgbClr val="C64B4B"/>
                </a:solidFill>
                <a:latin typeface="Arial"/>
                <a:ea typeface="Arial"/>
                <a:cs typeface="Arial"/>
              </a:rPr>
              <a:t>Do not silently replace the raw OCR output. Keep corrections traceable and reversible.</a:t>
            </a:r>
          </a:p>
        </p:txBody>
      </p:sp>
    </p:spTree>
    <p:extLst>
      <p:ext uri="{BB962C8B-B14F-4D97-AF65-F5344CB8AC3E}">
        <p14:creationId xmlns:p14="http://schemas.microsoft.com/office/powerpoint/2010/main" val="1787087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44623837-64D2-41E9-A085-EED84CE4D466}"/>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Ground truth is the answer key for evaluation</a:t>
            </a:r>
          </a:p>
        </p:txBody>
      </p:sp>
      <p:sp>
        <p:nvSpPr>
          <p:cNvPr id="2" name="page">
            <a:extLst>
              <a:ext uri="{FF2B5EF4-FFF2-40B4-BE49-F238E27FC236}">
                <a16:creationId xmlns:a16="http://schemas.microsoft.com/office/drawing/2014/main" id="{D32119BA-7CF0-499A-A63B-1600A4E06A40}"/>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21</a:t>
            </a:r>
            <a:endParaRPr sz="975" b="0">
              <a:solidFill>
                <a:srgbClr val="62666D"/>
              </a:solidFill>
              <a:latin typeface="Arial"/>
              <a:ea typeface="Arial"/>
              <a:cs typeface="Arial"/>
            </a:endParaRPr>
          </a:p>
        </p:txBody>
      </p:sp>
      <p:sp>
        <p:nvSpPr>
          <p:cNvPr id="3" name="image">
            <a:extLst>
              <a:ext uri="{FF2B5EF4-FFF2-40B4-BE49-F238E27FC236}">
                <a16:creationId xmlns:a16="http://schemas.microsoft.com/office/drawing/2014/main" id="{B39B36A6-1DFC-40A7-AB59-74EE46923A7A}"/>
              </a:ext>
            </a:extLst>
          </p:cNvPr>
          <p:cNvSpPr>
            <a:spLocks noGrp="1"/>
          </p:cNvSpPr>
          <p:nvPr/>
        </p:nvSpPr>
        <p:spPr>
          <a:xfrm>
            <a:off x="419100" y="1666875"/>
            <a:ext cx="3238500" cy="3143250"/>
          </a:xfrm>
          <a:prstGeom prst="rect">
            <a:avLst/>
          </a:prstGeom>
          <a:solidFill>
            <a:srgbClr val="F4F4F4"/>
          </a:solidFill>
          <a:ln w="9525">
            <a:solidFill>
              <a:srgbClr val="B8BCC4"/>
            </a:solidFill>
            <a:prstDash val="solid"/>
          </a:ln>
        </p:spPr>
        <p:txBody>
          <a:bodyPr/>
          <a:lstStyle/>
          <a:p>
            <a:endParaRPr lang="de-DE"/>
          </a:p>
        </p:txBody>
      </p:sp>
      <p:sp>
        <p:nvSpPr>
          <p:cNvPr id="4" name="image-label">
            <a:extLst>
              <a:ext uri="{FF2B5EF4-FFF2-40B4-BE49-F238E27FC236}">
                <a16:creationId xmlns:a16="http://schemas.microsoft.com/office/drawing/2014/main" id="{BC7DC9D3-3949-4F95-9E12-9D7B5989A83D}"/>
              </a:ext>
            </a:extLst>
          </p:cNvPr>
          <p:cNvSpPr>
            <a:spLocks noGrp="1"/>
          </p:cNvSpPr>
          <p:nvPr/>
        </p:nvSpPr>
        <p:spPr>
          <a:xfrm>
            <a:off x="685800" y="1857375"/>
            <a:ext cx="2667000" cy="266700"/>
          </a:xfrm>
          <a:prstGeom prst="rect">
            <a:avLst/>
          </a:prstGeom>
          <a:noFill/>
          <a:ln w="0">
            <a:noFill/>
            <a:prstDash val="solid"/>
          </a:ln>
        </p:spPr>
        <p:txBody>
          <a:bodyPr lIns="0" tIns="0" rIns="0" bIns="0" anchor="ctr">
            <a:normAutofit/>
          </a:bodyPr>
          <a:lstStyle/>
          <a:p>
            <a:pPr algn="ctr">
              <a:defRPr sz="1125" b="1">
                <a:solidFill>
                  <a:srgbClr val="62666D"/>
                </a:solidFill>
                <a:latin typeface="Arial"/>
                <a:ea typeface="Arial"/>
                <a:cs typeface="Arial"/>
              </a:defRPr>
            </a:pPr>
            <a:r>
              <a:rPr sz="1125" b="1">
                <a:solidFill>
                  <a:srgbClr val="62666D"/>
                </a:solidFill>
                <a:latin typeface="Arial"/>
                <a:ea typeface="Arial"/>
                <a:cs typeface="Arial"/>
              </a:rPr>
              <a:t>SYNTHETIC IMAGE</a:t>
            </a:r>
          </a:p>
        </p:txBody>
      </p:sp>
      <p:sp>
        <p:nvSpPr>
          <p:cNvPr id="5" name="image-text">
            <a:extLst>
              <a:ext uri="{FF2B5EF4-FFF2-40B4-BE49-F238E27FC236}">
                <a16:creationId xmlns:a16="http://schemas.microsoft.com/office/drawing/2014/main" id="{8FDDB8A3-47B3-4ABD-B56C-545D645D9CC3}"/>
              </a:ext>
            </a:extLst>
          </p:cNvPr>
          <p:cNvSpPr>
            <a:spLocks noGrp="1"/>
          </p:cNvSpPr>
          <p:nvPr/>
        </p:nvSpPr>
        <p:spPr>
          <a:xfrm>
            <a:off x="838200" y="2857500"/>
            <a:ext cx="2400300" cy="666750"/>
          </a:xfrm>
          <a:prstGeom prst="rect">
            <a:avLst/>
          </a:prstGeom>
          <a:noFill/>
          <a:ln w="0">
            <a:noFill/>
            <a:prstDash val="solid"/>
          </a:ln>
        </p:spPr>
        <p:txBody>
          <a:bodyPr lIns="0" tIns="0" rIns="0" bIns="0" anchor="ctr">
            <a:normAutofit/>
          </a:bodyPr>
          <a:lstStyle/>
          <a:p>
            <a:pPr algn="ctr">
              <a:defRPr sz="2550" b="1">
                <a:solidFill>
                  <a:srgbClr val="111111"/>
                </a:solidFill>
                <a:latin typeface="Consolas"/>
                <a:ea typeface="Consolas"/>
                <a:cs typeface="Consolas"/>
              </a:defRPr>
            </a:pPr>
            <a:r>
              <a:rPr sz="2550" b="1">
                <a:solidFill>
                  <a:srgbClr val="111111"/>
                </a:solidFill>
                <a:latin typeface="Consolas"/>
                <a:ea typeface="Consolas"/>
                <a:cs typeface="Consolas"/>
              </a:rPr>
              <a:t>TOTAL  €7.70</a:t>
            </a:r>
          </a:p>
        </p:txBody>
      </p:sp>
      <p:sp>
        <p:nvSpPr>
          <p:cNvPr id="6" name="gt">
            <a:extLst>
              <a:ext uri="{FF2B5EF4-FFF2-40B4-BE49-F238E27FC236}">
                <a16:creationId xmlns:a16="http://schemas.microsoft.com/office/drawing/2014/main" id="{5CFB8C1D-3326-4915-A3D4-4F5306ECBC19}"/>
              </a:ext>
            </a:extLst>
          </p:cNvPr>
          <p:cNvSpPr>
            <a:spLocks noGrp="1"/>
          </p:cNvSpPr>
          <p:nvPr/>
        </p:nvSpPr>
        <p:spPr>
          <a:xfrm>
            <a:off x="4476750" y="1666875"/>
            <a:ext cx="3238500" cy="3143250"/>
          </a:xfrm>
          <a:prstGeom prst="rect">
            <a:avLst/>
          </a:prstGeom>
          <a:solidFill>
            <a:srgbClr val="D9F1FC"/>
          </a:solidFill>
          <a:ln w="9525">
            <a:solidFill>
              <a:srgbClr val="3D8DFF"/>
            </a:solidFill>
            <a:prstDash val="solid"/>
          </a:ln>
        </p:spPr>
        <p:txBody>
          <a:bodyPr/>
          <a:lstStyle/>
          <a:p>
            <a:endParaRPr lang="de-DE"/>
          </a:p>
        </p:txBody>
      </p:sp>
      <p:sp>
        <p:nvSpPr>
          <p:cNvPr id="7" name="gt-label">
            <a:extLst>
              <a:ext uri="{FF2B5EF4-FFF2-40B4-BE49-F238E27FC236}">
                <a16:creationId xmlns:a16="http://schemas.microsoft.com/office/drawing/2014/main" id="{5EE87A34-4A0F-4922-BB30-A3DF54607020}"/>
              </a:ext>
            </a:extLst>
          </p:cNvPr>
          <p:cNvSpPr>
            <a:spLocks noGrp="1"/>
          </p:cNvSpPr>
          <p:nvPr/>
        </p:nvSpPr>
        <p:spPr>
          <a:xfrm>
            <a:off x="4762500" y="1857375"/>
            <a:ext cx="2667000" cy="266700"/>
          </a:xfrm>
          <a:prstGeom prst="rect">
            <a:avLst/>
          </a:prstGeom>
          <a:noFill/>
          <a:ln w="0">
            <a:noFill/>
            <a:prstDash val="solid"/>
          </a:ln>
        </p:spPr>
        <p:txBody>
          <a:bodyPr lIns="0" tIns="0" rIns="0" bIns="0" anchor="ctr">
            <a:normAutofit/>
          </a:bodyPr>
          <a:lstStyle/>
          <a:p>
            <a:pPr algn="ctr">
              <a:defRPr sz="1125" b="1">
                <a:solidFill>
                  <a:srgbClr val="3D8DFF"/>
                </a:solidFill>
                <a:latin typeface="Arial"/>
                <a:ea typeface="Arial"/>
                <a:cs typeface="Arial"/>
              </a:defRPr>
            </a:pPr>
            <a:r>
              <a:rPr sz="1125" b="1">
                <a:solidFill>
                  <a:srgbClr val="3D8DFF"/>
                </a:solidFill>
                <a:latin typeface="Arial"/>
                <a:ea typeface="Arial"/>
                <a:cs typeface="Arial"/>
              </a:rPr>
              <a:t>GROUND TRUTH</a:t>
            </a:r>
          </a:p>
        </p:txBody>
      </p:sp>
      <p:sp>
        <p:nvSpPr>
          <p:cNvPr id="8" name="gt-text">
            <a:extLst>
              <a:ext uri="{FF2B5EF4-FFF2-40B4-BE49-F238E27FC236}">
                <a16:creationId xmlns:a16="http://schemas.microsoft.com/office/drawing/2014/main" id="{2CB1478D-8D5D-4DB7-BA76-3C3345ECB0C4}"/>
              </a:ext>
            </a:extLst>
          </p:cNvPr>
          <p:cNvSpPr>
            <a:spLocks noGrp="1"/>
          </p:cNvSpPr>
          <p:nvPr/>
        </p:nvSpPr>
        <p:spPr>
          <a:xfrm>
            <a:off x="4762500" y="2524125"/>
            <a:ext cx="2667000" cy="1428750"/>
          </a:xfrm>
          <a:prstGeom prst="rect">
            <a:avLst/>
          </a:prstGeom>
          <a:noFill/>
          <a:ln w="0">
            <a:noFill/>
            <a:prstDash val="solid"/>
          </a:ln>
        </p:spPr>
        <p:txBody>
          <a:bodyPr lIns="0" tIns="0" rIns="0" bIns="0" anchor="ctr">
            <a:normAutofit/>
          </a:bodyPr>
          <a:lstStyle/>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a:t>
            </a:r>
          </a:p>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 "text": "TOTAL €7.70",</a:t>
            </a:r>
          </a:p>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 "bbox": [88, 300, 252, 70]</a:t>
            </a:r>
          </a:p>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a:t>
            </a:r>
          </a:p>
        </p:txBody>
      </p:sp>
      <p:sp>
        <p:nvSpPr>
          <p:cNvPr id="9" name="pred">
            <a:extLst>
              <a:ext uri="{FF2B5EF4-FFF2-40B4-BE49-F238E27FC236}">
                <a16:creationId xmlns:a16="http://schemas.microsoft.com/office/drawing/2014/main" id="{0E48E5CD-EF2E-4B05-B951-C8B816065A91}"/>
              </a:ext>
            </a:extLst>
          </p:cNvPr>
          <p:cNvSpPr>
            <a:spLocks noGrp="1"/>
          </p:cNvSpPr>
          <p:nvPr/>
        </p:nvSpPr>
        <p:spPr>
          <a:xfrm>
            <a:off x="8534400" y="1666875"/>
            <a:ext cx="3238500" cy="3143250"/>
          </a:xfrm>
          <a:prstGeom prst="rect">
            <a:avLst/>
          </a:prstGeom>
          <a:solidFill>
            <a:srgbClr val="EDEDED"/>
          </a:solidFill>
          <a:ln w="9525">
            <a:solidFill>
              <a:srgbClr val="B8BCC4"/>
            </a:solidFill>
            <a:prstDash val="solid"/>
          </a:ln>
        </p:spPr>
        <p:txBody>
          <a:bodyPr/>
          <a:lstStyle/>
          <a:p>
            <a:endParaRPr lang="de-DE"/>
          </a:p>
        </p:txBody>
      </p:sp>
      <p:sp>
        <p:nvSpPr>
          <p:cNvPr id="10" name="pred-label">
            <a:extLst>
              <a:ext uri="{FF2B5EF4-FFF2-40B4-BE49-F238E27FC236}">
                <a16:creationId xmlns:a16="http://schemas.microsoft.com/office/drawing/2014/main" id="{5A450881-1A7C-4D8A-A80F-E329E5CA8CDB}"/>
              </a:ext>
            </a:extLst>
          </p:cNvPr>
          <p:cNvSpPr>
            <a:spLocks noGrp="1"/>
          </p:cNvSpPr>
          <p:nvPr/>
        </p:nvSpPr>
        <p:spPr>
          <a:xfrm>
            <a:off x="8820150" y="1857375"/>
            <a:ext cx="2667000" cy="266700"/>
          </a:xfrm>
          <a:prstGeom prst="rect">
            <a:avLst/>
          </a:prstGeom>
          <a:noFill/>
          <a:ln w="0">
            <a:noFill/>
            <a:prstDash val="solid"/>
          </a:ln>
        </p:spPr>
        <p:txBody>
          <a:bodyPr lIns="0" tIns="0" rIns="0" bIns="0" anchor="ctr">
            <a:normAutofit/>
          </a:bodyPr>
          <a:lstStyle/>
          <a:p>
            <a:pPr algn="ctr">
              <a:defRPr sz="1125" b="1">
                <a:solidFill>
                  <a:srgbClr val="62666D"/>
                </a:solidFill>
                <a:latin typeface="Arial"/>
                <a:ea typeface="Arial"/>
                <a:cs typeface="Arial"/>
              </a:defRPr>
            </a:pPr>
            <a:r>
              <a:rPr sz="1125" b="1">
                <a:solidFill>
                  <a:srgbClr val="62666D"/>
                </a:solidFill>
                <a:latin typeface="Arial"/>
                <a:ea typeface="Arial"/>
                <a:cs typeface="Arial"/>
              </a:rPr>
              <a:t>PREDICTION</a:t>
            </a:r>
          </a:p>
        </p:txBody>
      </p:sp>
      <p:sp>
        <p:nvSpPr>
          <p:cNvPr id="11" name="pred-text">
            <a:extLst>
              <a:ext uri="{FF2B5EF4-FFF2-40B4-BE49-F238E27FC236}">
                <a16:creationId xmlns:a16="http://schemas.microsoft.com/office/drawing/2014/main" id="{71A9E9A3-34E2-45FA-88F9-FB516D5CA9BD}"/>
              </a:ext>
            </a:extLst>
          </p:cNvPr>
          <p:cNvSpPr>
            <a:spLocks noGrp="1"/>
          </p:cNvSpPr>
          <p:nvPr/>
        </p:nvSpPr>
        <p:spPr>
          <a:xfrm>
            <a:off x="8820150" y="2524125"/>
            <a:ext cx="2667000" cy="1428750"/>
          </a:xfrm>
          <a:prstGeom prst="rect">
            <a:avLst/>
          </a:prstGeom>
          <a:noFill/>
          <a:ln w="0">
            <a:noFill/>
            <a:prstDash val="solid"/>
          </a:ln>
        </p:spPr>
        <p:txBody>
          <a:bodyPr lIns="0" tIns="0" rIns="0" bIns="0" anchor="ctr">
            <a:normAutofit/>
          </a:bodyPr>
          <a:lstStyle/>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a:t>
            </a:r>
          </a:p>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 "text": "TOTAI €7.70",</a:t>
            </a:r>
          </a:p>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 "bbox": [91, 302, 248, 68]</a:t>
            </a:r>
          </a:p>
          <a:p>
            <a:pPr algn="l">
              <a:defRPr sz="1650" b="1">
                <a:solidFill>
                  <a:srgbClr val="111111"/>
                </a:solidFill>
                <a:latin typeface="Consolas"/>
                <a:ea typeface="Consolas"/>
                <a:cs typeface="Consolas"/>
              </a:defRPr>
            </a:pPr>
            <a:r>
              <a:rPr sz="1650" b="1">
                <a:solidFill>
                  <a:srgbClr val="111111"/>
                </a:solidFill>
                <a:latin typeface="Consolas"/>
                <a:ea typeface="Consolas"/>
                <a:cs typeface="Consolas"/>
              </a:rPr>
              <a:t>}</a:t>
            </a:r>
          </a:p>
        </p:txBody>
      </p:sp>
      <p:sp>
        <p:nvSpPr>
          <p:cNvPr id="12" name="take">
            <a:extLst>
              <a:ext uri="{FF2B5EF4-FFF2-40B4-BE49-F238E27FC236}">
                <a16:creationId xmlns:a16="http://schemas.microsoft.com/office/drawing/2014/main" id="{CEC80756-FC02-427C-A0B7-8DB57DCF9E58}"/>
              </a:ext>
            </a:extLst>
          </p:cNvPr>
          <p:cNvSpPr>
            <a:spLocks noGrp="1"/>
          </p:cNvSpPr>
          <p:nvPr/>
        </p:nvSpPr>
        <p:spPr>
          <a:xfrm>
            <a:off x="419100" y="5334000"/>
            <a:ext cx="10953750" cy="523875"/>
          </a:xfrm>
          <a:prstGeom prst="rect">
            <a:avLst/>
          </a:prstGeom>
          <a:noFill/>
          <a:ln w="0">
            <a:noFill/>
            <a:prstDash val="solid"/>
          </a:ln>
        </p:spPr>
        <p:txBody>
          <a:bodyPr lIns="0" tIns="0" rIns="0" bIns="0" anchor="ctr">
            <a:normAutofit/>
          </a:bodyPr>
          <a:lstStyle/>
          <a:p>
            <a:pPr algn="ctr">
              <a:defRPr sz="2025" b="1">
                <a:solidFill>
                  <a:srgbClr val="111111"/>
                </a:solidFill>
                <a:latin typeface="Arial"/>
                <a:ea typeface="Arial"/>
                <a:cs typeface="Arial"/>
              </a:defRPr>
            </a:pPr>
            <a:r>
              <a:rPr sz="2025" b="1">
                <a:solidFill>
                  <a:srgbClr val="111111"/>
                </a:solidFill>
                <a:latin typeface="Arial"/>
                <a:ea typeface="Arial"/>
                <a:cs typeface="Arial"/>
              </a:rPr>
              <a:t>Ground truth is manually verified and kept separate from OCR output.</a:t>
            </a:r>
          </a:p>
        </p:txBody>
      </p:sp>
    </p:spTree>
    <p:extLst>
      <p:ext uri="{BB962C8B-B14F-4D97-AF65-F5344CB8AC3E}">
        <p14:creationId xmlns:p14="http://schemas.microsoft.com/office/powerpoint/2010/main" val="580826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5438FFC7-C144-4A27-BF9F-96D756B4E1BE}"/>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Evaluation turns examples into a repeatable experiment</a:t>
            </a:r>
          </a:p>
        </p:txBody>
      </p:sp>
      <p:sp>
        <p:nvSpPr>
          <p:cNvPr id="2" name="page">
            <a:extLst>
              <a:ext uri="{FF2B5EF4-FFF2-40B4-BE49-F238E27FC236}">
                <a16:creationId xmlns:a16="http://schemas.microsoft.com/office/drawing/2014/main" id="{E42B9DE6-EA7F-4D2D-A45A-E0305F50F832}"/>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22</a:t>
            </a:r>
            <a:endParaRPr sz="975" b="0">
              <a:solidFill>
                <a:srgbClr val="62666D"/>
              </a:solidFill>
              <a:latin typeface="Arial"/>
              <a:ea typeface="Arial"/>
              <a:cs typeface="Arial"/>
            </a:endParaRPr>
          </a:p>
        </p:txBody>
      </p:sp>
      <p:sp>
        <p:nvSpPr>
          <p:cNvPr id="3" name="step0">
            <a:extLst>
              <a:ext uri="{FF2B5EF4-FFF2-40B4-BE49-F238E27FC236}">
                <a16:creationId xmlns:a16="http://schemas.microsoft.com/office/drawing/2014/main" id="{E21734B6-78C7-4E7A-B334-16962EC19B33}"/>
              </a:ext>
            </a:extLst>
          </p:cNvPr>
          <p:cNvSpPr>
            <a:spLocks noGrp="1"/>
          </p:cNvSpPr>
          <p:nvPr/>
        </p:nvSpPr>
        <p:spPr>
          <a:xfrm>
            <a:off x="419100" y="1809750"/>
            <a:ext cx="2381250" cy="2857500"/>
          </a:xfrm>
          <a:prstGeom prst="rect">
            <a:avLst/>
          </a:prstGeom>
          <a:solidFill>
            <a:srgbClr val="EDEDED"/>
          </a:solidFill>
          <a:ln w="0">
            <a:noFill/>
            <a:prstDash val="solid"/>
          </a:ln>
        </p:spPr>
        <p:txBody>
          <a:bodyPr/>
          <a:lstStyle/>
          <a:p>
            <a:endParaRPr lang="de-DE"/>
          </a:p>
        </p:txBody>
      </p:sp>
      <p:sp>
        <p:nvSpPr>
          <p:cNvPr id="4" name="head0">
            <a:extLst>
              <a:ext uri="{FF2B5EF4-FFF2-40B4-BE49-F238E27FC236}">
                <a16:creationId xmlns:a16="http://schemas.microsoft.com/office/drawing/2014/main" id="{0321F470-6C49-4F19-999B-0803B40E293C}"/>
              </a:ext>
            </a:extLst>
          </p:cNvPr>
          <p:cNvSpPr>
            <a:spLocks noGrp="1"/>
          </p:cNvSpPr>
          <p:nvPr/>
        </p:nvSpPr>
        <p:spPr>
          <a:xfrm>
            <a:off x="609600" y="2095500"/>
            <a:ext cx="2000250" cy="428625"/>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1  Freeze</a:t>
            </a:r>
          </a:p>
        </p:txBody>
      </p:sp>
      <p:sp>
        <p:nvSpPr>
          <p:cNvPr id="5" name="body0">
            <a:extLst>
              <a:ext uri="{FF2B5EF4-FFF2-40B4-BE49-F238E27FC236}">
                <a16:creationId xmlns:a16="http://schemas.microsoft.com/office/drawing/2014/main" id="{C4DDCA22-D468-4054-BD62-7D1B57E230C7}"/>
              </a:ext>
            </a:extLst>
          </p:cNvPr>
          <p:cNvSpPr>
            <a:spLocks noGrp="1"/>
          </p:cNvSpPr>
          <p:nvPr/>
        </p:nvSpPr>
        <p:spPr>
          <a:xfrm>
            <a:off x="609600" y="2762250"/>
            <a:ext cx="2000250" cy="1238250"/>
          </a:xfrm>
          <a:prstGeom prst="rect">
            <a:avLst/>
          </a:prstGeom>
          <a:noFill/>
          <a:ln w="0">
            <a:noFill/>
            <a:prstDash val="solid"/>
          </a:ln>
        </p:spPr>
        <p:txBody>
          <a:bodyPr lIns="0" tIns="0" rIns="0" bIns="0" anchor="ctr">
            <a:normAutofit/>
          </a:bodyPr>
          <a:lstStyle/>
          <a:p>
            <a:pPr algn="l">
              <a:defRPr sz="1575" b="0">
                <a:solidFill>
                  <a:srgbClr val="111111"/>
                </a:solidFill>
                <a:latin typeface="Arial"/>
                <a:ea typeface="Arial"/>
                <a:cs typeface="Arial"/>
              </a:defRPr>
            </a:pPr>
            <a:r>
              <a:rPr sz="1575" b="0">
                <a:solidFill>
                  <a:srgbClr val="111111"/>
                </a:solidFill>
                <a:latin typeface="Arial"/>
                <a:ea typeface="Arial"/>
                <a:cs typeface="Arial"/>
              </a:rPr>
              <a:t>Fix the synthetic images and ground truth.</a:t>
            </a:r>
          </a:p>
        </p:txBody>
      </p:sp>
      <p:sp>
        <p:nvSpPr>
          <p:cNvPr id="6" name="step1">
            <a:extLst>
              <a:ext uri="{FF2B5EF4-FFF2-40B4-BE49-F238E27FC236}">
                <a16:creationId xmlns:a16="http://schemas.microsoft.com/office/drawing/2014/main" id="{80177362-A01E-484E-8205-8EC44111597A}"/>
              </a:ext>
            </a:extLst>
          </p:cNvPr>
          <p:cNvSpPr>
            <a:spLocks noGrp="1"/>
          </p:cNvSpPr>
          <p:nvPr/>
        </p:nvSpPr>
        <p:spPr>
          <a:xfrm>
            <a:off x="3219450" y="1809750"/>
            <a:ext cx="2381250" cy="2857500"/>
          </a:xfrm>
          <a:prstGeom prst="rect">
            <a:avLst/>
          </a:prstGeom>
          <a:solidFill>
            <a:srgbClr val="EDEDED"/>
          </a:solidFill>
          <a:ln w="0">
            <a:noFill/>
            <a:prstDash val="solid"/>
          </a:ln>
        </p:spPr>
        <p:txBody>
          <a:bodyPr/>
          <a:lstStyle/>
          <a:p>
            <a:endParaRPr lang="de-DE"/>
          </a:p>
        </p:txBody>
      </p:sp>
      <p:sp>
        <p:nvSpPr>
          <p:cNvPr id="7" name="head1">
            <a:extLst>
              <a:ext uri="{FF2B5EF4-FFF2-40B4-BE49-F238E27FC236}">
                <a16:creationId xmlns:a16="http://schemas.microsoft.com/office/drawing/2014/main" id="{FFD73F6F-220A-4068-AD94-6950A68929F4}"/>
              </a:ext>
            </a:extLst>
          </p:cNvPr>
          <p:cNvSpPr>
            <a:spLocks noGrp="1"/>
          </p:cNvSpPr>
          <p:nvPr/>
        </p:nvSpPr>
        <p:spPr>
          <a:xfrm>
            <a:off x="3409950" y="2095500"/>
            <a:ext cx="2000250" cy="428625"/>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2  Run</a:t>
            </a:r>
          </a:p>
        </p:txBody>
      </p:sp>
      <p:sp>
        <p:nvSpPr>
          <p:cNvPr id="8" name="body1">
            <a:extLst>
              <a:ext uri="{FF2B5EF4-FFF2-40B4-BE49-F238E27FC236}">
                <a16:creationId xmlns:a16="http://schemas.microsoft.com/office/drawing/2014/main" id="{55587C80-6A7B-47D5-9703-881B0BCACFF5}"/>
              </a:ext>
            </a:extLst>
          </p:cNvPr>
          <p:cNvSpPr>
            <a:spLocks noGrp="1"/>
          </p:cNvSpPr>
          <p:nvPr/>
        </p:nvSpPr>
        <p:spPr>
          <a:xfrm>
            <a:off x="3409950" y="2762250"/>
            <a:ext cx="2000250" cy="1238250"/>
          </a:xfrm>
          <a:prstGeom prst="rect">
            <a:avLst/>
          </a:prstGeom>
          <a:noFill/>
          <a:ln w="0">
            <a:noFill/>
            <a:prstDash val="solid"/>
          </a:ln>
        </p:spPr>
        <p:txBody>
          <a:bodyPr lIns="0" tIns="0" rIns="0" bIns="0" anchor="ctr">
            <a:normAutofit/>
          </a:bodyPr>
          <a:lstStyle/>
          <a:p>
            <a:pPr algn="l">
              <a:defRPr sz="1575" b="0">
                <a:solidFill>
                  <a:srgbClr val="111111"/>
                </a:solidFill>
                <a:latin typeface="Arial"/>
                <a:ea typeface="Arial"/>
                <a:cs typeface="Arial"/>
              </a:defRPr>
            </a:pPr>
            <a:r>
              <a:rPr sz="1575" b="0">
                <a:solidFill>
                  <a:srgbClr val="111111"/>
                </a:solidFill>
                <a:latin typeface="Arial"/>
                <a:ea typeface="Arial"/>
                <a:cs typeface="Arial"/>
              </a:rPr>
              <a:t>Apply every method with documented settings.</a:t>
            </a:r>
          </a:p>
        </p:txBody>
      </p:sp>
      <p:sp>
        <p:nvSpPr>
          <p:cNvPr id="9" name="step2">
            <a:extLst>
              <a:ext uri="{FF2B5EF4-FFF2-40B4-BE49-F238E27FC236}">
                <a16:creationId xmlns:a16="http://schemas.microsoft.com/office/drawing/2014/main" id="{7F67EB5A-2889-4DC5-BD99-3160AF02A8FA}"/>
              </a:ext>
            </a:extLst>
          </p:cNvPr>
          <p:cNvSpPr>
            <a:spLocks noGrp="1"/>
          </p:cNvSpPr>
          <p:nvPr/>
        </p:nvSpPr>
        <p:spPr>
          <a:xfrm>
            <a:off x="6019800" y="1809750"/>
            <a:ext cx="2381250" cy="2857500"/>
          </a:xfrm>
          <a:prstGeom prst="rect">
            <a:avLst/>
          </a:prstGeom>
          <a:solidFill>
            <a:srgbClr val="D9F1FC"/>
          </a:solidFill>
          <a:ln w="9525">
            <a:solidFill>
              <a:srgbClr val="3D8DFF"/>
            </a:solidFill>
            <a:prstDash val="solid"/>
          </a:ln>
        </p:spPr>
        <p:txBody>
          <a:bodyPr/>
          <a:lstStyle/>
          <a:p>
            <a:endParaRPr lang="de-DE"/>
          </a:p>
        </p:txBody>
      </p:sp>
      <p:sp>
        <p:nvSpPr>
          <p:cNvPr id="10" name="head2">
            <a:extLst>
              <a:ext uri="{FF2B5EF4-FFF2-40B4-BE49-F238E27FC236}">
                <a16:creationId xmlns:a16="http://schemas.microsoft.com/office/drawing/2014/main" id="{16323A59-79CD-4F08-A0D0-8E057661CA22}"/>
              </a:ext>
            </a:extLst>
          </p:cNvPr>
          <p:cNvSpPr>
            <a:spLocks noGrp="1"/>
          </p:cNvSpPr>
          <p:nvPr/>
        </p:nvSpPr>
        <p:spPr>
          <a:xfrm>
            <a:off x="6210300" y="2095500"/>
            <a:ext cx="2000250" cy="428625"/>
          </a:xfrm>
          <a:prstGeom prst="rect">
            <a:avLst/>
          </a:prstGeom>
          <a:noFill/>
          <a:ln w="0">
            <a:noFill/>
            <a:prstDash val="solid"/>
          </a:ln>
        </p:spPr>
        <p:txBody>
          <a:bodyPr lIns="0" tIns="0" rIns="0" bIns="0" anchor="ctr">
            <a:normAutofit/>
          </a:bodyPr>
          <a:lstStyle/>
          <a:p>
            <a:pPr algn="l">
              <a:defRPr sz="1800" b="1">
                <a:solidFill>
                  <a:srgbClr val="3D8DFF"/>
                </a:solidFill>
                <a:latin typeface="Arial"/>
                <a:ea typeface="Arial"/>
                <a:cs typeface="Arial"/>
              </a:defRPr>
            </a:pPr>
            <a:r>
              <a:rPr sz="1800" b="1">
                <a:solidFill>
                  <a:srgbClr val="3D8DFF"/>
                </a:solidFill>
                <a:latin typeface="Arial"/>
                <a:ea typeface="Arial"/>
                <a:cs typeface="Arial"/>
              </a:rPr>
              <a:t>3  Compare</a:t>
            </a:r>
          </a:p>
        </p:txBody>
      </p:sp>
      <p:sp>
        <p:nvSpPr>
          <p:cNvPr id="11" name="body2">
            <a:extLst>
              <a:ext uri="{FF2B5EF4-FFF2-40B4-BE49-F238E27FC236}">
                <a16:creationId xmlns:a16="http://schemas.microsoft.com/office/drawing/2014/main" id="{E181E2DD-26B2-4997-969F-622D6C97E8FE}"/>
              </a:ext>
            </a:extLst>
          </p:cNvPr>
          <p:cNvSpPr>
            <a:spLocks noGrp="1"/>
          </p:cNvSpPr>
          <p:nvPr/>
        </p:nvSpPr>
        <p:spPr>
          <a:xfrm>
            <a:off x="6210300" y="2762250"/>
            <a:ext cx="2000250" cy="1238250"/>
          </a:xfrm>
          <a:prstGeom prst="rect">
            <a:avLst/>
          </a:prstGeom>
          <a:noFill/>
          <a:ln w="0">
            <a:noFill/>
            <a:prstDash val="solid"/>
          </a:ln>
        </p:spPr>
        <p:txBody>
          <a:bodyPr lIns="0" tIns="0" rIns="0" bIns="0" anchor="ctr">
            <a:normAutofit/>
          </a:bodyPr>
          <a:lstStyle/>
          <a:p>
            <a:pPr algn="l">
              <a:defRPr sz="1575" b="0">
                <a:solidFill>
                  <a:srgbClr val="111111"/>
                </a:solidFill>
                <a:latin typeface="Arial"/>
                <a:ea typeface="Arial"/>
                <a:cs typeface="Arial"/>
              </a:defRPr>
            </a:pPr>
            <a:r>
              <a:rPr sz="1575" b="0">
                <a:solidFill>
                  <a:srgbClr val="111111"/>
                </a:solidFill>
                <a:latin typeface="Arial"/>
                <a:ea typeface="Arial"/>
                <a:cs typeface="Arial"/>
              </a:rPr>
              <a:t>Normalize outputs and calculate the same metrics.</a:t>
            </a:r>
          </a:p>
        </p:txBody>
      </p:sp>
      <p:sp>
        <p:nvSpPr>
          <p:cNvPr id="12" name="step3">
            <a:extLst>
              <a:ext uri="{FF2B5EF4-FFF2-40B4-BE49-F238E27FC236}">
                <a16:creationId xmlns:a16="http://schemas.microsoft.com/office/drawing/2014/main" id="{8E351A7B-499A-4E70-A61C-B5CCEAC5EAF3}"/>
              </a:ext>
            </a:extLst>
          </p:cNvPr>
          <p:cNvSpPr>
            <a:spLocks noGrp="1"/>
          </p:cNvSpPr>
          <p:nvPr/>
        </p:nvSpPr>
        <p:spPr>
          <a:xfrm>
            <a:off x="8820150" y="1809750"/>
            <a:ext cx="2381250" cy="2857500"/>
          </a:xfrm>
          <a:prstGeom prst="rect">
            <a:avLst/>
          </a:prstGeom>
          <a:solidFill>
            <a:srgbClr val="EDEDED"/>
          </a:solidFill>
          <a:ln w="0">
            <a:noFill/>
            <a:prstDash val="solid"/>
          </a:ln>
        </p:spPr>
        <p:txBody>
          <a:bodyPr/>
          <a:lstStyle/>
          <a:p>
            <a:endParaRPr lang="de-DE"/>
          </a:p>
        </p:txBody>
      </p:sp>
      <p:sp>
        <p:nvSpPr>
          <p:cNvPr id="13" name="head3">
            <a:extLst>
              <a:ext uri="{FF2B5EF4-FFF2-40B4-BE49-F238E27FC236}">
                <a16:creationId xmlns:a16="http://schemas.microsoft.com/office/drawing/2014/main" id="{C3734305-CDFF-4835-BAE9-DA91DEF1197A}"/>
              </a:ext>
            </a:extLst>
          </p:cNvPr>
          <p:cNvSpPr>
            <a:spLocks noGrp="1"/>
          </p:cNvSpPr>
          <p:nvPr/>
        </p:nvSpPr>
        <p:spPr>
          <a:xfrm>
            <a:off x="9010650" y="2095500"/>
            <a:ext cx="2000250" cy="428625"/>
          </a:xfrm>
          <a:prstGeom prst="rect">
            <a:avLst/>
          </a:prstGeom>
          <a:noFill/>
          <a:ln w="0">
            <a:noFill/>
            <a:prstDash val="solid"/>
          </a:ln>
        </p:spPr>
        <p:txBody>
          <a:bodyPr lIns="0" tIns="0" rIns="0" bIns="0" anchor="ctr">
            <a:normAutofit/>
          </a:bodyPr>
          <a:lstStyle/>
          <a:p>
            <a:pPr algn="l">
              <a:defRPr sz="1800" b="1">
                <a:solidFill>
                  <a:srgbClr val="111111"/>
                </a:solidFill>
                <a:latin typeface="Arial"/>
                <a:ea typeface="Arial"/>
                <a:cs typeface="Arial"/>
              </a:defRPr>
            </a:pPr>
            <a:r>
              <a:rPr sz="1800" b="1">
                <a:solidFill>
                  <a:srgbClr val="111111"/>
                </a:solidFill>
                <a:latin typeface="Arial"/>
                <a:ea typeface="Arial"/>
                <a:cs typeface="Arial"/>
              </a:rPr>
              <a:t>4  Explain</a:t>
            </a:r>
          </a:p>
        </p:txBody>
      </p:sp>
      <p:sp>
        <p:nvSpPr>
          <p:cNvPr id="14" name="body3">
            <a:extLst>
              <a:ext uri="{FF2B5EF4-FFF2-40B4-BE49-F238E27FC236}">
                <a16:creationId xmlns:a16="http://schemas.microsoft.com/office/drawing/2014/main" id="{EFD96A95-FE52-4BF8-BB6C-40112FE059BA}"/>
              </a:ext>
            </a:extLst>
          </p:cNvPr>
          <p:cNvSpPr>
            <a:spLocks noGrp="1"/>
          </p:cNvSpPr>
          <p:nvPr/>
        </p:nvSpPr>
        <p:spPr>
          <a:xfrm>
            <a:off x="9010650" y="2762250"/>
            <a:ext cx="2000250" cy="1238250"/>
          </a:xfrm>
          <a:prstGeom prst="rect">
            <a:avLst/>
          </a:prstGeom>
          <a:noFill/>
          <a:ln w="0">
            <a:noFill/>
            <a:prstDash val="solid"/>
          </a:ln>
        </p:spPr>
        <p:txBody>
          <a:bodyPr lIns="0" tIns="0" rIns="0" bIns="0" anchor="ctr">
            <a:normAutofit/>
          </a:bodyPr>
          <a:lstStyle/>
          <a:p>
            <a:pPr algn="l">
              <a:defRPr sz="1575" b="0">
                <a:solidFill>
                  <a:srgbClr val="111111"/>
                </a:solidFill>
                <a:latin typeface="Arial"/>
                <a:ea typeface="Arial"/>
                <a:cs typeface="Arial"/>
              </a:defRPr>
            </a:pPr>
            <a:r>
              <a:rPr sz="1575" b="0">
                <a:solidFill>
                  <a:srgbClr val="111111"/>
                </a:solidFill>
                <a:latin typeface="Arial"/>
                <a:ea typeface="Arial"/>
                <a:cs typeface="Arial"/>
              </a:rPr>
              <a:t>Inspect failures by image, field, and error type.</a:t>
            </a:r>
          </a:p>
        </p:txBody>
      </p:sp>
      <p:sp>
        <p:nvSpPr>
          <p:cNvPr id="15" name="rule">
            <a:extLst>
              <a:ext uri="{FF2B5EF4-FFF2-40B4-BE49-F238E27FC236}">
                <a16:creationId xmlns:a16="http://schemas.microsoft.com/office/drawing/2014/main" id="{BAB80CBC-5489-4E74-816D-1641B0A164F5}"/>
              </a:ext>
            </a:extLst>
          </p:cNvPr>
          <p:cNvSpPr>
            <a:spLocks noGrp="1"/>
          </p:cNvSpPr>
          <p:nvPr/>
        </p:nvSpPr>
        <p:spPr>
          <a:xfrm>
            <a:off x="762000" y="5286375"/>
            <a:ext cx="10668000" cy="619125"/>
          </a:xfrm>
          <a:prstGeom prst="rect">
            <a:avLst/>
          </a:prstGeom>
          <a:noFill/>
          <a:ln w="0">
            <a:noFill/>
            <a:prstDash val="solid"/>
          </a:ln>
        </p:spPr>
        <p:txBody>
          <a:bodyPr lIns="0" tIns="0" rIns="0" bIns="0" anchor="ctr">
            <a:normAutofit/>
          </a:bodyPr>
          <a:lstStyle/>
          <a:p>
            <a:pPr algn="ctr">
              <a:defRPr sz="2025" b="1">
                <a:solidFill>
                  <a:srgbClr val="111111"/>
                </a:solidFill>
                <a:latin typeface="Arial"/>
                <a:ea typeface="Arial"/>
                <a:cs typeface="Arial"/>
              </a:defRPr>
            </a:pPr>
            <a:r>
              <a:rPr sz="2025" b="1">
                <a:solidFill>
                  <a:srgbClr val="111111"/>
                </a:solidFill>
                <a:latin typeface="Arial"/>
                <a:ea typeface="Arial"/>
                <a:cs typeface="Arial"/>
              </a:rPr>
              <a:t>Change one factor at a time. Keep the test set, normalization, and scoring code identical.</a:t>
            </a:r>
          </a:p>
        </p:txBody>
      </p:sp>
    </p:spTree>
    <p:extLst>
      <p:ext uri="{BB962C8B-B14F-4D97-AF65-F5344CB8AC3E}">
        <p14:creationId xmlns:p14="http://schemas.microsoft.com/office/powerpoint/2010/main" val="425206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472E0285-F402-4524-A6B7-879172E1958B}"/>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F-scores balance false alarms and missed findings</a:t>
            </a:r>
          </a:p>
        </p:txBody>
      </p:sp>
      <p:sp>
        <p:nvSpPr>
          <p:cNvPr id="2" name="page">
            <a:extLst>
              <a:ext uri="{FF2B5EF4-FFF2-40B4-BE49-F238E27FC236}">
                <a16:creationId xmlns:a16="http://schemas.microsoft.com/office/drawing/2014/main" id="{6A5CF282-050E-4992-9DE4-674A06AC133C}"/>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23</a:t>
            </a:r>
            <a:endParaRPr sz="975" b="0">
              <a:solidFill>
                <a:srgbClr val="62666D"/>
              </a:solidFill>
              <a:latin typeface="Arial"/>
              <a:ea typeface="Arial"/>
              <a:cs typeface="Arial"/>
            </a:endParaRPr>
          </a:p>
        </p:txBody>
      </p:sp>
      <p:sp>
        <p:nvSpPr>
          <p:cNvPr id="3" name="prec-h">
            <a:extLst>
              <a:ext uri="{FF2B5EF4-FFF2-40B4-BE49-F238E27FC236}">
                <a16:creationId xmlns:a16="http://schemas.microsoft.com/office/drawing/2014/main" id="{3E8F5A4E-6B6D-4E2D-9BDC-F03B72C8ADE0}"/>
              </a:ext>
            </a:extLst>
          </p:cNvPr>
          <p:cNvSpPr>
            <a:spLocks noGrp="1"/>
          </p:cNvSpPr>
          <p:nvPr/>
        </p:nvSpPr>
        <p:spPr>
          <a:xfrm>
            <a:off x="419100" y="1619250"/>
            <a:ext cx="3143250" cy="400050"/>
          </a:xfrm>
          <a:prstGeom prst="rect">
            <a:avLst/>
          </a:prstGeom>
          <a:noFill/>
          <a:ln w="0">
            <a:noFill/>
            <a:prstDash val="solid"/>
          </a:ln>
        </p:spPr>
        <p:txBody>
          <a:bodyPr lIns="0" tIns="0" rIns="0" bIns="0" anchor="ctr">
            <a:normAutofit/>
          </a:bodyPr>
          <a:lstStyle/>
          <a:p>
            <a:pPr algn="l">
              <a:defRPr sz="1800" b="1">
                <a:solidFill>
                  <a:srgbClr val="3D8DFF"/>
                </a:solidFill>
                <a:latin typeface="Arial"/>
                <a:ea typeface="Arial"/>
                <a:cs typeface="Arial"/>
              </a:defRPr>
            </a:pPr>
            <a:r>
              <a:rPr sz="1800" b="1">
                <a:solidFill>
                  <a:srgbClr val="3D8DFF"/>
                </a:solidFill>
                <a:latin typeface="Arial"/>
                <a:ea typeface="Arial"/>
                <a:cs typeface="Arial"/>
              </a:rPr>
              <a:t>PRECISION</a:t>
            </a:r>
          </a:p>
        </p:txBody>
      </p:sp>
      <p:sp>
        <p:nvSpPr>
          <p:cNvPr id="4" name="prec-f">
            <a:extLst>
              <a:ext uri="{FF2B5EF4-FFF2-40B4-BE49-F238E27FC236}">
                <a16:creationId xmlns:a16="http://schemas.microsoft.com/office/drawing/2014/main" id="{91918391-B96D-4210-9982-F6B3959CB8D4}"/>
              </a:ext>
            </a:extLst>
          </p:cNvPr>
          <p:cNvSpPr>
            <a:spLocks noGrp="1"/>
          </p:cNvSpPr>
          <p:nvPr/>
        </p:nvSpPr>
        <p:spPr>
          <a:xfrm>
            <a:off x="419100" y="2143125"/>
            <a:ext cx="3143250" cy="552450"/>
          </a:xfrm>
          <a:prstGeom prst="rect">
            <a:avLst/>
          </a:prstGeom>
          <a:noFill/>
          <a:ln w="0">
            <a:noFill/>
            <a:prstDash val="solid"/>
          </a:ln>
        </p:spPr>
        <p:txBody>
          <a:bodyPr lIns="0" tIns="0" rIns="0" bIns="0" anchor="ctr">
            <a:normAutofit/>
          </a:bodyPr>
          <a:lstStyle/>
          <a:p>
            <a:pPr algn="l">
              <a:defRPr sz="2325" b="1">
                <a:solidFill>
                  <a:srgbClr val="111111"/>
                </a:solidFill>
                <a:latin typeface="Consolas"/>
                <a:ea typeface="Consolas"/>
                <a:cs typeface="Consolas"/>
              </a:defRPr>
            </a:pPr>
            <a:r>
              <a:rPr sz="2325" b="1" dirty="0">
                <a:solidFill>
                  <a:srgbClr val="111111"/>
                </a:solidFill>
                <a:latin typeface="Consolas"/>
                <a:ea typeface="Consolas"/>
                <a:cs typeface="Consolas"/>
              </a:rPr>
              <a:t>TP / (TP + FP)</a:t>
            </a:r>
          </a:p>
        </p:txBody>
      </p:sp>
      <p:sp>
        <p:nvSpPr>
          <p:cNvPr id="5" name="prec-d">
            <a:extLst>
              <a:ext uri="{FF2B5EF4-FFF2-40B4-BE49-F238E27FC236}">
                <a16:creationId xmlns:a16="http://schemas.microsoft.com/office/drawing/2014/main" id="{3A109B83-708A-4C78-93A8-01239AE0A4B0}"/>
              </a:ext>
            </a:extLst>
          </p:cNvPr>
          <p:cNvSpPr>
            <a:spLocks noGrp="1"/>
          </p:cNvSpPr>
          <p:nvPr/>
        </p:nvSpPr>
        <p:spPr>
          <a:xfrm>
            <a:off x="419100" y="2857500"/>
            <a:ext cx="3143250" cy="762000"/>
          </a:xfrm>
          <a:prstGeom prst="rect">
            <a:avLst/>
          </a:prstGeom>
          <a:noFill/>
          <a:ln w="0">
            <a:noFill/>
            <a:prstDash val="solid"/>
          </a:ln>
        </p:spPr>
        <p:txBody>
          <a:bodyPr lIns="0" tIns="0" rIns="0" bIns="0" anchor="ctr">
            <a:normAutofit/>
          </a:bodyPr>
          <a:lstStyle/>
          <a:p>
            <a:pPr algn="l">
              <a:defRPr sz="1575" b="0">
                <a:solidFill>
                  <a:srgbClr val="62666D"/>
                </a:solidFill>
                <a:latin typeface="Arial"/>
                <a:ea typeface="Arial"/>
                <a:cs typeface="Arial"/>
              </a:defRPr>
            </a:pPr>
            <a:r>
              <a:rPr sz="1575" b="0">
                <a:solidFill>
                  <a:srgbClr val="62666D"/>
                </a:solidFill>
                <a:latin typeface="Arial"/>
                <a:ea typeface="Arial"/>
                <a:cs typeface="Arial"/>
              </a:rPr>
              <a:t>Of everything predicted,</a:t>
            </a:r>
          </a:p>
          <a:p>
            <a:pPr algn="l">
              <a:defRPr sz="1575" b="0">
                <a:solidFill>
                  <a:srgbClr val="62666D"/>
                </a:solidFill>
                <a:latin typeface="Arial"/>
                <a:ea typeface="Arial"/>
                <a:cs typeface="Arial"/>
              </a:defRPr>
            </a:pPr>
            <a:r>
              <a:rPr sz="1575" b="0">
                <a:solidFill>
                  <a:srgbClr val="62666D"/>
                </a:solidFill>
                <a:latin typeface="Arial"/>
                <a:ea typeface="Arial"/>
                <a:cs typeface="Arial"/>
              </a:rPr>
              <a:t>how much was correct?</a:t>
            </a:r>
          </a:p>
        </p:txBody>
      </p:sp>
      <p:sp>
        <p:nvSpPr>
          <p:cNvPr id="6" name="rec-h">
            <a:extLst>
              <a:ext uri="{FF2B5EF4-FFF2-40B4-BE49-F238E27FC236}">
                <a16:creationId xmlns:a16="http://schemas.microsoft.com/office/drawing/2014/main" id="{0CA88733-A9C2-48CC-9520-784FE3CF2B6D}"/>
              </a:ext>
            </a:extLst>
          </p:cNvPr>
          <p:cNvSpPr>
            <a:spLocks noGrp="1"/>
          </p:cNvSpPr>
          <p:nvPr/>
        </p:nvSpPr>
        <p:spPr>
          <a:xfrm>
            <a:off x="4476750" y="1619250"/>
            <a:ext cx="3143250" cy="400050"/>
          </a:xfrm>
          <a:prstGeom prst="rect">
            <a:avLst/>
          </a:prstGeom>
          <a:noFill/>
          <a:ln w="0">
            <a:noFill/>
            <a:prstDash val="solid"/>
          </a:ln>
        </p:spPr>
        <p:txBody>
          <a:bodyPr lIns="0" tIns="0" rIns="0" bIns="0" anchor="ctr">
            <a:normAutofit/>
          </a:bodyPr>
          <a:lstStyle/>
          <a:p>
            <a:pPr algn="l">
              <a:defRPr sz="1800" b="1">
                <a:solidFill>
                  <a:srgbClr val="3D8DFF"/>
                </a:solidFill>
                <a:latin typeface="Arial"/>
                <a:ea typeface="Arial"/>
                <a:cs typeface="Arial"/>
              </a:defRPr>
            </a:pPr>
            <a:r>
              <a:rPr sz="1800" b="1">
                <a:solidFill>
                  <a:srgbClr val="3D8DFF"/>
                </a:solidFill>
                <a:latin typeface="Arial"/>
                <a:ea typeface="Arial"/>
                <a:cs typeface="Arial"/>
              </a:rPr>
              <a:t>RECALL</a:t>
            </a:r>
          </a:p>
        </p:txBody>
      </p:sp>
      <p:sp>
        <p:nvSpPr>
          <p:cNvPr id="7" name="rec-f">
            <a:extLst>
              <a:ext uri="{FF2B5EF4-FFF2-40B4-BE49-F238E27FC236}">
                <a16:creationId xmlns:a16="http://schemas.microsoft.com/office/drawing/2014/main" id="{11A9B76C-9D05-4271-9AF0-ABE297075602}"/>
              </a:ext>
            </a:extLst>
          </p:cNvPr>
          <p:cNvSpPr>
            <a:spLocks noGrp="1"/>
          </p:cNvSpPr>
          <p:nvPr/>
        </p:nvSpPr>
        <p:spPr>
          <a:xfrm>
            <a:off x="4476750" y="2143125"/>
            <a:ext cx="3143250" cy="552450"/>
          </a:xfrm>
          <a:prstGeom prst="rect">
            <a:avLst/>
          </a:prstGeom>
          <a:noFill/>
          <a:ln w="0">
            <a:noFill/>
            <a:prstDash val="solid"/>
          </a:ln>
        </p:spPr>
        <p:txBody>
          <a:bodyPr lIns="0" tIns="0" rIns="0" bIns="0" anchor="ctr">
            <a:normAutofit/>
          </a:bodyPr>
          <a:lstStyle/>
          <a:p>
            <a:pPr algn="l">
              <a:defRPr sz="2325" b="1">
                <a:solidFill>
                  <a:srgbClr val="111111"/>
                </a:solidFill>
                <a:latin typeface="Consolas"/>
                <a:ea typeface="Consolas"/>
                <a:cs typeface="Consolas"/>
              </a:defRPr>
            </a:pPr>
            <a:r>
              <a:rPr sz="2325" b="1">
                <a:solidFill>
                  <a:srgbClr val="111111"/>
                </a:solidFill>
                <a:latin typeface="Consolas"/>
                <a:ea typeface="Consolas"/>
                <a:cs typeface="Consolas"/>
              </a:rPr>
              <a:t>TP / (TP + FN)</a:t>
            </a:r>
          </a:p>
        </p:txBody>
      </p:sp>
      <p:sp>
        <p:nvSpPr>
          <p:cNvPr id="8" name="rec-d">
            <a:extLst>
              <a:ext uri="{FF2B5EF4-FFF2-40B4-BE49-F238E27FC236}">
                <a16:creationId xmlns:a16="http://schemas.microsoft.com/office/drawing/2014/main" id="{F039717B-87D9-4FE9-8792-481B074E5685}"/>
              </a:ext>
            </a:extLst>
          </p:cNvPr>
          <p:cNvSpPr>
            <a:spLocks noGrp="1"/>
          </p:cNvSpPr>
          <p:nvPr/>
        </p:nvSpPr>
        <p:spPr>
          <a:xfrm>
            <a:off x="4476750" y="2857500"/>
            <a:ext cx="3143250" cy="762000"/>
          </a:xfrm>
          <a:prstGeom prst="rect">
            <a:avLst/>
          </a:prstGeom>
          <a:noFill/>
          <a:ln w="0">
            <a:noFill/>
            <a:prstDash val="solid"/>
          </a:ln>
        </p:spPr>
        <p:txBody>
          <a:bodyPr lIns="0" tIns="0" rIns="0" bIns="0" anchor="ctr">
            <a:normAutofit/>
          </a:bodyPr>
          <a:lstStyle/>
          <a:p>
            <a:pPr algn="l">
              <a:defRPr sz="1575" b="0">
                <a:solidFill>
                  <a:srgbClr val="62666D"/>
                </a:solidFill>
                <a:latin typeface="Arial"/>
                <a:ea typeface="Arial"/>
                <a:cs typeface="Arial"/>
              </a:defRPr>
            </a:pPr>
            <a:r>
              <a:rPr sz="1575" b="0">
                <a:solidFill>
                  <a:srgbClr val="62666D"/>
                </a:solidFill>
                <a:latin typeface="Arial"/>
                <a:ea typeface="Arial"/>
                <a:cs typeface="Arial"/>
              </a:rPr>
              <a:t>Of everything present,</a:t>
            </a:r>
          </a:p>
          <a:p>
            <a:pPr algn="l">
              <a:defRPr sz="1575" b="0">
                <a:solidFill>
                  <a:srgbClr val="62666D"/>
                </a:solidFill>
                <a:latin typeface="Arial"/>
                <a:ea typeface="Arial"/>
                <a:cs typeface="Arial"/>
              </a:defRPr>
            </a:pPr>
            <a:r>
              <a:rPr sz="1575" b="0">
                <a:solidFill>
                  <a:srgbClr val="62666D"/>
                </a:solidFill>
                <a:latin typeface="Arial"/>
                <a:ea typeface="Arial"/>
                <a:cs typeface="Arial"/>
              </a:rPr>
              <a:t>how much was found?</a:t>
            </a:r>
          </a:p>
        </p:txBody>
      </p:sp>
      <p:sp>
        <p:nvSpPr>
          <p:cNvPr id="9" name="f-h">
            <a:extLst>
              <a:ext uri="{FF2B5EF4-FFF2-40B4-BE49-F238E27FC236}">
                <a16:creationId xmlns:a16="http://schemas.microsoft.com/office/drawing/2014/main" id="{04E67866-32CA-4BDE-9A44-2CF6251CFE2C}"/>
              </a:ext>
            </a:extLst>
          </p:cNvPr>
          <p:cNvSpPr>
            <a:spLocks noGrp="1"/>
          </p:cNvSpPr>
          <p:nvPr/>
        </p:nvSpPr>
        <p:spPr>
          <a:xfrm>
            <a:off x="8534400" y="1619250"/>
            <a:ext cx="3143250" cy="400050"/>
          </a:xfrm>
          <a:prstGeom prst="rect">
            <a:avLst/>
          </a:prstGeom>
          <a:noFill/>
          <a:ln w="0">
            <a:noFill/>
            <a:prstDash val="solid"/>
          </a:ln>
        </p:spPr>
        <p:txBody>
          <a:bodyPr lIns="0" tIns="0" rIns="0" bIns="0" anchor="ctr">
            <a:normAutofit/>
          </a:bodyPr>
          <a:lstStyle/>
          <a:p>
            <a:pPr algn="l">
              <a:defRPr sz="1800" b="1">
                <a:solidFill>
                  <a:srgbClr val="3D8DFF"/>
                </a:solidFill>
                <a:latin typeface="Arial"/>
                <a:ea typeface="Arial"/>
                <a:cs typeface="Arial"/>
              </a:defRPr>
            </a:pPr>
            <a:r>
              <a:rPr sz="1800" b="1">
                <a:solidFill>
                  <a:srgbClr val="3D8DFF"/>
                </a:solidFill>
                <a:latin typeface="Arial"/>
                <a:ea typeface="Arial"/>
                <a:cs typeface="Arial"/>
              </a:rPr>
              <a:t>F1 SCORE</a:t>
            </a:r>
          </a:p>
        </p:txBody>
      </p:sp>
      <p:sp>
        <p:nvSpPr>
          <p:cNvPr id="10" name="f-f">
            <a:extLst>
              <a:ext uri="{FF2B5EF4-FFF2-40B4-BE49-F238E27FC236}">
                <a16:creationId xmlns:a16="http://schemas.microsoft.com/office/drawing/2014/main" id="{0D845CD1-5B80-4896-8268-BA03CF14521D}"/>
              </a:ext>
            </a:extLst>
          </p:cNvPr>
          <p:cNvSpPr>
            <a:spLocks noGrp="1"/>
          </p:cNvSpPr>
          <p:nvPr/>
        </p:nvSpPr>
        <p:spPr>
          <a:xfrm>
            <a:off x="8534400" y="2143125"/>
            <a:ext cx="3143250" cy="552450"/>
          </a:xfrm>
          <a:prstGeom prst="rect">
            <a:avLst/>
          </a:prstGeom>
          <a:noFill/>
          <a:ln w="0">
            <a:noFill/>
            <a:prstDash val="solid"/>
          </a:ln>
        </p:spPr>
        <p:txBody>
          <a:bodyPr lIns="0" tIns="0" rIns="0" bIns="0" anchor="ctr">
            <a:normAutofit/>
          </a:bodyPr>
          <a:lstStyle/>
          <a:p>
            <a:pPr algn="l">
              <a:defRPr sz="2325" b="1">
                <a:solidFill>
                  <a:srgbClr val="111111"/>
                </a:solidFill>
                <a:latin typeface="Consolas"/>
                <a:ea typeface="Consolas"/>
                <a:cs typeface="Consolas"/>
              </a:defRPr>
            </a:pPr>
            <a:r>
              <a:rPr sz="2325" b="1">
                <a:solidFill>
                  <a:srgbClr val="111111"/>
                </a:solidFill>
                <a:latin typeface="Consolas"/>
                <a:ea typeface="Consolas"/>
                <a:cs typeface="Consolas"/>
              </a:rPr>
              <a:t>2PR / (P + R)</a:t>
            </a:r>
          </a:p>
        </p:txBody>
      </p:sp>
      <p:sp>
        <p:nvSpPr>
          <p:cNvPr id="11" name="f-d">
            <a:extLst>
              <a:ext uri="{FF2B5EF4-FFF2-40B4-BE49-F238E27FC236}">
                <a16:creationId xmlns:a16="http://schemas.microsoft.com/office/drawing/2014/main" id="{5CE56DDD-957C-4946-80A8-3C228C5EDC0D}"/>
              </a:ext>
            </a:extLst>
          </p:cNvPr>
          <p:cNvSpPr>
            <a:spLocks noGrp="1"/>
          </p:cNvSpPr>
          <p:nvPr/>
        </p:nvSpPr>
        <p:spPr>
          <a:xfrm>
            <a:off x="8534400" y="2857500"/>
            <a:ext cx="3143250" cy="762000"/>
          </a:xfrm>
          <a:prstGeom prst="rect">
            <a:avLst/>
          </a:prstGeom>
          <a:noFill/>
          <a:ln w="0">
            <a:noFill/>
            <a:prstDash val="solid"/>
          </a:ln>
        </p:spPr>
        <p:txBody>
          <a:bodyPr lIns="0" tIns="0" rIns="0" bIns="0" anchor="ctr">
            <a:normAutofit/>
          </a:bodyPr>
          <a:lstStyle/>
          <a:p>
            <a:pPr algn="l">
              <a:defRPr sz="1575" b="0">
                <a:solidFill>
                  <a:srgbClr val="62666D"/>
                </a:solidFill>
                <a:latin typeface="Arial"/>
                <a:ea typeface="Arial"/>
                <a:cs typeface="Arial"/>
              </a:defRPr>
            </a:pPr>
            <a:r>
              <a:rPr sz="1575" b="0">
                <a:solidFill>
                  <a:srgbClr val="62666D"/>
                </a:solidFill>
                <a:latin typeface="Arial"/>
                <a:ea typeface="Arial"/>
                <a:cs typeface="Arial"/>
              </a:rPr>
              <a:t>Harmonic mean of</a:t>
            </a:r>
          </a:p>
          <a:p>
            <a:pPr algn="l">
              <a:defRPr sz="1575" b="0">
                <a:solidFill>
                  <a:srgbClr val="62666D"/>
                </a:solidFill>
                <a:latin typeface="Arial"/>
                <a:ea typeface="Arial"/>
                <a:cs typeface="Arial"/>
              </a:defRPr>
            </a:pPr>
            <a:r>
              <a:rPr sz="1575" b="0">
                <a:solidFill>
                  <a:srgbClr val="62666D"/>
                </a:solidFill>
                <a:latin typeface="Arial"/>
                <a:ea typeface="Arial"/>
                <a:cs typeface="Arial"/>
              </a:rPr>
              <a:t>precision and recall.</a:t>
            </a:r>
          </a:p>
        </p:txBody>
      </p:sp>
      <p:sp>
        <p:nvSpPr>
          <p:cNvPr id="12" name="Gerader Verbinder 11">
            <a:extLst>
              <a:ext uri="{FF2B5EF4-FFF2-40B4-BE49-F238E27FC236}">
                <a16:creationId xmlns:a16="http://schemas.microsoft.com/office/drawing/2014/main" id="{E388DFA7-0069-404B-B01F-3542BF23CB7C}"/>
              </a:ext>
            </a:extLst>
          </p:cNvPr>
          <p:cNvSpPr>
            <a:spLocks noGrp="1"/>
          </p:cNvSpPr>
          <p:nvPr/>
        </p:nvSpPr>
        <p:spPr>
          <a:xfrm>
            <a:off x="419100" y="4000500"/>
            <a:ext cx="11353800" cy="0"/>
          </a:xfrm>
          <a:prstGeom prst="line">
            <a:avLst/>
          </a:prstGeom>
          <a:noFill/>
          <a:ln w="19050">
            <a:solidFill>
              <a:srgbClr val="B8BCC4"/>
            </a:solidFill>
            <a:prstDash val="solid"/>
          </a:ln>
        </p:spPr>
        <p:txBody>
          <a:bodyPr/>
          <a:lstStyle/>
          <a:p>
            <a:endParaRPr lang="de-DE"/>
          </a:p>
        </p:txBody>
      </p:sp>
      <p:sp>
        <p:nvSpPr>
          <p:cNvPr id="13" name="example">
            <a:extLst>
              <a:ext uri="{FF2B5EF4-FFF2-40B4-BE49-F238E27FC236}">
                <a16:creationId xmlns:a16="http://schemas.microsoft.com/office/drawing/2014/main" id="{544E0D27-0062-48DA-8700-5EC655429347}"/>
              </a:ext>
            </a:extLst>
          </p:cNvPr>
          <p:cNvSpPr>
            <a:spLocks noGrp="1"/>
          </p:cNvSpPr>
          <p:nvPr/>
        </p:nvSpPr>
        <p:spPr>
          <a:xfrm>
            <a:off x="419100" y="4305300"/>
            <a:ext cx="4667250" cy="428625"/>
          </a:xfrm>
          <a:prstGeom prst="rect">
            <a:avLst/>
          </a:prstGeom>
          <a:noFill/>
          <a:ln w="0">
            <a:noFill/>
            <a:prstDash val="solid"/>
          </a:ln>
        </p:spPr>
        <p:txBody>
          <a:bodyPr lIns="0" tIns="0" rIns="0" bIns="0" anchor="ctr">
            <a:normAutofit/>
          </a:bodyPr>
          <a:lstStyle/>
          <a:p>
            <a:pPr algn="l">
              <a:defRPr sz="1800" b="1">
                <a:solidFill>
                  <a:srgbClr val="111111"/>
                </a:solidFill>
                <a:latin typeface="Consolas"/>
                <a:ea typeface="Consolas"/>
                <a:cs typeface="Consolas"/>
              </a:defRPr>
            </a:pPr>
            <a:r>
              <a:rPr sz="1800" b="1">
                <a:solidFill>
                  <a:srgbClr val="111111"/>
                </a:solidFill>
                <a:latin typeface="Consolas"/>
                <a:ea typeface="Consolas"/>
                <a:cs typeface="Consolas"/>
              </a:rPr>
              <a:t>Example: TP = 8, FP = 2, FN = 4</a:t>
            </a:r>
          </a:p>
        </p:txBody>
      </p:sp>
      <p:sp>
        <p:nvSpPr>
          <p:cNvPr id="14" name="result">
            <a:extLst>
              <a:ext uri="{FF2B5EF4-FFF2-40B4-BE49-F238E27FC236}">
                <a16:creationId xmlns:a16="http://schemas.microsoft.com/office/drawing/2014/main" id="{E1956302-975F-4E44-AECB-180E1F89BE31}"/>
              </a:ext>
            </a:extLst>
          </p:cNvPr>
          <p:cNvSpPr>
            <a:spLocks noGrp="1"/>
          </p:cNvSpPr>
          <p:nvPr/>
        </p:nvSpPr>
        <p:spPr>
          <a:xfrm>
            <a:off x="419100" y="4905375"/>
            <a:ext cx="10668000" cy="619125"/>
          </a:xfrm>
          <a:prstGeom prst="rect">
            <a:avLst/>
          </a:prstGeom>
          <a:noFill/>
          <a:ln w="0">
            <a:noFill/>
            <a:prstDash val="solid"/>
          </a:ln>
        </p:spPr>
        <p:txBody>
          <a:bodyPr lIns="0" tIns="0" rIns="0" bIns="0" anchor="ctr">
            <a:normAutofit/>
          </a:bodyPr>
          <a:lstStyle/>
          <a:p>
            <a:pPr algn="ctr">
              <a:defRPr sz="2250" b="1">
                <a:solidFill>
                  <a:srgbClr val="111111"/>
                </a:solidFill>
                <a:latin typeface="Consolas"/>
                <a:ea typeface="Consolas"/>
                <a:cs typeface="Consolas"/>
              </a:defRPr>
            </a:pPr>
            <a:r>
              <a:rPr sz="2250" b="1">
                <a:solidFill>
                  <a:srgbClr val="111111"/>
                </a:solidFill>
                <a:latin typeface="Consolas"/>
                <a:ea typeface="Consolas"/>
                <a:cs typeface="Consolas"/>
              </a:rPr>
              <a:t>Precision = 0.80    Recall = 0.67    F1 ≈ 0.73</a:t>
            </a:r>
          </a:p>
        </p:txBody>
      </p:sp>
      <p:sp>
        <p:nvSpPr>
          <p:cNvPr id="15" name="context">
            <a:extLst>
              <a:ext uri="{FF2B5EF4-FFF2-40B4-BE49-F238E27FC236}">
                <a16:creationId xmlns:a16="http://schemas.microsoft.com/office/drawing/2014/main" id="{B941DB4A-B190-4D47-B728-B535FEB40134}"/>
              </a:ext>
            </a:extLst>
          </p:cNvPr>
          <p:cNvSpPr>
            <a:spLocks noGrp="1"/>
          </p:cNvSpPr>
          <p:nvPr/>
        </p:nvSpPr>
        <p:spPr>
          <a:xfrm>
            <a:off x="419100" y="5715000"/>
            <a:ext cx="10668000" cy="400050"/>
          </a:xfrm>
          <a:prstGeom prst="rect">
            <a:avLst/>
          </a:prstGeom>
          <a:noFill/>
          <a:ln w="0">
            <a:noFill/>
            <a:prstDash val="solid"/>
          </a:ln>
        </p:spPr>
        <p:txBody>
          <a:bodyPr lIns="0" tIns="0" rIns="0" bIns="0" anchor="ctr">
            <a:normAutofit/>
          </a:bodyPr>
          <a:lstStyle/>
          <a:p>
            <a:pPr algn="ctr">
              <a:defRPr sz="1575" b="1">
                <a:solidFill>
                  <a:srgbClr val="62666D"/>
                </a:solidFill>
                <a:latin typeface="Arial"/>
                <a:ea typeface="Arial"/>
                <a:cs typeface="Arial"/>
              </a:defRPr>
            </a:pPr>
            <a:r>
              <a:rPr sz="1575" b="1">
                <a:solidFill>
                  <a:srgbClr val="62666D"/>
                </a:solidFill>
                <a:latin typeface="Arial"/>
                <a:ea typeface="Arial"/>
                <a:cs typeface="Arial"/>
              </a:rPr>
              <a:t>Define the positive class first: a correctly detected field, word, or region.</a:t>
            </a:r>
          </a:p>
        </p:txBody>
      </p:sp>
    </p:spTree>
    <p:extLst>
      <p:ext uri="{BB962C8B-B14F-4D97-AF65-F5344CB8AC3E}">
        <p14:creationId xmlns:p14="http://schemas.microsoft.com/office/powerpoint/2010/main" val="1508434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6CE27F0E-5F18-4E54-9A72-50F5AF345F63}"/>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Five images make TP, TN, FP, and FN concrete</a:t>
            </a:r>
          </a:p>
        </p:txBody>
      </p:sp>
      <p:sp>
        <p:nvSpPr>
          <p:cNvPr id="2" name="page">
            <a:extLst>
              <a:ext uri="{FF2B5EF4-FFF2-40B4-BE49-F238E27FC236}">
                <a16:creationId xmlns:a16="http://schemas.microsoft.com/office/drawing/2014/main" id="{164B9B27-3E35-42D4-9669-497D52E11B2B}"/>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24</a:t>
            </a:r>
            <a:endParaRPr sz="975" b="0">
              <a:solidFill>
                <a:srgbClr val="62666D"/>
              </a:solidFill>
              <a:latin typeface="Arial"/>
              <a:ea typeface="Arial"/>
              <a:cs typeface="Arial"/>
            </a:endParaRPr>
          </a:p>
        </p:txBody>
      </p:sp>
      <p:pic>
        <p:nvPicPr>
          <p:cNvPr id="37" name="Grafik 36"/>
          <p:cNvPicPr>
            <a:picLocks noChangeAspect="1"/>
          </p:cNvPicPr>
          <p:nvPr/>
        </p:nvPicPr>
        <p:blipFill>
          <a:blip r:embed="rId3"/>
          <a:srcRect l="284" r="284"/>
          <a:stretch>
            <a:fillRect/>
          </a:stretch>
        </p:blipFill>
        <p:spPr>
          <a:xfrm>
            <a:off x="419100" y="1619250"/>
            <a:ext cx="2000250" cy="1257300"/>
          </a:xfrm>
          <a:prstGeom prst="rect">
            <a:avLst/>
          </a:prstGeom>
        </p:spPr>
      </p:pic>
      <p:sp>
        <p:nvSpPr>
          <p:cNvPr id="4" name="case0">
            <a:extLst>
              <a:ext uri="{FF2B5EF4-FFF2-40B4-BE49-F238E27FC236}">
                <a16:creationId xmlns:a16="http://schemas.microsoft.com/office/drawing/2014/main" id="{F9C6E7D4-C559-4E38-B179-CAA86FC6B336}"/>
              </a:ext>
            </a:extLst>
          </p:cNvPr>
          <p:cNvSpPr>
            <a:spLocks noGrp="1"/>
          </p:cNvSpPr>
          <p:nvPr/>
        </p:nvSpPr>
        <p:spPr>
          <a:xfrm>
            <a:off x="419100" y="2971800"/>
            <a:ext cx="2000250" cy="247650"/>
          </a:xfrm>
          <a:prstGeom prst="rect">
            <a:avLst/>
          </a:prstGeom>
          <a:noFill/>
          <a:ln w="0">
            <a:noFill/>
            <a:prstDash val="solid"/>
          </a:ln>
        </p:spPr>
        <p:txBody>
          <a:bodyPr lIns="0" tIns="0" rIns="0" bIns="0" anchor="ctr">
            <a:normAutofit/>
          </a:bodyPr>
          <a:lstStyle/>
          <a:p>
            <a:pPr algn="ctr">
              <a:defRPr sz="1050" b="1">
                <a:solidFill>
                  <a:srgbClr val="62666D"/>
                </a:solidFill>
                <a:latin typeface="Arial"/>
                <a:ea typeface="Arial"/>
                <a:cs typeface="Arial"/>
              </a:defRPr>
            </a:pPr>
            <a:r>
              <a:rPr sz="1050" b="1">
                <a:solidFill>
                  <a:srgbClr val="62666D"/>
                </a:solidFill>
                <a:latin typeface="Arial"/>
                <a:ea typeface="Arial"/>
                <a:cs typeface="Arial"/>
              </a:rPr>
              <a:t>IMAGE 1</a:t>
            </a:r>
          </a:p>
        </p:txBody>
      </p:sp>
      <p:sp>
        <p:nvSpPr>
          <p:cNvPr id="5" name="gt0">
            <a:extLst>
              <a:ext uri="{FF2B5EF4-FFF2-40B4-BE49-F238E27FC236}">
                <a16:creationId xmlns:a16="http://schemas.microsoft.com/office/drawing/2014/main" id="{45371315-2342-4215-A7C7-C096E1391B64}"/>
              </a:ext>
            </a:extLst>
          </p:cNvPr>
          <p:cNvSpPr>
            <a:spLocks noGrp="1"/>
          </p:cNvSpPr>
          <p:nvPr/>
        </p:nvSpPr>
        <p:spPr>
          <a:xfrm>
            <a:off x="419100" y="3333750"/>
            <a:ext cx="2000250" cy="285750"/>
          </a:xfrm>
          <a:prstGeom prst="rect">
            <a:avLst/>
          </a:prstGeom>
          <a:noFill/>
          <a:ln w="0">
            <a:noFill/>
            <a:prstDash val="solid"/>
          </a:ln>
        </p:spPr>
        <p:txBody>
          <a:bodyPr lIns="0" tIns="0" rIns="0" bIns="0" anchor="ctr">
            <a:normAutofit/>
          </a:bodyPr>
          <a:lstStyle/>
          <a:p>
            <a:pPr algn="ctr">
              <a:defRPr sz="1350" b="1">
                <a:solidFill>
                  <a:srgbClr val="111111"/>
                </a:solidFill>
                <a:latin typeface="Consolas"/>
                <a:ea typeface="Consolas"/>
                <a:cs typeface="Consolas"/>
              </a:defRPr>
            </a:pPr>
            <a:r>
              <a:rPr sz="1350" b="1">
                <a:solidFill>
                  <a:srgbClr val="111111"/>
                </a:solidFill>
                <a:latin typeface="Consolas"/>
                <a:ea typeface="Consolas"/>
                <a:cs typeface="Consolas"/>
              </a:rPr>
              <a:t>GT: €7.70</a:t>
            </a:r>
          </a:p>
        </p:txBody>
      </p:sp>
      <p:sp>
        <p:nvSpPr>
          <p:cNvPr id="6" name="pred0">
            <a:extLst>
              <a:ext uri="{FF2B5EF4-FFF2-40B4-BE49-F238E27FC236}">
                <a16:creationId xmlns:a16="http://schemas.microsoft.com/office/drawing/2014/main" id="{E22BD519-0FCE-465E-AFBB-8C87D1F53EB6}"/>
              </a:ext>
            </a:extLst>
          </p:cNvPr>
          <p:cNvSpPr>
            <a:spLocks noGrp="1"/>
          </p:cNvSpPr>
          <p:nvPr/>
        </p:nvSpPr>
        <p:spPr>
          <a:xfrm>
            <a:off x="419100" y="3676650"/>
            <a:ext cx="2000250" cy="285750"/>
          </a:xfrm>
          <a:prstGeom prst="rect">
            <a:avLst/>
          </a:prstGeom>
          <a:noFill/>
          <a:ln w="0">
            <a:noFill/>
            <a:prstDash val="solid"/>
          </a:ln>
        </p:spPr>
        <p:txBody>
          <a:bodyPr lIns="0" tIns="0" rIns="0" bIns="0" anchor="ctr">
            <a:normAutofit/>
          </a:bodyPr>
          <a:lstStyle/>
          <a:p>
            <a:pPr algn="ctr">
              <a:defRPr sz="1350" b="0">
                <a:solidFill>
                  <a:srgbClr val="111111"/>
                </a:solidFill>
                <a:latin typeface="Consolas"/>
                <a:ea typeface="Consolas"/>
                <a:cs typeface="Consolas"/>
              </a:defRPr>
            </a:pPr>
            <a:r>
              <a:rPr sz="1350" b="0">
                <a:solidFill>
                  <a:srgbClr val="111111"/>
                </a:solidFill>
                <a:latin typeface="Consolas"/>
                <a:ea typeface="Consolas"/>
                <a:cs typeface="Consolas"/>
              </a:rPr>
              <a:t>OCR: €7.70</a:t>
            </a:r>
          </a:p>
        </p:txBody>
      </p:sp>
      <p:sp>
        <p:nvSpPr>
          <p:cNvPr id="7" name="outcome-box0">
            <a:extLst>
              <a:ext uri="{FF2B5EF4-FFF2-40B4-BE49-F238E27FC236}">
                <a16:creationId xmlns:a16="http://schemas.microsoft.com/office/drawing/2014/main" id="{C349BFE0-2A68-46AC-B01A-5CC839005E30}"/>
              </a:ext>
            </a:extLst>
          </p:cNvPr>
          <p:cNvSpPr>
            <a:spLocks noGrp="1"/>
          </p:cNvSpPr>
          <p:nvPr/>
        </p:nvSpPr>
        <p:spPr>
          <a:xfrm>
            <a:off x="990600" y="4171950"/>
            <a:ext cx="857250" cy="457200"/>
          </a:xfrm>
          <a:prstGeom prst="rect">
            <a:avLst/>
          </a:prstGeom>
          <a:solidFill>
            <a:srgbClr val="D9F1FC"/>
          </a:solidFill>
          <a:ln w="0">
            <a:noFill/>
            <a:prstDash val="solid"/>
          </a:ln>
        </p:spPr>
        <p:txBody>
          <a:bodyPr/>
          <a:lstStyle/>
          <a:p>
            <a:endParaRPr lang="de-DE"/>
          </a:p>
        </p:txBody>
      </p:sp>
      <p:sp>
        <p:nvSpPr>
          <p:cNvPr id="8" name="outcome0">
            <a:extLst>
              <a:ext uri="{FF2B5EF4-FFF2-40B4-BE49-F238E27FC236}">
                <a16:creationId xmlns:a16="http://schemas.microsoft.com/office/drawing/2014/main" id="{53ABCAAB-D991-4CF1-902F-599FCE88CF36}"/>
              </a:ext>
            </a:extLst>
          </p:cNvPr>
          <p:cNvSpPr>
            <a:spLocks noGrp="1"/>
          </p:cNvSpPr>
          <p:nvPr/>
        </p:nvSpPr>
        <p:spPr>
          <a:xfrm>
            <a:off x="990600" y="4200525"/>
            <a:ext cx="857250" cy="381000"/>
          </a:xfrm>
          <a:prstGeom prst="rect">
            <a:avLst/>
          </a:prstGeom>
          <a:noFill/>
          <a:ln w="0">
            <a:noFill/>
            <a:prstDash val="solid"/>
          </a:ln>
        </p:spPr>
        <p:txBody>
          <a:bodyPr lIns="0" tIns="0" rIns="0" bIns="0" anchor="ctr">
            <a:normAutofit/>
          </a:bodyPr>
          <a:lstStyle/>
          <a:p>
            <a:pPr algn="ctr">
              <a:defRPr sz="1725" b="1">
                <a:solidFill>
                  <a:srgbClr val="3D8DFF"/>
                </a:solidFill>
                <a:latin typeface="Arial"/>
                <a:ea typeface="Arial"/>
                <a:cs typeface="Arial"/>
              </a:defRPr>
            </a:pPr>
            <a:r>
              <a:rPr sz="1725" b="1">
                <a:solidFill>
                  <a:srgbClr val="3D8DFF"/>
                </a:solidFill>
                <a:latin typeface="Arial"/>
                <a:ea typeface="Arial"/>
                <a:cs typeface="Arial"/>
              </a:rPr>
              <a:t>TP</a:t>
            </a:r>
          </a:p>
        </p:txBody>
      </p:sp>
      <p:pic>
        <p:nvPicPr>
          <p:cNvPr id="43" name="Grafik 42"/>
          <p:cNvPicPr>
            <a:picLocks noChangeAspect="1"/>
          </p:cNvPicPr>
          <p:nvPr/>
        </p:nvPicPr>
        <p:blipFill>
          <a:blip r:embed="rId4"/>
          <a:srcRect l="284" r="284"/>
          <a:stretch>
            <a:fillRect/>
          </a:stretch>
        </p:blipFill>
        <p:spPr>
          <a:xfrm>
            <a:off x="2724150" y="1619250"/>
            <a:ext cx="2000250" cy="1257300"/>
          </a:xfrm>
          <a:prstGeom prst="rect">
            <a:avLst/>
          </a:prstGeom>
        </p:spPr>
      </p:pic>
      <p:sp>
        <p:nvSpPr>
          <p:cNvPr id="10" name="case1">
            <a:extLst>
              <a:ext uri="{FF2B5EF4-FFF2-40B4-BE49-F238E27FC236}">
                <a16:creationId xmlns:a16="http://schemas.microsoft.com/office/drawing/2014/main" id="{EAC6DCDD-4839-44C0-82B9-F341B7B8C4C8}"/>
              </a:ext>
            </a:extLst>
          </p:cNvPr>
          <p:cNvSpPr>
            <a:spLocks noGrp="1"/>
          </p:cNvSpPr>
          <p:nvPr/>
        </p:nvSpPr>
        <p:spPr>
          <a:xfrm>
            <a:off x="2724150" y="2971800"/>
            <a:ext cx="2000250" cy="247650"/>
          </a:xfrm>
          <a:prstGeom prst="rect">
            <a:avLst/>
          </a:prstGeom>
          <a:noFill/>
          <a:ln w="0">
            <a:noFill/>
            <a:prstDash val="solid"/>
          </a:ln>
        </p:spPr>
        <p:txBody>
          <a:bodyPr lIns="0" tIns="0" rIns="0" bIns="0" anchor="ctr">
            <a:normAutofit/>
          </a:bodyPr>
          <a:lstStyle/>
          <a:p>
            <a:pPr algn="ctr">
              <a:defRPr sz="1050" b="1">
                <a:solidFill>
                  <a:srgbClr val="62666D"/>
                </a:solidFill>
                <a:latin typeface="Arial"/>
                <a:ea typeface="Arial"/>
                <a:cs typeface="Arial"/>
              </a:defRPr>
            </a:pPr>
            <a:r>
              <a:rPr sz="1050" b="1">
                <a:solidFill>
                  <a:srgbClr val="62666D"/>
                </a:solidFill>
                <a:latin typeface="Arial"/>
                <a:ea typeface="Arial"/>
                <a:cs typeface="Arial"/>
              </a:rPr>
              <a:t>IMAGE 2</a:t>
            </a:r>
          </a:p>
        </p:txBody>
      </p:sp>
      <p:sp>
        <p:nvSpPr>
          <p:cNvPr id="11" name="gt1">
            <a:extLst>
              <a:ext uri="{FF2B5EF4-FFF2-40B4-BE49-F238E27FC236}">
                <a16:creationId xmlns:a16="http://schemas.microsoft.com/office/drawing/2014/main" id="{5D6A978F-73D9-4AFB-BD0B-D2C8BCD4678D}"/>
              </a:ext>
            </a:extLst>
          </p:cNvPr>
          <p:cNvSpPr>
            <a:spLocks noGrp="1"/>
          </p:cNvSpPr>
          <p:nvPr/>
        </p:nvSpPr>
        <p:spPr>
          <a:xfrm>
            <a:off x="2724150" y="3333750"/>
            <a:ext cx="2000250" cy="285750"/>
          </a:xfrm>
          <a:prstGeom prst="rect">
            <a:avLst/>
          </a:prstGeom>
          <a:noFill/>
          <a:ln w="0">
            <a:noFill/>
            <a:prstDash val="solid"/>
          </a:ln>
        </p:spPr>
        <p:txBody>
          <a:bodyPr lIns="0" tIns="0" rIns="0" bIns="0" anchor="ctr">
            <a:normAutofit/>
          </a:bodyPr>
          <a:lstStyle/>
          <a:p>
            <a:pPr algn="ctr">
              <a:defRPr sz="1350" b="1">
                <a:solidFill>
                  <a:srgbClr val="111111"/>
                </a:solidFill>
                <a:latin typeface="Consolas"/>
                <a:ea typeface="Consolas"/>
                <a:cs typeface="Consolas"/>
              </a:defRPr>
            </a:pPr>
            <a:r>
              <a:rPr sz="1350" b="1">
                <a:solidFill>
                  <a:srgbClr val="111111"/>
                </a:solidFill>
                <a:latin typeface="Consolas"/>
                <a:ea typeface="Consolas"/>
                <a:cs typeface="Consolas"/>
              </a:rPr>
              <a:t>GT: €12.40</a:t>
            </a:r>
          </a:p>
        </p:txBody>
      </p:sp>
      <p:sp>
        <p:nvSpPr>
          <p:cNvPr id="12" name="pred1">
            <a:extLst>
              <a:ext uri="{FF2B5EF4-FFF2-40B4-BE49-F238E27FC236}">
                <a16:creationId xmlns:a16="http://schemas.microsoft.com/office/drawing/2014/main" id="{A1DE1E39-504F-4A64-9C5A-04680173D9B8}"/>
              </a:ext>
            </a:extLst>
          </p:cNvPr>
          <p:cNvSpPr>
            <a:spLocks noGrp="1"/>
          </p:cNvSpPr>
          <p:nvPr/>
        </p:nvSpPr>
        <p:spPr>
          <a:xfrm>
            <a:off x="2724150" y="3676650"/>
            <a:ext cx="2000250" cy="285750"/>
          </a:xfrm>
          <a:prstGeom prst="rect">
            <a:avLst/>
          </a:prstGeom>
          <a:noFill/>
          <a:ln w="0">
            <a:noFill/>
            <a:prstDash val="solid"/>
          </a:ln>
        </p:spPr>
        <p:txBody>
          <a:bodyPr lIns="0" tIns="0" rIns="0" bIns="0" anchor="ctr">
            <a:normAutofit/>
          </a:bodyPr>
          <a:lstStyle/>
          <a:p>
            <a:pPr algn="ctr">
              <a:defRPr sz="1350" b="0">
                <a:solidFill>
                  <a:srgbClr val="111111"/>
                </a:solidFill>
                <a:latin typeface="Consolas"/>
                <a:ea typeface="Consolas"/>
                <a:cs typeface="Consolas"/>
              </a:defRPr>
            </a:pPr>
            <a:r>
              <a:rPr sz="1350" b="0">
                <a:solidFill>
                  <a:srgbClr val="111111"/>
                </a:solidFill>
                <a:latin typeface="Consolas"/>
                <a:ea typeface="Consolas"/>
                <a:cs typeface="Consolas"/>
              </a:rPr>
              <a:t>OCR: €12.40</a:t>
            </a:r>
          </a:p>
        </p:txBody>
      </p:sp>
      <p:sp>
        <p:nvSpPr>
          <p:cNvPr id="13" name="outcome-box1">
            <a:extLst>
              <a:ext uri="{FF2B5EF4-FFF2-40B4-BE49-F238E27FC236}">
                <a16:creationId xmlns:a16="http://schemas.microsoft.com/office/drawing/2014/main" id="{1241E57B-3763-4D59-8BF4-47689FB3D167}"/>
              </a:ext>
            </a:extLst>
          </p:cNvPr>
          <p:cNvSpPr>
            <a:spLocks noGrp="1"/>
          </p:cNvSpPr>
          <p:nvPr/>
        </p:nvSpPr>
        <p:spPr>
          <a:xfrm>
            <a:off x="3295650" y="4171950"/>
            <a:ext cx="857250" cy="457200"/>
          </a:xfrm>
          <a:prstGeom prst="rect">
            <a:avLst/>
          </a:prstGeom>
          <a:solidFill>
            <a:srgbClr val="D9F1FC"/>
          </a:solidFill>
          <a:ln w="0">
            <a:noFill/>
            <a:prstDash val="solid"/>
          </a:ln>
        </p:spPr>
        <p:txBody>
          <a:bodyPr/>
          <a:lstStyle/>
          <a:p>
            <a:endParaRPr lang="de-DE"/>
          </a:p>
        </p:txBody>
      </p:sp>
      <p:sp>
        <p:nvSpPr>
          <p:cNvPr id="14" name="outcome1">
            <a:extLst>
              <a:ext uri="{FF2B5EF4-FFF2-40B4-BE49-F238E27FC236}">
                <a16:creationId xmlns:a16="http://schemas.microsoft.com/office/drawing/2014/main" id="{012A8CEB-DF22-48A0-8AA1-C2B1F5A7B20F}"/>
              </a:ext>
            </a:extLst>
          </p:cNvPr>
          <p:cNvSpPr>
            <a:spLocks noGrp="1"/>
          </p:cNvSpPr>
          <p:nvPr/>
        </p:nvSpPr>
        <p:spPr>
          <a:xfrm>
            <a:off x="3295650" y="4200525"/>
            <a:ext cx="857250" cy="381000"/>
          </a:xfrm>
          <a:prstGeom prst="rect">
            <a:avLst/>
          </a:prstGeom>
          <a:noFill/>
          <a:ln w="0">
            <a:noFill/>
            <a:prstDash val="solid"/>
          </a:ln>
        </p:spPr>
        <p:txBody>
          <a:bodyPr lIns="0" tIns="0" rIns="0" bIns="0" anchor="ctr">
            <a:normAutofit/>
          </a:bodyPr>
          <a:lstStyle/>
          <a:p>
            <a:pPr algn="ctr">
              <a:defRPr sz="1725" b="1">
                <a:solidFill>
                  <a:srgbClr val="3D8DFF"/>
                </a:solidFill>
                <a:latin typeface="Arial"/>
                <a:ea typeface="Arial"/>
                <a:cs typeface="Arial"/>
              </a:defRPr>
            </a:pPr>
            <a:r>
              <a:rPr sz="1725" b="1">
                <a:solidFill>
                  <a:srgbClr val="3D8DFF"/>
                </a:solidFill>
                <a:latin typeface="Arial"/>
                <a:ea typeface="Arial"/>
                <a:cs typeface="Arial"/>
              </a:rPr>
              <a:t>TP</a:t>
            </a:r>
          </a:p>
        </p:txBody>
      </p:sp>
      <p:pic>
        <p:nvPicPr>
          <p:cNvPr id="49" name="Grafik 48"/>
          <p:cNvPicPr>
            <a:picLocks noChangeAspect="1"/>
          </p:cNvPicPr>
          <p:nvPr/>
        </p:nvPicPr>
        <p:blipFill>
          <a:blip r:embed="rId5"/>
          <a:srcRect l="284" r="284"/>
          <a:stretch>
            <a:fillRect/>
          </a:stretch>
        </p:blipFill>
        <p:spPr>
          <a:xfrm>
            <a:off x="5029200" y="1619250"/>
            <a:ext cx="2000250" cy="1257300"/>
          </a:xfrm>
          <a:prstGeom prst="rect">
            <a:avLst/>
          </a:prstGeom>
        </p:spPr>
      </p:pic>
      <p:sp>
        <p:nvSpPr>
          <p:cNvPr id="16" name="case2">
            <a:extLst>
              <a:ext uri="{FF2B5EF4-FFF2-40B4-BE49-F238E27FC236}">
                <a16:creationId xmlns:a16="http://schemas.microsoft.com/office/drawing/2014/main" id="{F56A0DF5-846F-4C6D-868E-3204FD596D4F}"/>
              </a:ext>
            </a:extLst>
          </p:cNvPr>
          <p:cNvSpPr>
            <a:spLocks noGrp="1"/>
          </p:cNvSpPr>
          <p:nvPr/>
        </p:nvSpPr>
        <p:spPr>
          <a:xfrm>
            <a:off x="5029200" y="2971800"/>
            <a:ext cx="2000250" cy="247650"/>
          </a:xfrm>
          <a:prstGeom prst="rect">
            <a:avLst/>
          </a:prstGeom>
          <a:noFill/>
          <a:ln w="0">
            <a:noFill/>
            <a:prstDash val="solid"/>
          </a:ln>
        </p:spPr>
        <p:txBody>
          <a:bodyPr lIns="0" tIns="0" rIns="0" bIns="0" anchor="ctr">
            <a:normAutofit/>
          </a:bodyPr>
          <a:lstStyle/>
          <a:p>
            <a:pPr algn="ctr">
              <a:defRPr sz="1050" b="1">
                <a:solidFill>
                  <a:srgbClr val="62666D"/>
                </a:solidFill>
                <a:latin typeface="Arial"/>
                <a:ea typeface="Arial"/>
                <a:cs typeface="Arial"/>
              </a:defRPr>
            </a:pPr>
            <a:r>
              <a:rPr sz="1050" b="1">
                <a:solidFill>
                  <a:srgbClr val="62666D"/>
                </a:solidFill>
                <a:latin typeface="Arial"/>
                <a:ea typeface="Arial"/>
                <a:cs typeface="Arial"/>
              </a:rPr>
              <a:t>IMAGE 3</a:t>
            </a:r>
          </a:p>
        </p:txBody>
      </p:sp>
      <p:sp>
        <p:nvSpPr>
          <p:cNvPr id="17" name="gt2">
            <a:extLst>
              <a:ext uri="{FF2B5EF4-FFF2-40B4-BE49-F238E27FC236}">
                <a16:creationId xmlns:a16="http://schemas.microsoft.com/office/drawing/2014/main" id="{4B4DCB55-3815-41E2-8689-A67EF4C33C4A}"/>
              </a:ext>
            </a:extLst>
          </p:cNvPr>
          <p:cNvSpPr>
            <a:spLocks noGrp="1"/>
          </p:cNvSpPr>
          <p:nvPr/>
        </p:nvSpPr>
        <p:spPr>
          <a:xfrm>
            <a:off x="5029200" y="3333750"/>
            <a:ext cx="2000250" cy="285750"/>
          </a:xfrm>
          <a:prstGeom prst="rect">
            <a:avLst/>
          </a:prstGeom>
          <a:noFill/>
          <a:ln w="0">
            <a:noFill/>
            <a:prstDash val="solid"/>
          </a:ln>
        </p:spPr>
        <p:txBody>
          <a:bodyPr lIns="0" tIns="0" rIns="0" bIns="0" anchor="ctr">
            <a:normAutofit/>
          </a:bodyPr>
          <a:lstStyle/>
          <a:p>
            <a:pPr algn="ctr">
              <a:defRPr sz="1350" b="1">
                <a:solidFill>
                  <a:srgbClr val="111111"/>
                </a:solidFill>
                <a:latin typeface="Consolas"/>
                <a:ea typeface="Consolas"/>
                <a:cs typeface="Consolas"/>
              </a:defRPr>
            </a:pPr>
            <a:r>
              <a:rPr sz="1350" b="1">
                <a:solidFill>
                  <a:srgbClr val="111111"/>
                </a:solidFill>
                <a:latin typeface="Consolas"/>
                <a:ea typeface="Consolas"/>
                <a:cs typeface="Consolas"/>
              </a:rPr>
              <a:t>GT: absent</a:t>
            </a:r>
          </a:p>
        </p:txBody>
      </p:sp>
      <p:sp>
        <p:nvSpPr>
          <p:cNvPr id="18" name="pred2">
            <a:extLst>
              <a:ext uri="{FF2B5EF4-FFF2-40B4-BE49-F238E27FC236}">
                <a16:creationId xmlns:a16="http://schemas.microsoft.com/office/drawing/2014/main" id="{841CFA09-EBAA-462B-9657-D9C753EE23B5}"/>
              </a:ext>
            </a:extLst>
          </p:cNvPr>
          <p:cNvSpPr>
            <a:spLocks noGrp="1"/>
          </p:cNvSpPr>
          <p:nvPr/>
        </p:nvSpPr>
        <p:spPr>
          <a:xfrm>
            <a:off x="5029200" y="3676650"/>
            <a:ext cx="2000250" cy="285750"/>
          </a:xfrm>
          <a:prstGeom prst="rect">
            <a:avLst/>
          </a:prstGeom>
          <a:noFill/>
          <a:ln w="0">
            <a:noFill/>
            <a:prstDash val="solid"/>
          </a:ln>
        </p:spPr>
        <p:txBody>
          <a:bodyPr lIns="0" tIns="0" rIns="0" bIns="0" anchor="ctr">
            <a:normAutofit/>
          </a:bodyPr>
          <a:lstStyle/>
          <a:p>
            <a:pPr algn="ctr">
              <a:defRPr sz="1350" b="0">
                <a:solidFill>
                  <a:srgbClr val="111111"/>
                </a:solidFill>
                <a:latin typeface="Consolas"/>
                <a:ea typeface="Consolas"/>
                <a:cs typeface="Consolas"/>
              </a:defRPr>
            </a:pPr>
            <a:r>
              <a:rPr sz="1350" b="0">
                <a:solidFill>
                  <a:srgbClr val="111111"/>
                </a:solidFill>
                <a:latin typeface="Consolas"/>
                <a:ea typeface="Consolas"/>
                <a:cs typeface="Consolas"/>
              </a:rPr>
              <a:t>OCR: absent</a:t>
            </a:r>
          </a:p>
        </p:txBody>
      </p:sp>
      <p:sp>
        <p:nvSpPr>
          <p:cNvPr id="19" name="outcome-box2">
            <a:extLst>
              <a:ext uri="{FF2B5EF4-FFF2-40B4-BE49-F238E27FC236}">
                <a16:creationId xmlns:a16="http://schemas.microsoft.com/office/drawing/2014/main" id="{979C7252-7842-44A5-9A98-855F5CA458BD}"/>
              </a:ext>
            </a:extLst>
          </p:cNvPr>
          <p:cNvSpPr>
            <a:spLocks noGrp="1"/>
          </p:cNvSpPr>
          <p:nvPr/>
        </p:nvSpPr>
        <p:spPr>
          <a:xfrm>
            <a:off x="5600700" y="4171950"/>
            <a:ext cx="857250" cy="457200"/>
          </a:xfrm>
          <a:prstGeom prst="rect">
            <a:avLst/>
          </a:prstGeom>
          <a:solidFill>
            <a:srgbClr val="E8F3E8"/>
          </a:solidFill>
          <a:ln w="0">
            <a:noFill/>
            <a:prstDash val="solid"/>
          </a:ln>
        </p:spPr>
        <p:txBody>
          <a:bodyPr/>
          <a:lstStyle/>
          <a:p>
            <a:endParaRPr lang="de-DE"/>
          </a:p>
        </p:txBody>
      </p:sp>
      <p:sp>
        <p:nvSpPr>
          <p:cNvPr id="20" name="outcome2">
            <a:extLst>
              <a:ext uri="{FF2B5EF4-FFF2-40B4-BE49-F238E27FC236}">
                <a16:creationId xmlns:a16="http://schemas.microsoft.com/office/drawing/2014/main" id="{F2BE0849-7358-4FC7-884A-EE3D9EC5654F}"/>
              </a:ext>
            </a:extLst>
          </p:cNvPr>
          <p:cNvSpPr>
            <a:spLocks noGrp="1"/>
          </p:cNvSpPr>
          <p:nvPr/>
        </p:nvSpPr>
        <p:spPr>
          <a:xfrm>
            <a:off x="5600700" y="4200525"/>
            <a:ext cx="857250" cy="381000"/>
          </a:xfrm>
          <a:prstGeom prst="rect">
            <a:avLst/>
          </a:prstGeom>
          <a:noFill/>
          <a:ln w="0">
            <a:noFill/>
            <a:prstDash val="solid"/>
          </a:ln>
        </p:spPr>
        <p:txBody>
          <a:bodyPr lIns="0" tIns="0" rIns="0" bIns="0" anchor="ctr">
            <a:normAutofit/>
          </a:bodyPr>
          <a:lstStyle/>
          <a:p>
            <a:pPr algn="ctr">
              <a:defRPr sz="1725" b="1">
                <a:solidFill>
                  <a:srgbClr val="2B8A66"/>
                </a:solidFill>
                <a:latin typeface="Arial"/>
                <a:ea typeface="Arial"/>
                <a:cs typeface="Arial"/>
              </a:defRPr>
            </a:pPr>
            <a:r>
              <a:rPr sz="1725" b="1">
                <a:solidFill>
                  <a:srgbClr val="2B8A66"/>
                </a:solidFill>
                <a:latin typeface="Arial"/>
                <a:ea typeface="Arial"/>
                <a:cs typeface="Arial"/>
              </a:rPr>
              <a:t>TN</a:t>
            </a:r>
          </a:p>
        </p:txBody>
      </p:sp>
      <p:pic>
        <p:nvPicPr>
          <p:cNvPr id="55" name="Grafik 54"/>
          <p:cNvPicPr>
            <a:picLocks noChangeAspect="1"/>
          </p:cNvPicPr>
          <p:nvPr/>
        </p:nvPicPr>
        <p:blipFill>
          <a:blip r:embed="rId6"/>
          <a:srcRect l="284" r="284"/>
          <a:stretch>
            <a:fillRect/>
          </a:stretch>
        </p:blipFill>
        <p:spPr>
          <a:xfrm>
            <a:off x="7334250" y="1619250"/>
            <a:ext cx="2000250" cy="1257300"/>
          </a:xfrm>
          <a:prstGeom prst="rect">
            <a:avLst/>
          </a:prstGeom>
        </p:spPr>
      </p:pic>
      <p:sp>
        <p:nvSpPr>
          <p:cNvPr id="22" name="case3">
            <a:extLst>
              <a:ext uri="{FF2B5EF4-FFF2-40B4-BE49-F238E27FC236}">
                <a16:creationId xmlns:a16="http://schemas.microsoft.com/office/drawing/2014/main" id="{F8901E84-F459-4D21-9237-904FE60F5AD8}"/>
              </a:ext>
            </a:extLst>
          </p:cNvPr>
          <p:cNvSpPr>
            <a:spLocks noGrp="1"/>
          </p:cNvSpPr>
          <p:nvPr/>
        </p:nvSpPr>
        <p:spPr>
          <a:xfrm>
            <a:off x="7334250" y="2971800"/>
            <a:ext cx="2000250" cy="247650"/>
          </a:xfrm>
          <a:prstGeom prst="rect">
            <a:avLst/>
          </a:prstGeom>
          <a:noFill/>
          <a:ln w="0">
            <a:noFill/>
            <a:prstDash val="solid"/>
          </a:ln>
        </p:spPr>
        <p:txBody>
          <a:bodyPr lIns="0" tIns="0" rIns="0" bIns="0" anchor="ctr">
            <a:normAutofit/>
          </a:bodyPr>
          <a:lstStyle/>
          <a:p>
            <a:pPr algn="ctr">
              <a:defRPr sz="1050" b="1">
                <a:solidFill>
                  <a:srgbClr val="62666D"/>
                </a:solidFill>
                <a:latin typeface="Arial"/>
                <a:ea typeface="Arial"/>
                <a:cs typeface="Arial"/>
              </a:defRPr>
            </a:pPr>
            <a:r>
              <a:rPr sz="1050" b="1">
                <a:solidFill>
                  <a:srgbClr val="62666D"/>
                </a:solidFill>
                <a:latin typeface="Arial"/>
                <a:ea typeface="Arial"/>
                <a:cs typeface="Arial"/>
              </a:rPr>
              <a:t>IMAGE 4</a:t>
            </a:r>
          </a:p>
        </p:txBody>
      </p:sp>
      <p:sp>
        <p:nvSpPr>
          <p:cNvPr id="23" name="gt3">
            <a:extLst>
              <a:ext uri="{FF2B5EF4-FFF2-40B4-BE49-F238E27FC236}">
                <a16:creationId xmlns:a16="http://schemas.microsoft.com/office/drawing/2014/main" id="{4C7B3955-60B3-472A-9368-C10C05A79EB1}"/>
              </a:ext>
            </a:extLst>
          </p:cNvPr>
          <p:cNvSpPr>
            <a:spLocks noGrp="1"/>
          </p:cNvSpPr>
          <p:nvPr/>
        </p:nvSpPr>
        <p:spPr>
          <a:xfrm>
            <a:off x="7334250" y="3333750"/>
            <a:ext cx="2000250" cy="285750"/>
          </a:xfrm>
          <a:prstGeom prst="rect">
            <a:avLst/>
          </a:prstGeom>
          <a:noFill/>
          <a:ln w="0">
            <a:noFill/>
            <a:prstDash val="solid"/>
          </a:ln>
        </p:spPr>
        <p:txBody>
          <a:bodyPr lIns="0" tIns="0" rIns="0" bIns="0" anchor="ctr">
            <a:normAutofit/>
          </a:bodyPr>
          <a:lstStyle/>
          <a:p>
            <a:pPr algn="ctr">
              <a:defRPr sz="1350" b="1">
                <a:solidFill>
                  <a:srgbClr val="111111"/>
                </a:solidFill>
                <a:latin typeface="Consolas"/>
                <a:ea typeface="Consolas"/>
                <a:cs typeface="Consolas"/>
              </a:defRPr>
            </a:pPr>
            <a:r>
              <a:rPr sz="1350" b="1">
                <a:solidFill>
                  <a:srgbClr val="111111"/>
                </a:solidFill>
                <a:latin typeface="Consolas"/>
                <a:ea typeface="Consolas"/>
                <a:cs typeface="Consolas"/>
              </a:rPr>
              <a:t>GT: absent</a:t>
            </a:r>
          </a:p>
        </p:txBody>
      </p:sp>
      <p:sp>
        <p:nvSpPr>
          <p:cNvPr id="24" name="pred3">
            <a:extLst>
              <a:ext uri="{FF2B5EF4-FFF2-40B4-BE49-F238E27FC236}">
                <a16:creationId xmlns:a16="http://schemas.microsoft.com/office/drawing/2014/main" id="{41C78656-2D70-4F8C-8115-AF5F59506B71}"/>
              </a:ext>
            </a:extLst>
          </p:cNvPr>
          <p:cNvSpPr>
            <a:spLocks noGrp="1"/>
          </p:cNvSpPr>
          <p:nvPr/>
        </p:nvSpPr>
        <p:spPr>
          <a:xfrm>
            <a:off x="7334250" y="3676650"/>
            <a:ext cx="2000250" cy="285750"/>
          </a:xfrm>
          <a:prstGeom prst="rect">
            <a:avLst/>
          </a:prstGeom>
          <a:noFill/>
          <a:ln w="0">
            <a:noFill/>
            <a:prstDash val="solid"/>
          </a:ln>
        </p:spPr>
        <p:txBody>
          <a:bodyPr lIns="0" tIns="0" rIns="0" bIns="0" anchor="ctr">
            <a:normAutofit/>
          </a:bodyPr>
          <a:lstStyle/>
          <a:p>
            <a:pPr algn="ctr">
              <a:defRPr sz="1350" b="0">
                <a:solidFill>
                  <a:srgbClr val="111111"/>
                </a:solidFill>
                <a:latin typeface="Consolas"/>
                <a:ea typeface="Consolas"/>
                <a:cs typeface="Consolas"/>
              </a:defRPr>
            </a:pPr>
            <a:r>
              <a:rPr sz="1350" b="0">
                <a:solidFill>
                  <a:srgbClr val="111111"/>
                </a:solidFill>
                <a:latin typeface="Consolas"/>
                <a:ea typeface="Consolas"/>
                <a:cs typeface="Consolas"/>
              </a:rPr>
              <a:t>OCR: €9.30</a:t>
            </a:r>
          </a:p>
        </p:txBody>
      </p:sp>
      <p:sp>
        <p:nvSpPr>
          <p:cNvPr id="25" name="outcome-box3">
            <a:extLst>
              <a:ext uri="{FF2B5EF4-FFF2-40B4-BE49-F238E27FC236}">
                <a16:creationId xmlns:a16="http://schemas.microsoft.com/office/drawing/2014/main" id="{ABBFD162-0AAC-4B37-8F83-88E7E517263F}"/>
              </a:ext>
            </a:extLst>
          </p:cNvPr>
          <p:cNvSpPr>
            <a:spLocks noGrp="1"/>
          </p:cNvSpPr>
          <p:nvPr/>
        </p:nvSpPr>
        <p:spPr>
          <a:xfrm>
            <a:off x="7905750" y="4171950"/>
            <a:ext cx="857250" cy="457200"/>
          </a:xfrm>
          <a:prstGeom prst="rect">
            <a:avLst/>
          </a:prstGeom>
          <a:solidFill>
            <a:srgbClr val="F7DDDD"/>
          </a:solidFill>
          <a:ln w="0">
            <a:noFill/>
            <a:prstDash val="solid"/>
          </a:ln>
        </p:spPr>
        <p:txBody>
          <a:bodyPr/>
          <a:lstStyle/>
          <a:p>
            <a:endParaRPr lang="de-DE"/>
          </a:p>
        </p:txBody>
      </p:sp>
      <p:sp>
        <p:nvSpPr>
          <p:cNvPr id="26" name="outcome3">
            <a:extLst>
              <a:ext uri="{FF2B5EF4-FFF2-40B4-BE49-F238E27FC236}">
                <a16:creationId xmlns:a16="http://schemas.microsoft.com/office/drawing/2014/main" id="{F3E8FCFC-2E7C-420F-BADE-2BB28C5F76AF}"/>
              </a:ext>
            </a:extLst>
          </p:cNvPr>
          <p:cNvSpPr>
            <a:spLocks noGrp="1"/>
          </p:cNvSpPr>
          <p:nvPr/>
        </p:nvSpPr>
        <p:spPr>
          <a:xfrm>
            <a:off x="7905750" y="4200525"/>
            <a:ext cx="857250" cy="381000"/>
          </a:xfrm>
          <a:prstGeom prst="rect">
            <a:avLst/>
          </a:prstGeom>
          <a:noFill/>
          <a:ln w="0">
            <a:noFill/>
            <a:prstDash val="solid"/>
          </a:ln>
        </p:spPr>
        <p:txBody>
          <a:bodyPr lIns="0" tIns="0" rIns="0" bIns="0" anchor="ctr">
            <a:normAutofit/>
          </a:bodyPr>
          <a:lstStyle/>
          <a:p>
            <a:pPr algn="ctr">
              <a:defRPr sz="1725" b="1">
                <a:solidFill>
                  <a:srgbClr val="C64B4B"/>
                </a:solidFill>
                <a:latin typeface="Arial"/>
                <a:ea typeface="Arial"/>
                <a:cs typeface="Arial"/>
              </a:defRPr>
            </a:pPr>
            <a:r>
              <a:rPr sz="1725" b="1">
                <a:solidFill>
                  <a:srgbClr val="C64B4B"/>
                </a:solidFill>
                <a:latin typeface="Arial"/>
                <a:ea typeface="Arial"/>
                <a:cs typeface="Arial"/>
              </a:rPr>
              <a:t>FP</a:t>
            </a:r>
          </a:p>
        </p:txBody>
      </p:sp>
      <p:pic>
        <p:nvPicPr>
          <p:cNvPr id="61" name="Grafik 60"/>
          <p:cNvPicPr>
            <a:picLocks noChangeAspect="1"/>
          </p:cNvPicPr>
          <p:nvPr/>
        </p:nvPicPr>
        <p:blipFill>
          <a:blip r:embed="rId7"/>
          <a:srcRect l="284" r="284"/>
          <a:stretch>
            <a:fillRect/>
          </a:stretch>
        </p:blipFill>
        <p:spPr>
          <a:xfrm>
            <a:off x="9639300" y="1619250"/>
            <a:ext cx="2000250" cy="1257300"/>
          </a:xfrm>
          <a:prstGeom prst="rect">
            <a:avLst/>
          </a:prstGeom>
        </p:spPr>
      </p:pic>
      <p:sp>
        <p:nvSpPr>
          <p:cNvPr id="28" name="case4">
            <a:extLst>
              <a:ext uri="{FF2B5EF4-FFF2-40B4-BE49-F238E27FC236}">
                <a16:creationId xmlns:a16="http://schemas.microsoft.com/office/drawing/2014/main" id="{DB99A4CA-BB73-4155-948D-8B9444FB3C34}"/>
              </a:ext>
            </a:extLst>
          </p:cNvPr>
          <p:cNvSpPr>
            <a:spLocks noGrp="1"/>
          </p:cNvSpPr>
          <p:nvPr/>
        </p:nvSpPr>
        <p:spPr>
          <a:xfrm>
            <a:off x="9639300" y="2971800"/>
            <a:ext cx="2000250" cy="247650"/>
          </a:xfrm>
          <a:prstGeom prst="rect">
            <a:avLst/>
          </a:prstGeom>
          <a:noFill/>
          <a:ln w="0">
            <a:noFill/>
            <a:prstDash val="solid"/>
          </a:ln>
        </p:spPr>
        <p:txBody>
          <a:bodyPr lIns="0" tIns="0" rIns="0" bIns="0" anchor="ctr">
            <a:normAutofit/>
          </a:bodyPr>
          <a:lstStyle/>
          <a:p>
            <a:pPr algn="ctr">
              <a:defRPr sz="1050" b="1">
                <a:solidFill>
                  <a:srgbClr val="62666D"/>
                </a:solidFill>
                <a:latin typeface="Arial"/>
                <a:ea typeface="Arial"/>
                <a:cs typeface="Arial"/>
              </a:defRPr>
            </a:pPr>
            <a:r>
              <a:rPr sz="1050" b="1">
                <a:solidFill>
                  <a:srgbClr val="62666D"/>
                </a:solidFill>
                <a:latin typeface="Arial"/>
                <a:ea typeface="Arial"/>
                <a:cs typeface="Arial"/>
              </a:rPr>
              <a:t>IMAGE 5</a:t>
            </a:r>
          </a:p>
        </p:txBody>
      </p:sp>
      <p:sp>
        <p:nvSpPr>
          <p:cNvPr id="29" name="gt4">
            <a:extLst>
              <a:ext uri="{FF2B5EF4-FFF2-40B4-BE49-F238E27FC236}">
                <a16:creationId xmlns:a16="http://schemas.microsoft.com/office/drawing/2014/main" id="{F61AB010-A312-4CD2-A610-66B678AEC249}"/>
              </a:ext>
            </a:extLst>
          </p:cNvPr>
          <p:cNvSpPr>
            <a:spLocks noGrp="1"/>
          </p:cNvSpPr>
          <p:nvPr/>
        </p:nvSpPr>
        <p:spPr>
          <a:xfrm>
            <a:off x="9639300" y="3333750"/>
            <a:ext cx="2000250" cy="285750"/>
          </a:xfrm>
          <a:prstGeom prst="rect">
            <a:avLst/>
          </a:prstGeom>
          <a:noFill/>
          <a:ln w="0">
            <a:noFill/>
            <a:prstDash val="solid"/>
          </a:ln>
        </p:spPr>
        <p:txBody>
          <a:bodyPr lIns="0" tIns="0" rIns="0" bIns="0" anchor="ctr">
            <a:normAutofit/>
          </a:bodyPr>
          <a:lstStyle/>
          <a:p>
            <a:pPr algn="ctr">
              <a:defRPr sz="1350" b="1">
                <a:solidFill>
                  <a:srgbClr val="111111"/>
                </a:solidFill>
                <a:latin typeface="Consolas"/>
                <a:ea typeface="Consolas"/>
                <a:cs typeface="Consolas"/>
              </a:defRPr>
            </a:pPr>
            <a:r>
              <a:rPr sz="1350" b="1">
                <a:solidFill>
                  <a:srgbClr val="111111"/>
                </a:solidFill>
                <a:latin typeface="Consolas"/>
                <a:ea typeface="Consolas"/>
                <a:cs typeface="Consolas"/>
              </a:rPr>
              <a:t>GT: €5.20</a:t>
            </a:r>
          </a:p>
        </p:txBody>
      </p:sp>
      <p:sp>
        <p:nvSpPr>
          <p:cNvPr id="30" name="pred4">
            <a:extLst>
              <a:ext uri="{FF2B5EF4-FFF2-40B4-BE49-F238E27FC236}">
                <a16:creationId xmlns:a16="http://schemas.microsoft.com/office/drawing/2014/main" id="{47B95A90-3676-486D-B579-563922323C00}"/>
              </a:ext>
            </a:extLst>
          </p:cNvPr>
          <p:cNvSpPr>
            <a:spLocks noGrp="1"/>
          </p:cNvSpPr>
          <p:nvPr/>
        </p:nvSpPr>
        <p:spPr>
          <a:xfrm>
            <a:off x="9639300" y="3676650"/>
            <a:ext cx="2000250" cy="285750"/>
          </a:xfrm>
          <a:prstGeom prst="rect">
            <a:avLst/>
          </a:prstGeom>
          <a:noFill/>
          <a:ln w="0">
            <a:noFill/>
            <a:prstDash val="solid"/>
          </a:ln>
        </p:spPr>
        <p:txBody>
          <a:bodyPr lIns="0" tIns="0" rIns="0" bIns="0" anchor="ctr">
            <a:normAutofit/>
          </a:bodyPr>
          <a:lstStyle/>
          <a:p>
            <a:pPr algn="ctr">
              <a:defRPr sz="1350" b="0">
                <a:solidFill>
                  <a:srgbClr val="111111"/>
                </a:solidFill>
                <a:latin typeface="Consolas"/>
                <a:ea typeface="Consolas"/>
                <a:cs typeface="Consolas"/>
              </a:defRPr>
            </a:pPr>
            <a:r>
              <a:rPr sz="1350" b="0">
                <a:solidFill>
                  <a:srgbClr val="111111"/>
                </a:solidFill>
                <a:latin typeface="Consolas"/>
                <a:ea typeface="Consolas"/>
                <a:cs typeface="Consolas"/>
              </a:rPr>
              <a:t>OCR: absent</a:t>
            </a:r>
          </a:p>
        </p:txBody>
      </p:sp>
      <p:sp>
        <p:nvSpPr>
          <p:cNvPr id="31" name="outcome-box4">
            <a:extLst>
              <a:ext uri="{FF2B5EF4-FFF2-40B4-BE49-F238E27FC236}">
                <a16:creationId xmlns:a16="http://schemas.microsoft.com/office/drawing/2014/main" id="{E060AE52-33CB-4344-A2F1-D7D197E4AC99}"/>
              </a:ext>
            </a:extLst>
          </p:cNvPr>
          <p:cNvSpPr>
            <a:spLocks noGrp="1"/>
          </p:cNvSpPr>
          <p:nvPr/>
        </p:nvSpPr>
        <p:spPr>
          <a:xfrm>
            <a:off x="10210800" y="4171950"/>
            <a:ext cx="857250" cy="457200"/>
          </a:xfrm>
          <a:prstGeom prst="rect">
            <a:avLst/>
          </a:prstGeom>
          <a:solidFill>
            <a:srgbClr val="F7DDDD"/>
          </a:solidFill>
          <a:ln w="0">
            <a:noFill/>
            <a:prstDash val="solid"/>
          </a:ln>
        </p:spPr>
        <p:txBody>
          <a:bodyPr/>
          <a:lstStyle/>
          <a:p>
            <a:endParaRPr lang="de-DE"/>
          </a:p>
        </p:txBody>
      </p:sp>
      <p:sp>
        <p:nvSpPr>
          <p:cNvPr id="32" name="outcome4">
            <a:extLst>
              <a:ext uri="{FF2B5EF4-FFF2-40B4-BE49-F238E27FC236}">
                <a16:creationId xmlns:a16="http://schemas.microsoft.com/office/drawing/2014/main" id="{4643230C-D6DF-42A2-837D-B2B7815B3F31}"/>
              </a:ext>
            </a:extLst>
          </p:cNvPr>
          <p:cNvSpPr>
            <a:spLocks noGrp="1"/>
          </p:cNvSpPr>
          <p:nvPr/>
        </p:nvSpPr>
        <p:spPr>
          <a:xfrm>
            <a:off x="10210800" y="4200525"/>
            <a:ext cx="857250" cy="381000"/>
          </a:xfrm>
          <a:prstGeom prst="rect">
            <a:avLst/>
          </a:prstGeom>
          <a:noFill/>
          <a:ln w="0">
            <a:noFill/>
            <a:prstDash val="solid"/>
          </a:ln>
        </p:spPr>
        <p:txBody>
          <a:bodyPr lIns="0" tIns="0" rIns="0" bIns="0" anchor="ctr">
            <a:normAutofit/>
          </a:bodyPr>
          <a:lstStyle/>
          <a:p>
            <a:pPr algn="ctr">
              <a:defRPr sz="1725" b="1">
                <a:solidFill>
                  <a:srgbClr val="C64B4B"/>
                </a:solidFill>
                <a:latin typeface="Arial"/>
                <a:ea typeface="Arial"/>
                <a:cs typeface="Arial"/>
              </a:defRPr>
            </a:pPr>
            <a:r>
              <a:rPr sz="1725" b="1">
                <a:solidFill>
                  <a:srgbClr val="C64B4B"/>
                </a:solidFill>
                <a:latin typeface="Arial"/>
                <a:ea typeface="Arial"/>
                <a:cs typeface="Arial"/>
              </a:rPr>
              <a:t>FN</a:t>
            </a:r>
          </a:p>
        </p:txBody>
      </p:sp>
      <p:sp>
        <p:nvSpPr>
          <p:cNvPr id="33" name="task">
            <a:extLst>
              <a:ext uri="{FF2B5EF4-FFF2-40B4-BE49-F238E27FC236}">
                <a16:creationId xmlns:a16="http://schemas.microsoft.com/office/drawing/2014/main" id="{C046696A-FCFC-4AFD-BE97-49BD271B067A}"/>
              </a:ext>
            </a:extLst>
          </p:cNvPr>
          <p:cNvSpPr>
            <a:spLocks noGrp="1"/>
          </p:cNvSpPr>
          <p:nvPr/>
        </p:nvSpPr>
        <p:spPr>
          <a:xfrm>
            <a:off x="419100" y="5191125"/>
            <a:ext cx="11334750" cy="457200"/>
          </a:xfrm>
          <a:prstGeom prst="rect">
            <a:avLst/>
          </a:prstGeom>
          <a:noFill/>
          <a:ln w="0">
            <a:noFill/>
            <a:prstDash val="solid"/>
          </a:ln>
        </p:spPr>
        <p:txBody>
          <a:bodyPr lIns="0" tIns="0" rIns="0" bIns="0" anchor="ctr">
            <a:normAutofit/>
          </a:bodyPr>
          <a:lstStyle/>
          <a:p>
            <a:pPr algn="ctr">
              <a:defRPr sz="1875" b="1">
                <a:solidFill>
                  <a:srgbClr val="111111"/>
                </a:solidFill>
                <a:latin typeface="Arial"/>
                <a:ea typeface="Arial"/>
                <a:cs typeface="Arial"/>
              </a:defRPr>
            </a:pPr>
            <a:r>
              <a:rPr sz="1875" b="1">
                <a:solidFill>
                  <a:srgbClr val="111111"/>
                </a:solidFill>
                <a:latin typeface="Arial"/>
                <a:ea typeface="Arial"/>
                <a:cs typeface="Arial"/>
              </a:rPr>
              <a:t>Task: detect the field labelled TOTAL and return its exact monetary value.</a:t>
            </a:r>
          </a:p>
        </p:txBody>
      </p:sp>
      <p:sp>
        <p:nvSpPr>
          <p:cNvPr id="34" name="match">
            <a:extLst>
              <a:ext uri="{FF2B5EF4-FFF2-40B4-BE49-F238E27FC236}">
                <a16:creationId xmlns:a16="http://schemas.microsoft.com/office/drawing/2014/main" id="{83137844-9B04-4A3A-8F03-C4B9EE5EAC6E}"/>
              </a:ext>
            </a:extLst>
          </p:cNvPr>
          <p:cNvSpPr>
            <a:spLocks noGrp="1"/>
          </p:cNvSpPr>
          <p:nvPr/>
        </p:nvSpPr>
        <p:spPr>
          <a:xfrm>
            <a:off x="419100" y="5715000"/>
            <a:ext cx="11334750" cy="361950"/>
          </a:xfrm>
          <a:prstGeom prst="rect">
            <a:avLst/>
          </a:prstGeom>
          <a:noFill/>
          <a:ln w="0">
            <a:noFill/>
            <a:prstDash val="solid"/>
          </a:ln>
        </p:spPr>
        <p:txBody>
          <a:bodyPr lIns="0" tIns="0" rIns="0" bIns="0" anchor="ctr">
            <a:normAutofit/>
          </a:bodyPr>
          <a:lstStyle/>
          <a:p>
            <a:pPr algn="ctr">
              <a:defRPr sz="1425" b="1">
                <a:solidFill>
                  <a:srgbClr val="62666D"/>
                </a:solidFill>
                <a:latin typeface="Arial"/>
                <a:ea typeface="Arial"/>
                <a:cs typeface="Arial"/>
              </a:defRPr>
            </a:pPr>
            <a:r>
              <a:rPr sz="1425" b="1">
                <a:solidFill>
                  <a:srgbClr val="62666D"/>
                </a:solidFill>
                <a:latin typeface="Arial"/>
                <a:ea typeface="Arial"/>
                <a:cs typeface="Arial"/>
              </a:rPr>
              <a:t>Exact label + exact value = a match. An absent prediction is correct only when TOTAL is absent.</a:t>
            </a:r>
          </a:p>
        </p:txBody>
      </p:sp>
    </p:spTree>
    <p:extLst>
      <p:ext uri="{BB962C8B-B14F-4D97-AF65-F5344CB8AC3E}">
        <p14:creationId xmlns:p14="http://schemas.microsoft.com/office/powerpoint/2010/main" val="1163200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35B220FB-958F-469C-9BF4-0D5287843F56}"/>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The five-image dataset produces an F1 score of 0.67</a:t>
            </a:r>
          </a:p>
        </p:txBody>
      </p:sp>
      <p:sp>
        <p:nvSpPr>
          <p:cNvPr id="2" name="page">
            <a:extLst>
              <a:ext uri="{FF2B5EF4-FFF2-40B4-BE49-F238E27FC236}">
                <a16:creationId xmlns:a16="http://schemas.microsoft.com/office/drawing/2014/main" id="{7CC40E64-AE8B-4C07-8A48-1B244A1848BC}"/>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25</a:t>
            </a:r>
            <a:endParaRPr sz="975" b="0">
              <a:solidFill>
                <a:srgbClr val="62666D"/>
              </a:solidFill>
              <a:latin typeface="Arial"/>
              <a:ea typeface="Arial"/>
              <a:cs typeface="Arial"/>
            </a:endParaRPr>
          </a:p>
        </p:txBody>
      </p:sp>
      <p:sp>
        <p:nvSpPr>
          <p:cNvPr id="3" name="counts">
            <a:extLst>
              <a:ext uri="{FF2B5EF4-FFF2-40B4-BE49-F238E27FC236}">
                <a16:creationId xmlns:a16="http://schemas.microsoft.com/office/drawing/2014/main" id="{1962103A-DFD4-411B-9E49-1C23C09F46C4}"/>
              </a:ext>
            </a:extLst>
          </p:cNvPr>
          <p:cNvSpPr>
            <a:spLocks noGrp="1"/>
          </p:cNvSpPr>
          <p:nvPr/>
        </p:nvSpPr>
        <p:spPr>
          <a:xfrm>
            <a:off x="419100" y="1476375"/>
            <a:ext cx="11334750" cy="619125"/>
          </a:xfrm>
          <a:prstGeom prst="rect">
            <a:avLst/>
          </a:prstGeom>
          <a:noFill/>
          <a:ln w="0">
            <a:noFill/>
            <a:prstDash val="solid"/>
          </a:ln>
        </p:spPr>
        <p:txBody>
          <a:bodyPr lIns="0" tIns="0" rIns="0" bIns="0" anchor="ctr">
            <a:normAutofit/>
          </a:bodyPr>
          <a:lstStyle/>
          <a:p>
            <a:pPr algn="ctr">
              <a:defRPr sz="2325" b="1">
                <a:solidFill>
                  <a:srgbClr val="111111"/>
                </a:solidFill>
                <a:latin typeface="Consolas"/>
                <a:ea typeface="Consolas"/>
                <a:cs typeface="Consolas"/>
              </a:defRPr>
            </a:pPr>
            <a:r>
              <a:rPr lang="de-DE" sz="2325" b="1">
                <a:solidFill>
                  <a:srgbClr val="111111"/>
                </a:solidFill>
                <a:latin typeface="Consolas"/>
                <a:ea typeface="Consolas"/>
                <a:cs typeface="Consolas"/>
              </a:rPr>
              <a:t>TP = 5      TN = 3      FP = 2      FN = 4</a:t>
            </a:r>
            <a:endParaRPr sz="2325" b="1">
              <a:solidFill>
                <a:srgbClr val="111111"/>
              </a:solidFill>
              <a:latin typeface="Consolas"/>
              <a:ea typeface="Consolas"/>
              <a:cs typeface="Consolas"/>
            </a:endParaRPr>
          </a:p>
        </p:txBody>
      </p:sp>
      <p:sp>
        <p:nvSpPr>
          <p:cNvPr id="4" name="Gerader Verbinder 3">
            <a:extLst>
              <a:ext uri="{FF2B5EF4-FFF2-40B4-BE49-F238E27FC236}">
                <a16:creationId xmlns:a16="http://schemas.microsoft.com/office/drawing/2014/main" id="{74CA4CEF-A0CE-483D-89DB-A6E62664A5CC}"/>
              </a:ext>
            </a:extLst>
          </p:cNvPr>
          <p:cNvSpPr>
            <a:spLocks noGrp="1"/>
          </p:cNvSpPr>
          <p:nvPr/>
        </p:nvSpPr>
        <p:spPr>
          <a:xfrm>
            <a:off x="419100" y="2286000"/>
            <a:ext cx="11353800" cy="0"/>
          </a:xfrm>
          <a:prstGeom prst="line">
            <a:avLst/>
          </a:prstGeom>
          <a:noFill/>
          <a:ln w="19050">
            <a:solidFill>
              <a:srgbClr val="B8BCC4"/>
            </a:solidFill>
            <a:prstDash val="solid"/>
          </a:ln>
        </p:spPr>
        <p:txBody>
          <a:bodyPr/>
          <a:lstStyle/>
          <a:p>
            <a:endParaRPr lang="de-DE"/>
          </a:p>
        </p:txBody>
      </p:sp>
      <p:sp>
        <p:nvSpPr>
          <p:cNvPr id="5" name="ph">
            <a:extLst>
              <a:ext uri="{FF2B5EF4-FFF2-40B4-BE49-F238E27FC236}">
                <a16:creationId xmlns:a16="http://schemas.microsoft.com/office/drawing/2014/main" id="{C428549A-8858-438F-8A45-E00B87486617}"/>
              </a:ext>
            </a:extLst>
          </p:cNvPr>
          <p:cNvSpPr>
            <a:spLocks noGrp="1"/>
          </p:cNvSpPr>
          <p:nvPr/>
        </p:nvSpPr>
        <p:spPr>
          <a:xfrm>
            <a:off x="419100" y="2667000"/>
            <a:ext cx="3143250" cy="361950"/>
          </a:xfrm>
          <a:prstGeom prst="rect">
            <a:avLst/>
          </a:prstGeom>
          <a:noFill/>
          <a:ln w="0">
            <a:noFill/>
            <a:prstDash val="solid"/>
          </a:ln>
        </p:spPr>
        <p:txBody>
          <a:bodyPr lIns="0" tIns="0" rIns="0" bIns="0" anchor="ctr">
            <a:normAutofit/>
          </a:bodyPr>
          <a:lstStyle/>
          <a:p>
            <a:pPr algn="l">
              <a:defRPr sz="1725" b="1">
                <a:solidFill>
                  <a:srgbClr val="3D8DFF"/>
                </a:solidFill>
                <a:latin typeface="Arial"/>
                <a:ea typeface="Arial"/>
                <a:cs typeface="Arial"/>
              </a:defRPr>
            </a:pPr>
            <a:r>
              <a:rPr sz="1725" b="1">
                <a:solidFill>
                  <a:srgbClr val="3D8DFF"/>
                </a:solidFill>
                <a:latin typeface="Arial"/>
                <a:ea typeface="Arial"/>
                <a:cs typeface="Arial"/>
              </a:rPr>
              <a:t>PRECISION</a:t>
            </a:r>
          </a:p>
        </p:txBody>
      </p:sp>
      <p:sp>
        <p:nvSpPr>
          <p:cNvPr id="6" name="pf">
            <a:extLst>
              <a:ext uri="{FF2B5EF4-FFF2-40B4-BE49-F238E27FC236}">
                <a16:creationId xmlns:a16="http://schemas.microsoft.com/office/drawing/2014/main" id="{1501F93C-D9D9-42B9-A4AC-780DF9646ED1}"/>
              </a:ext>
            </a:extLst>
          </p:cNvPr>
          <p:cNvSpPr>
            <a:spLocks noGrp="1"/>
          </p:cNvSpPr>
          <p:nvPr/>
        </p:nvSpPr>
        <p:spPr>
          <a:xfrm>
            <a:off x="419100" y="3190875"/>
            <a:ext cx="3143250" cy="571500"/>
          </a:xfrm>
          <a:prstGeom prst="rect">
            <a:avLst/>
          </a:prstGeom>
          <a:noFill/>
          <a:ln w="0">
            <a:noFill/>
            <a:prstDash val="solid"/>
          </a:ln>
        </p:spPr>
        <p:txBody>
          <a:bodyPr lIns="0" tIns="0" rIns="0" bIns="0" anchor="ctr">
            <a:normAutofit/>
          </a:bodyPr>
          <a:lstStyle/>
          <a:p>
            <a:pPr algn="l">
              <a:defRPr sz="2175" b="1">
                <a:solidFill>
                  <a:srgbClr val="111111"/>
                </a:solidFill>
                <a:latin typeface="Consolas"/>
                <a:ea typeface="Consolas"/>
                <a:cs typeface="Consolas"/>
              </a:defRPr>
            </a:pPr>
            <a:r>
              <a:rPr lang="en-US" sz="1500" b="1">
                <a:solidFill>
                  <a:srgbClr val="111111"/>
                </a:solidFill>
                <a:latin typeface="Consolas"/>
                <a:ea typeface="Consolas"/>
                <a:cs typeface="Consolas"/>
              </a:rPr>
              <a:t>Precision = TP / (TP + FP)
= 5 / (5 + 2) = 0.71</a:t>
            </a:r>
            <a:endParaRPr sz="1500" b="1" dirty="0">
              <a:solidFill>
                <a:srgbClr val="111111"/>
              </a:solidFill>
              <a:latin typeface="Consolas"/>
              <a:ea typeface="Consolas"/>
              <a:cs typeface="Consolas"/>
            </a:endParaRPr>
          </a:p>
        </p:txBody>
      </p:sp>
      <p:sp>
        <p:nvSpPr>
          <p:cNvPr id="7" name="pd">
            <a:extLst>
              <a:ext uri="{FF2B5EF4-FFF2-40B4-BE49-F238E27FC236}">
                <a16:creationId xmlns:a16="http://schemas.microsoft.com/office/drawing/2014/main" id="{215AE181-5A19-4977-A65B-DA797D2FC710}"/>
              </a:ext>
            </a:extLst>
          </p:cNvPr>
          <p:cNvSpPr>
            <a:spLocks noGrp="1"/>
          </p:cNvSpPr>
          <p:nvPr/>
        </p:nvSpPr>
        <p:spPr>
          <a:xfrm>
            <a:off x="419100" y="3905250"/>
            <a:ext cx="3143250" cy="714375"/>
          </a:xfrm>
          <a:prstGeom prst="rect">
            <a:avLst/>
          </a:prstGeom>
          <a:noFill/>
          <a:ln w="0">
            <a:noFill/>
            <a:prstDash val="solid"/>
          </a:ln>
        </p:spPr>
        <p:txBody>
          <a:bodyPr lIns="0" tIns="0" rIns="0" bIns="0" anchor="ctr">
            <a:normAutofit/>
          </a:bodyPr>
          <a:lstStyle/>
          <a:p>
            <a:pPr algn="l">
              <a:defRPr sz="1500" b="0">
                <a:solidFill>
                  <a:srgbClr val="62666D"/>
                </a:solidFill>
                <a:latin typeface="Arial"/>
                <a:ea typeface="Arial"/>
                <a:cs typeface="Arial"/>
              </a:defRPr>
            </a:pPr>
            <a:r>
              <a:rPr lang="en-US" sz="1500" b="0">
                <a:solidFill>
                  <a:srgbClr val="62666D"/>
                </a:solidFill>
                <a:latin typeface="Arial"/>
                <a:ea typeface="Arial"/>
                <a:cs typeface="Arial"/>
              </a:rPr>
              <a:t>Five of seven reported TOTAL fields
were correct.</a:t>
            </a:r>
            <a:endParaRPr sz="1500" b="0">
              <a:solidFill>
                <a:srgbClr val="62666D"/>
              </a:solidFill>
              <a:latin typeface="Arial"/>
              <a:ea typeface="Arial"/>
              <a:cs typeface="Arial"/>
            </a:endParaRPr>
          </a:p>
        </p:txBody>
      </p:sp>
      <p:sp>
        <p:nvSpPr>
          <p:cNvPr id="8" name="rh">
            <a:extLst>
              <a:ext uri="{FF2B5EF4-FFF2-40B4-BE49-F238E27FC236}">
                <a16:creationId xmlns:a16="http://schemas.microsoft.com/office/drawing/2014/main" id="{C48E20A3-FBD7-495A-BD1E-822FC47A8CA0}"/>
              </a:ext>
            </a:extLst>
          </p:cNvPr>
          <p:cNvSpPr>
            <a:spLocks noGrp="1"/>
          </p:cNvSpPr>
          <p:nvPr/>
        </p:nvSpPr>
        <p:spPr>
          <a:xfrm>
            <a:off x="4476750" y="2667000"/>
            <a:ext cx="3143250" cy="361950"/>
          </a:xfrm>
          <a:prstGeom prst="rect">
            <a:avLst/>
          </a:prstGeom>
          <a:noFill/>
          <a:ln w="0">
            <a:noFill/>
            <a:prstDash val="solid"/>
          </a:ln>
        </p:spPr>
        <p:txBody>
          <a:bodyPr lIns="0" tIns="0" rIns="0" bIns="0" anchor="ctr">
            <a:normAutofit/>
          </a:bodyPr>
          <a:lstStyle/>
          <a:p>
            <a:pPr algn="l">
              <a:defRPr sz="1725" b="1">
                <a:solidFill>
                  <a:srgbClr val="3D8DFF"/>
                </a:solidFill>
                <a:latin typeface="Arial"/>
                <a:ea typeface="Arial"/>
                <a:cs typeface="Arial"/>
              </a:defRPr>
            </a:pPr>
            <a:r>
              <a:rPr sz="1725" b="1">
                <a:solidFill>
                  <a:srgbClr val="3D8DFF"/>
                </a:solidFill>
                <a:latin typeface="Arial"/>
                <a:ea typeface="Arial"/>
                <a:cs typeface="Arial"/>
              </a:rPr>
              <a:t>RECALL</a:t>
            </a:r>
          </a:p>
        </p:txBody>
      </p:sp>
      <p:sp>
        <p:nvSpPr>
          <p:cNvPr id="9" name="rf">
            <a:extLst>
              <a:ext uri="{FF2B5EF4-FFF2-40B4-BE49-F238E27FC236}">
                <a16:creationId xmlns:a16="http://schemas.microsoft.com/office/drawing/2014/main" id="{5AA88066-E3D7-41EA-8B87-19297FBCD74B}"/>
              </a:ext>
            </a:extLst>
          </p:cNvPr>
          <p:cNvSpPr>
            <a:spLocks noGrp="1"/>
          </p:cNvSpPr>
          <p:nvPr/>
        </p:nvSpPr>
        <p:spPr>
          <a:xfrm>
            <a:off x="4476750" y="3190875"/>
            <a:ext cx="3143250" cy="571500"/>
          </a:xfrm>
          <a:prstGeom prst="rect">
            <a:avLst/>
          </a:prstGeom>
          <a:noFill/>
          <a:ln w="0">
            <a:noFill/>
            <a:prstDash val="solid"/>
          </a:ln>
        </p:spPr>
        <p:txBody>
          <a:bodyPr lIns="0" tIns="0" rIns="0" bIns="0" anchor="ctr">
            <a:normAutofit/>
          </a:bodyPr>
          <a:lstStyle/>
          <a:p>
            <a:pPr algn="l">
              <a:defRPr sz="2175" b="1">
                <a:solidFill>
                  <a:srgbClr val="111111"/>
                </a:solidFill>
                <a:latin typeface="Consolas"/>
                <a:ea typeface="Consolas"/>
                <a:cs typeface="Consolas"/>
              </a:defRPr>
            </a:pPr>
            <a:r>
              <a:rPr lang="en-US" sz="1500" b="1">
                <a:solidFill>
                  <a:srgbClr val="111111"/>
                </a:solidFill>
                <a:latin typeface="Consolas"/>
                <a:ea typeface="Consolas"/>
                <a:cs typeface="Consolas"/>
              </a:rPr>
              <a:t>Recall = TP / (TP + FN)
= 5 / (5 + 4) = 0.56</a:t>
            </a:r>
            <a:endParaRPr sz="1500" b="1" dirty="0">
              <a:solidFill>
                <a:srgbClr val="111111"/>
              </a:solidFill>
              <a:latin typeface="Consolas"/>
              <a:ea typeface="Consolas"/>
              <a:cs typeface="Consolas"/>
            </a:endParaRPr>
          </a:p>
        </p:txBody>
      </p:sp>
      <p:sp>
        <p:nvSpPr>
          <p:cNvPr id="10" name="rd">
            <a:extLst>
              <a:ext uri="{FF2B5EF4-FFF2-40B4-BE49-F238E27FC236}">
                <a16:creationId xmlns:a16="http://schemas.microsoft.com/office/drawing/2014/main" id="{655FE7A5-0B15-4BFD-9CA0-9DCD6BA86874}"/>
              </a:ext>
            </a:extLst>
          </p:cNvPr>
          <p:cNvSpPr>
            <a:spLocks noGrp="1"/>
          </p:cNvSpPr>
          <p:nvPr/>
        </p:nvSpPr>
        <p:spPr>
          <a:xfrm>
            <a:off x="4476750" y="3905250"/>
            <a:ext cx="3143250" cy="714375"/>
          </a:xfrm>
          <a:prstGeom prst="rect">
            <a:avLst/>
          </a:prstGeom>
          <a:noFill/>
          <a:ln w="0">
            <a:noFill/>
            <a:prstDash val="solid"/>
          </a:ln>
        </p:spPr>
        <p:txBody>
          <a:bodyPr lIns="0" tIns="0" rIns="0" bIns="0" anchor="ctr">
            <a:normAutofit/>
          </a:bodyPr>
          <a:lstStyle/>
          <a:p>
            <a:pPr algn="l">
              <a:defRPr sz="1500" b="0">
                <a:solidFill>
                  <a:srgbClr val="62666D"/>
                </a:solidFill>
                <a:latin typeface="Arial"/>
                <a:ea typeface="Arial"/>
                <a:cs typeface="Arial"/>
              </a:defRPr>
            </a:pPr>
            <a:r>
              <a:rPr lang="en-US" sz="1500" b="0">
                <a:solidFill>
                  <a:srgbClr val="62666D"/>
                </a:solidFill>
                <a:latin typeface="Arial"/>
                <a:ea typeface="Arial"/>
                <a:cs typeface="Arial"/>
              </a:rPr>
              <a:t>Five of nine real TOTAL fields
were found.</a:t>
            </a:r>
            <a:endParaRPr sz="1500" b="0">
              <a:solidFill>
                <a:srgbClr val="62666D"/>
              </a:solidFill>
              <a:latin typeface="Arial"/>
              <a:ea typeface="Arial"/>
              <a:cs typeface="Arial"/>
            </a:endParaRPr>
          </a:p>
        </p:txBody>
      </p:sp>
      <p:sp>
        <p:nvSpPr>
          <p:cNvPr id="11" name="fh">
            <a:extLst>
              <a:ext uri="{FF2B5EF4-FFF2-40B4-BE49-F238E27FC236}">
                <a16:creationId xmlns:a16="http://schemas.microsoft.com/office/drawing/2014/main" id="{47D3B81D-BADC-4844-AB16-B196F786681A}"/>
              </a:ext>
            </a:extLst>
          </p:cNvPr>
          <p:cNvSpPr>
            <a:spLocks noGrp="1"/>
          </p:cNvSpPr>
          <p:nvPr/>
        </p:nvSpPr>
        <p:spPr>
          <a:xfrm>
            <a:off x="8534400" y="2667000"/>
            <a:ext cx="3143250" cy="361950"/>
          </a:xfrm>
          <a:prstGeom prst="rect">
            <a:avLst/>
          </a:prstGeom>
          <a:noFill/>
          <a:ln w="0">
            <a:noFill/>
            <a:prstDash val="solid"/>
          </a:ln>
        </p:spPr>
        <p:txBody>
          <a:bodyPr lIns="0" tIns="0" rIns="0" bIns="0" anchor="ctr">
            <a:normAutofit/>
          </a:bodyPr>
          <a:lstStyle/>
          <a:p>
            <a:pPr algn="l">
              <a:defRPr sz="1725" b="1">
                <a:solidFill>
                  <a:srgbClr val="3D8DFF"/>
                </a:solidFill>
                <a:latin typeface="Arial"/>
                <a:ea typeface="Arial"/>
                <a:cs typeface="Arial"/>
              </a:defRPr>
            </a:pPr>
            <a:r>
              <a:rPr sz="1725" b="1">
                <a:solidFill>
                  <a:srgbClr val="3D8DFF"/>
                </a:solidFill>
                <a:latin typeface="Arial"/>
                <a:ea typeface="Arial"/>
                <a:cs typeface="Arial"/>
              </a:rPr>
              <a:t>F1 SCORE</a:t>
            </a:r>
          </a:p>
        </p:txBody>
      </p:sp>
      <p:sp>
        <p:nvSpPr>
          <p:cNvPr id="12" name="ff">
            <a:extLst>
              <a:ext uri="{FF2B5EF4-FFF2-40B4-BE49-F238E27FC236}">
                <a16:creationId xmlns:a16="http://schemas.microsoft.com/office/drawing/2014/main" id="{DFBAD14E-5118-43EA-B6F3-E7FDEB816020}"/>
              </a:ext>
            </a:extLst>
          </p:cNvPr>
          <p:cNvSpPr>
            <a:spLocks noGrp="1"/>
          </p:cNvSpPr>
          <p:nvPr/>
        </p:nvSpPr>
        <p:spPr>
          <a:xfrm>
            <a:off x="8534400" y="3143250"/>
            <a:ext cx="3143250" cy="1143000"/>
          </a:xfrm>
          <a:prstGeom prst="rect">
            <a:avLst/>
          </a:prstGeom>
          <a:noFill/>
          <a:ln w="0">
            <a:noFill/>
            <a:prstDash val="solid"/>
          </a:ln>
        </p:spPr>
        <p:txBody>
          <a:bodyPr lIns="0" tIns="0" rIns="0" bIns="0" anchor="ctr">
            <a:normAutofit/>
          </a:bodyPr>
          <a:lstStyle/>
          <a:p>
            <a:pPr algn="ctr">
              <a:defRPr sz="1875" b="1">
                <a:solidFill>
                  <a:srgbClr val="111111"/>
                </a:solidFill>
                <a:latin typeface="Consolas"/>
                <a:ea typeface="Consolas"/>
                <a:cs typeface="Consolas"/>
              </a:defRPr>
            </a:pPr>
            <a:r>
              <a:rPr lang="en-US" sz="1500" b="1">
                <a:solidFill>
                  <a:srgbClr val="111111"/>
                </a:solidFill>
                <a:latin typeface="Consolas"/>
                <a:ea typeface="Consolas"/>
                <a:cs typeface="Consolas"/>
              </a:rPr>
              <a:t>F1 = 2 × (Precision × Recall)
     / (Precision + Recall)
= 2 × (.71 × .56) / 1.27 = .63</a:t>
            </a:r>
            <a:endParaRPr sz="1500" b="1">
              <a:solidFill>
                <a:srgbClr val="111111"/>
              </a:solidFill>
              <a:latin typeface="Consolas"/>
              <a:ea typeface="Consolas"/>
              <a:cs typeface="Consolas"/>
            </a:endParaRPr>
          </a:p>
        </p:txBody>
      </p:sp>
      <p:sp>
        <p:nvSpPr>
          <p:cNvPr id="13" name="note">
            <a:extLst>
              <a:ext uri="{FF2B5EF4-FFF2-40B4-BE49-F238E27FC236}">
                <a16:creationId xmlns:a16="http://schemas.microsoft.com/office/drawing/2014/main" id="{BC66CE38-95B4-4818-94D9-75E8908D0970}"/>
              </a:ext>
            </a:extLst>
          </p:cNvPr>
          <p:cNvSpPr>
            <a:spLocks noGrp="1"/>
          </p:cNvSpPr>
          <p:nvPr/>
        </p:nvSpPr>
        <p:spPr>
          <a:xfrm>
            <a:off x="2190750" y="5095875"/>
            <a:ext cx="7810500" cy="666750"/>
          </a:xfrm>
          <a:prstGeom prst="rect">
            <a:avLst/>
          </a:prstGeom>
          <a:solidFill>
            <a:srgbClr val="D9F1FC"/>
          </a:solidFill>
          <a:ln w="0">
            <a:noFill/>
            <a:prstDash val="solid"/>
          </a:ln>
        </p:spPr>
        <p:txBody>
          <a:bodyPr/>
          <a:lstStyle/>
          <a:p>
            <a:endParaRPr lang="de-DE"/>
          </a:p>
        </p:txBody>
      </p:sp>
      <p:sp>
        <p:nvSpPr>
          <p:cNvPr id="14" name="note-text">
            <a:extLst>
              <a:ext uri="{FF2B5EF4-FFF2-40B4-BE49-F238E27FC236}">
                <a16:creationId xmlns:a16="http://schemas.microsoft.com/office/drawing/2014/main" id="{CD71813E-EB23-4C45-8784-5BF70BDBBC41}"/>
              </a:ext>
            </a:extLst>
          </p:cNvPr>
          <p:cNvSpPr>
            <a:spLocks noGrp="1"/>
          </p:cNvSpPr>
          <p:nvPr/>
        </p:nvSpPr>
        <p:spPr>
          <a:xfrm>
            <a:off x="2428875" y="5210175"/>
            <a:ext cx="7334250" cy="428625"/>
          </a:xfrm>
          <a:prstGeom prst="rect">
            <a:avLst/>
          </a:prstGeom>
          <a:noFill/>
          <a:ln w="0">
            <a:noFill/>
            <a:prstDash val="solid"/>
          </a:ln>
        </p:spPr>
        <p:txBody>
          <a:bodyPr lIns="0" tIns="0" rIns="0" bIns="0" anchor="ctr">
            <a:normAutofit fontScale="96465"/>
          </a:bodyPr>
          <a:lstStyle/>
          <a:p>
            <a:pPr algn="ctr">
              <a:defRPr sz="1800" b="1">
                <a:solidFill>
                  <a:srgbClr val="111111"/>
                </a:solidFill>
                <a:latin typeface="Arial"/>
                <a:ea typeface="Arial"/>
                <a:cs typeface="Arial"/>
              </a:defRPr>
            </a:pPr>
            <a:r>
              <a:rPr sz="1800" b="1">
                <a:solidFill>
                  <a:srgbClr val="111111"/>
                </a:solidFill>
                <a:latin typeface="Arial"/>
                <a:ea typeface="Arial"/>
                <a:cs typeface="Arial"/>
              </a:rPr>
              <a:t>The true negative is useful context, but it is not part of the F1 formula.</a:t>
            </a:r>
          </a:p>
        </p:txBody>
      </p:sp>
    </p:spTree>
    <p:extLst>
      <p:ext uri="{BB962C8B-B14F-4D97-AF65-F5344CB8AC3E}">
        <p14:creationId xmlns:p14="http://schemas.microsoft.com/office/powerpoint/2010/main" val="1498670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069E491-B3F9-4526-9695-834BAF584EEB}"/>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sz="3000" b="0">
                <a:solidFill>
                  <a:srgbClr val="111111"/>
                </a:solidFill>
                <a:latin typeface="Arial"/>
                <a:ea typeface="Arial"/>
                <a:cs typeface="Arial"/>
              </a:rPr>
              <a:t>PaddleOCR is the course starting point</a:t>
            </a:r>
          </a:p>
        </p:txBody>
      </p:sp>
      <p:sp>
        <p:nvSpPr>
          <p:cNvPr id="2" name="page">
            <a:extLst>
              <a:ext uri="{FF2B5EF4-FFF2-40B4-BE49-F238E27FC236}">
                <a16:creationId xmlns:a16="http://schemas.microsoft.com/office/drawing/2014/main" id="{3825909B-D561-42F9-A43B-5F801A5B897B}"/>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26</a:t>
            </a:r>
            <a:endParaRPr sz="975" b="0">
              <a:solidFill>
                <a:srgbClr val="62666D"/>
              </a:solidFill>
              <a:latin typeface="Arial"/>
              <a:ea typeface="Arial"/>
              <a:cs typeface="Arial"/>
            </a:endParaRPr>
          </a:p>
        </p:txBody>
      </p:sp>
      <p:sp>
        <p:nvSpPr>
          <p:cNvPr id="3" name="lead">
            <a:extLst>
              <a:ext uri="{FF2B5EF4-FFF2-40B4-BE49-F238E27FC236}">
                <a16:creationId xmlns:a16="http://schemas.microsoft.com/office/drawing/2014/main" id="{F1465E7D-ECEA-430C-A5F1-59852B1B2114}"/>
              </a:ext>
            </a:extLst>
          </p:cNvPr>
          <p:cNvSpPr>
            <a:spLocks noGrp="1"/>
          </p:cNvSpPr>
          <p:nvPr/>
        </p:nvSpPr>
        <p:spPr>
          <a:xfrm>
            <a:off x="419100" y="1381125"/>
            <a:ext cx="10763250" cy="685800"/>
          </a:xfrm>
          <a:prstGeom prst="rect">
            <a:avLst/>
          </a:prstGeom>
          <a:noFill/>
          <a:ln w="0">
            <a:noFill/>
            <a:prstDash val="solid"/>
          </a:ln>
        </p:spPr>
        <p:txBody>
          <a:bodyPr lIns="0" tIns="0" rIns="0" bIns="0" anchor="ctr">
            <a:normAutofit/>
          </a:bodyPr>
          <a:lstStyle/>
          <a:p>
            <a:pPr algn="l">
              <a:defRPr sz="2025" b="1">
                <a:solidFill>
                  <a:srgbClr val="111111"/>
                </a:solidFill>
                <a:latin typeface="Arial"/>
                <a:ea typeface="Arial"/>
                <a:cs typeface="Arial"/>
              </a:defRPr>
            </a:pPr>
            <a:r>
              <a:rPr sz="2025" b="1">
                <a:solidFill>
                  <a:srgbClr val="111111"/>
                </a:solidFill>
                <a:latin typeface="Arial"/>
                <a:ea typeface="Arial"/>
                <a:cs typeface="Arial"/>
              </a:rPr>
              <a:t>It installs within the Python environment and provides text detection and recognition in one pipeline.</a:t>
            </a:r>
          </a:p>
        </p:txBody>
      </p:sp>
      <p:sp>
        <p:nvSpPr>
          <p:cNvPr id="4" name="Gerader Verbinder 3">
            <a:extLst>
              <a:ext uri="{FF2B5EF4-FFF2-40B4-BE49-F238E27FC236}">
                <a16:creationId xmlns:a16="http://schemas.microsoft.com/office/drawing/2014/main" id="{6752E34C-2C2D-4C5F-B677-C11A2B5830D6}"/>
              </a:ext>
            </a:extLst>
          </p:cNvPr>
          <p:cNvSpPr>
            <a:spLocks noGrp="1"/>
          </p:cNvSpPr>
          <p:nvPr/>
        </p:nvSpPr>
        <p:spPr>
          <a:xfrm>
            <a:off x="419100" y="2286000"/>
            <a:ext cx="10915650" cy="0"/>
          </a:xfrm>
          <a:prstGeom prst="line">
            <a:avLst/>
          </a:prstGeom>
          <a:noFill/>
          <a:ln w="19050">
            <a:solidFill>
              <a:srgbClr val="B8BCC4"/>
            </a:solidFill>
            <a:prstDash val="solid"/>
          </a:ln>
        </p:spPr>
        <p:txBody>
          <a:bodyPr/>
          <a:lstStyle/>
          <a:p>
            <a:endParaRPr lang="de-DE"/>
          </a:p>
        </p:txBody>
      </p:sp>
      <p:sp>
        <p:nvSpPr>
          <p:cNvPr id="5" name="more">
            <a:extLst>
              <a:ext uri="{FF2B5EF4-FFF2-40B4-BE49-F238E27FC236}">
                <a16:creationId xmlns:a16="http://schemas.microsoft.com/office/drawing/2014/main" id="{A4C6B123-D80D-4AA6-8478-6AF77A23DD40}"/>
              </a:ext>
            </a:extLst>
          </p:cNvPr>
          <p:cNvSpPr>
            <a:spLocks noGrp="1"/>
          </p:cNvSpPr>
          <p:nvPr/>
        </p:nvSpPr>
        <p:spPr>
          <a:xfrm>
            <a:off x="419100" y="2619375"/>
            <a:ext cx="10763250" cy="400050"/>
          </a:xfrm>
          <a:prstGeom prst="rect">
            <a:avLst/>
          </a:prstGeom>
          <a:noFill/>
          <a:ln w="0">
            <a:noFill/>
            <a:prstDash val="solid"/>
          </a:ln>
        </p:spPr>
        <p:txBody>
          <a:bodyPr lIns="0" tIns="0" rIns="0" bIns="0" anchor="ctr">
            <a:normAutofit/>
          </a:bodyPr>
          <a:lstStyle/>
          <a:p>
            <a:pPr algn="l">
              <a:defRPr sz="1875" b="1">
                <a:solidFill>
                  <a:srgbClr val="3D8DFF"/>
                </a:solidFill>
                <a:latin typeface="Arial"/>
                <a:ea typeface="Arial"/>
                <a:cs typeface="Arial"/>
              </a:defRPr>
            </a:pPr>
            <a:r>
              <a:rPr sz="1875" b="1" dirty="0">
                <a:solidFill>
                  <a:srgbClr val="3D8DFF"/>
                </a:solidFill>
                <a:latin typeface="Arial"/>
                <a:ea typeface="Arial"/>
                <a:cs typeface="Arial"/>
              </a:rPr>
              <a:t>Other local OCR packages and models</a:t>
            </a:r>
          </a:p>
        </p:txBody>
      </p:sp>
      <p:sp>
        <p:nvSpPr>
          <p:cNvPr id="6" name="options">
            <a:extLst>
              <a:ext uri="{FF2B5EF4-FFF2-40B4-BE49-F238E27FC236}">
                <a16:creationId xmlns:a16="http://schemas.microsoft.com/office/drawing/2014/main" id="{6FE77658-BD25-49B2-AD2A-058621BC8F35}"/>
              </a:ext>
            </a:extLst>
          </p:cNvPr>
          <p:cNvSpPr>
            <a:spLocks noGrp="1"/>
          </p:cNvSpPr>
          <p:nvPr/>
        </p:nvSpPr>
        <p:spPr>
          <a:xfrm>
            <a:off x="419100" y="3190875"/>
            <a:ext cx="10763250" cy="2095500"/>
          </a:xfrm>
          <a:prstGeom prst="rect">
            <a:avLst/>
          </a:prstGeom>
          <a:noFill/>
          <a:ln w="0">
            <a:noFill/>
            <a:prstDash val="solid"/>
          </a:ln>
        </p:spPr>
        <p:txBody>
          <a:bodyPr lIns="0" tIns="0" rIns="0" bIns="0" anchor="ctr">
            <a:normAutofit/>
          </a:bodyPr>
          <a:lstStyle/>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Tesseract + pytesseract    transparent classical baseline</a:t>
            </a:r>
          </a:p>
          <a:p>
            <a:endParaRPr sz="1725" b="0">
              <a:solidFill>
                <a:srgbClr val="111111"/>
              </a:solidFill>
              <a:latin typeface="Consolas"/>
              <a:ea typeface="Consolas"/>
              <a:cs typeface="Consolas"/>
            </a:endParaRP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EasyOCR                     compact Python interface with pretrained recognition models</a:t>
            </a:r>
          </a:p>
          <a:p>
            <a:endParaRPr sz="1725" b="0">
              <a:solidFill>
                <a:srgbClr val="111111"/>
              </a:solidFill>
              <a:latin typeface="Consolas"/>
              <a:ea typeface="Consolas"/>
              <a:cs typeface="Consolas"/>
            </a:endParaRP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docTR                       modular detection and recognition pipeline</a:t>
            </a:r>
          </a:p>
          <a:p>
            <a:endParaRPr sz="1725" b="0">
              <a:solidFill>
                <a:srgbClr val="111111"/>
              </a:solidFill>
              <a:latin typeface="Consolas"/>
              <a:ea typeface="Consolas"/>
              <a:cs typeface="Consolas"/>
            </a:endParaRP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Kraken                      OCR toolkit with strong support for historical documents</a:t>
            </a:r>
          </a:p>
        </p:txBody>
      </p:sp>
      <p:sp>
        <p:nvSpPr>
          <p:cNvPr id="7" name="close-box">
            <a:extLst>
              <a:ext uri="{FF2B5EF4-FFF2-40B4-BE49-F238E27FC236}">
                <a16:creationId xmlns:a16="http://schemas.microsoft.com/office/drawing/2014/main" id="{0496B13B-5211-4515-9E61-F218AC051B23}"/>
              </a:ext>
            </a:extLst>
          </p:cNvPr>
          <p:cNvSpPr>
            <a:spLocks noGrp="1"/>
          </p:cNvSpPr>
          <p:nvPr/>
        </p:nvSpPr>
        <p:spPr>
          <a:xfrm>
            <a:off x="1619250" y="5476875"/>
            <a:ext cx="8953500" cy="590550"/>
          </a:xfrm>
          <a:prstGeom prst="rect">
            <a:avLst/>
          </a:prstGeom>
          <a:solidFill>
            <a:srgbClr val="D9F1FC"/>
          </a:solidFill>
          <a:ln w="0">
            <a:noFill/>
            <a:prstDash val="solid"/>
          </a:ln>
        </p:spPr>
        <p:txBody>
          <a:bodyPr/>
          <a:lstStyle/>
          <a:p>
            <a:endParaRPr lang="de-DE"/>
          </a:p>
        </p:txBody>
      </p:sp>
      <p:sp>
        <p:nvSpPr>
          <p:cNvPr id="8" name="close">
            <a:extLst>
              <a:ext uri="{FF2B5EF4-FFF2-40B4-BE49-F238E27FC236}">
                <a16:creationId xmlns:a16="http://schemas.microsoft.com/office/drawing/2014/main" id="{EE22D417-D124-40DA-8860-968B71E2A941}"/>
              </a:ext>
            </a:extLst>
          </p:cNvPr>
          <p:cNvSpPr>
            <a:spLocks noGrp="1"/>
          </p:cNvSpPr>
          <p:nvPr/>
        </p:nvSpPr>
        <p:spPr>
          <a:xfrm>
            <a:off x="1857375" y="5572125"/>
            <a:ext cx="8477250" cy="400050"/>
          </a:xfrm>
          <a:prstGeom prst="rect">
            <a:avLst/>
          </a:prstGeom>
          <a:noFill/>
          <a:ln w="0">
            <a:noFill/>
            <a:prstDash val="solid"/>
          </a:ln>
        </p:spPr>
        <p:txBody>
          <a:bodyPr lIns="0" tIns="0" rIns="0" bIns="0" anchor="ctr">
            <a:normAutofit/>
          </a:bodyPr>
          <a:lstStyle/>
          <a:p>
            <a:pPr algn="ctr">
              <a:defRPr sz="1725" b="1">
                <a:solidFill>
                  <a:srgbClr val="111111"/>
                </a:solidFill>
                <a:latin typeface="Arial"/>
                <a:ea typeface="Arial"/>
                <a:cs typeface="Arial"/>
              </a:defRPr>
            </a:pPr>
            <a:r>
              <a:rPr sz="1725" b="1">
                <a:solidFill>
                  <a:srgbClr val="111111"/>
                </a:solidFill>
                <a:latin typeface="Arial"/>
                <a:ea typeface="Arial"/>
                <a:cs typeface="Arial"/>
              </a:rPr>
              <a:t>Use the same synthetic images and ground truth when comparing alternatives.</a:t>
            </a:r>
          </a:p>
        </p:txBody>
      </p:sp>
    </p:spTree>
    <p:extLst>
      <p:ext uri="{BB962C8B-B14F-4D97-AF65-F5344CB8AC3E}">
        <p14:creationId xmlns:p14="http://schemas.microsoft.com/office/powerpoint/2010/main" val="483695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069E491-B3F9-4526-9695-834BAF584EEB}"/>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lang="en-US" sz="3000" b="0">
                <a:solidFill>
                  <a:srgbClr val="111111"/>
                </a:solidFill>
                <a:latin typeface="Arial"/>
                <a:ea typeface="Arial"/>
                <a:cs typeface="Arial"/>
              </a:rPr>
              <a:t>Tiling preserves small text in large document images</a:t>
            </a:r>
            <a:endParaRPr sz="3000" b="0">
              <a:solidFill>
                <a:srgbClr val="111111"/>
              </a:solidFill>
              <a:latin typeface="Arial"/>
              <a:ea typeface="Arial"/>
              <a:cs typeface="Arial"/>
            </a:endParaRPr>
          </a:p>
        </p:txBody>
      </p:sp>
      <p:sp>
        <p:nvSpPr>
          <p:cNvPr id="2" name="page">
            <a:extLst>
              <a:ext uri="{FF2B5EF4-FFF2-40B4-BE49-F238E27FC236}">
                <a16:creationId xmlns:a16="http://schemas.microsoft.com/office/drawing/2014/main" id="{3825909B-D561-42F9-A43B-5F801A5B897B}"/>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27</a:t>
            </a:r>
            <a:endParaRPr sz="975" b="0">
              <a:solidFill>
                <a:srgbClr val="62666D"/>
              </a:solidFill>
              <a:latin typeface="Arial"/>
              <a:ea typeface="Arial"/>
              <a:cs typeface="Arial"/>
            </a:endParaRPr>
          </a:p>
        </p:txBody>
      </p:sp>
      <p:sp>
        <p:nvSpPr>
          <p:cNvPr id="3" name="lead">
            <a:extLst>
              <a:ext uri="{FF2B5EF4-FFF2-40B4-BE49-F238E27FC236}">
                <a16:creationId xmlns:a16="http://schemas.microsoft.com/office/drawing/2014/main" id="{F1465E7D-ECEA-430C-A5F1-59852B1B2114}"/>
              </a:ext>
            </a:extLst>
          </p:cNvPr>
          <p:cNvSpPr>
            <a:spLocks noGrp="1"/>
          </p:cNvSpPr>
          <p:nvPr/>
        </p:nvSpPr>
        <p:spPr>
          <a:xfrm>
            <a:off x="419100" y="1381125"/>
            <a:ext cx="10763250" cy="685800"/>
          </a:xfrm>
          <a:prstGeom prst="rect">
            <a:avLst/>
          </a:prstGeom>
          <a:noFill/>
          <a:ln w="0">
            <a:noFill/>
            <a:prstDash val="solid"/>
          </a:ln>
        </p:spPr>
        <p:txBody>
          <a:bodyPr lIns="0" tIns="0" rIns="0" bIns="0" anchor="ctr">
            <a:normAutofit/>
          </a:bodyPr>
          <a:lstStyle/>
          <a:p>
            <a:pPr algn="l">
              <a:defRPr sz="2025" b="1">
                <a:solidFill>
                  <a:srgbClr val="111111"/>
                </a:solidFill>
                <a:latin typeface="Arial"/>
                <a:ea typeface="Arial"/>
                <a:cs typeface="Arial"/>
              </a:defRPr>
            </a:pPr>
            <a:r>
              <a:rPr lang="en-US" sz="2025" b="1">
                <a:solidFill>
                  <a:srgbClr val="111111"/>
                </a:solidFill>
                <a:latin typeface="Arial"/>
                <a:ea typeface="Arial"/>
                <a:cs typeface="Arial"/>
              </a:rPr>
              <a:t>Large scans are often downscaled before detection; overlapping tiles keep small characters readable and retain local detail.</a:t>
            </a:r>
            <a:endParaRPr sz="2025" b="1">
              <a:solidFill>
                <a:srgbClr val="111111"/>
              </a:solidFill>
              <a:latin typeface="Arial"/>
              <a:ea typeface="Arial"/>
              <a:cs typeface="Arial"/>
            </a:endParaRPr>
          </a:p>
        </p:txBody>
      </p:sp>
      <p:sp>
        <p:nvSpPr>
          <p:cNvPr id="4" name="Gerader Verbinder 3">
            <a:extLst>
              <a:ext uri="{FF2B5EF4-FFF2-40B4-BE49-F238E27FC236}">
                <a16:creationId xmlns:a16="http://schemas.microsoft.com/office/drawing/2014/main" id="{6752E34C-2C2D-4C5F-B677-C11A2B5830D6}"/>
              </a:ext>
            </a:extLst>
          </p:cNvPr>
          <p:cNvSpPr>
            <a:spLocks noGrp="1"/>
          </p:cNvSpPr>
          <p:nvPr/>
        </p:nvSpPr>
        <p:spPr>
          <a:xfrm>
            <a:off x="419100" y="2286000"/>
            <a:ext cx="10915650" cy="0"/>
          </a:xfrm>
          <a:prstGeom prst="line">
            <a:avLst/>
          </a:prstGeom>
          <a:noFill/>
          <a:ln w="19050">
            <a:solidFill>
              <a:srgbClr val="B8BCC4"/>
            </a:solidFill>
            <a:prstDash val="solid"/>
          </a:ln>
        </p:spPr>
        <p:txBody>
          <a:bodyPr/>
          <a:lstStyle/>
          <a:p>
            <a:endParaRPr lang="de-DE"/>
          </a:p>
        </p:txBody>
      </p:sp>
      <p:sp>
        <p:nvSpPr>
          <p:cNvPr id="5" name="more">
            <a:extLst>
              <a:ext uri="{FF2B5EF4-FFF2-40B4-BE49-F238E27FC236}">
                <a16:creationId xmlns:a16="http://schemas.microsoft.com/office/drawing/2014/main" id="{A4C6B123-D80D-4AA6-8478-6AF77A23DD40}"/>
              </a:ext>
            </a:extLst>
          </p:cNvPr>
          <p:cNvSpPr>
            <a:spLocks noGrp="1"/>
          </p:cNvSpPr>
          <p:nvPr/>
        </p:nvSpPr>
        <p:spPr>
          <a:xfrm>
            <a:off x="419100" y="2619375"/>
            <a:ext cx="10763250" cy="400050"/>
          </a:xfrm>
          <a:prstGeom prst="rect">
            <a:avLst/>
          </a:prstGeom>
          <a:noFill/>
          <a:ln w="0">
            <a:noFill/>
            <a:prstDash val="solid"/>
          </a:ln>
        </p:spPr>
        <p:txBody>
          <a:bodyPr lIns="0" tIns="0" rIns="0" bIns="0" anchor="ctr">
            <a:normAutofit/>
          </a:bodyPr>
          <a:lstStyle/>
          <a:p>
            <a:pPr algn="l">
              <a:defRPr sz="1875" b="1">
                <a:solidFill>
                  <a:srgbClr val="3D8DFF"/>
                </a:solidFill>
                <a:latin typeface="Arial"/>
                <a:ea typeface="Arial"/>
                <a:cs typeface="Arial"/>
              </a:defRPr>
            </a:pPr>
            <a:r>
              <a:rPr lang="de-DE" sz="1875" b="1">
                <a:solidFill>
                  <a:srgbClr val="3D8DFF"/>
                </a:solidFill>
                <a:latin typeface="Arial"/>
                <a:ea typeface="Arial"/>
                <a:cs typeface="Arial"/>
              </a:rPr>
              <a:t>Recommended starting configuration</a:t>
            </a:r>
            <a:endParaRPr sz="1875" b="1" dirty="0">
              <a:solidFill>
                <a:srgbClr val="3D8DFF"/>
              </a:solidFill>
              <a:latin typeface="Arial"/>
              <a:ea typeface="Arial"/>
              <a:cs typeface="Arial"/>
            </a:endParaRPr>
          </a:p>
        </p:txBody>
      </p:sp>
      <p:sp>
        <p:nvSpPr>
          <p:cNvPr id="6" name="options">
            <a:extLst>
              <a:ext uri="{FF2B5EF4-FFF2-40B4-BE49-F238E27FC236}">
                <a16:creationId xmlns:a16="http://schemas.microsoft.com/office/drawing/2014/main" id="{6FE77658-BD25-49B2-AD2A-058621BC8F35}"/>
              </a:ext>
            </a:extLst>
          </p:cNvPr>
          <p:cNvSpPr>
            <a:spLocks noGrp="1"/>
          </p:cNvSpPr>
          <p:nvPr/>
        </p:nvSpPr>
        <p:spPr>
          <a:xfrm>
            <a:off x="419100" y="3190875"/>
            <a:ext cx="10763250" cy="2095500"/>
          </a:xfrm>
          <a:prstGeom prst="rect">
            <a:avLst/>
          </a:prstGeom>
          <a:noFill/>
          <a:ln w="0">
            <a:noFill/>
            <a:prstDash val="solid"/>
          </a:ln>
        </p:spPr>
        <p:txBody>
          <a:bodyPr lIns="0" tIns="0" rIns="0" bIns="0" anchor="ctr">
            <a:normAutofit/>
          </a:bodyPr>
          <a:lstStyle/>
          <a:p>
            <a:pPr algn="l">
              <a:defRPr sz="1725" b="0">
                <a:solidFill>
                  <a:srgbClr val="111111"/>
                </a:solidFill>
                <a:latin typeface="Consolas"/>
                <a:ea typeface="Consolas"/>
                <a:cs typeface="Consolas"/>
              </a:defRPr>
            </a:pPr>
            <a:r>
              <a:rPr lang="de-DE" sz="1700" b="0">
                <a:solidFill>
                  <a:srgbClr val="111111"/>
                </a:solidFill>
                <a:latin typeface="Consolas"/>
                <a:ea typeface="Consolas"/>
                <a:cs typeface="Consolas"/>
              </a:rPr>
              <a:t>Tile size       1200 × 1200 px
Overlap         200 px
Stride          1000 px
Export          tile JSON + tile visualization</a:t>
            </a:r>
            <a:endParaRPr sz="1700" b="0">
              <a:solidFill>
                <a:srgbClr val="111111"/>
              </a:solidFill>
              <a:latin typeface="Consolas"/>
              <a:ea typeface="Consolas"/>
              <a:cs typeface="Consolas"/>
            </a:endParaRPr>
          </a:p>
        </p:txBody>
      </p:sp>
      <p:sp>
        <p:nvSpPr>
          <p:cNvPr id="7" name="close-box">
            <a:extLst>
              <a:ext uri="{FF2B5EF4-FFF2-40B4-BE49-F238E27FC236}">
                <a16:creationId xmlns:a16="http://schemas.microsoft.com/office/drawing/2014/main" id="{0496B13B-5211-4515-9E61-F218AC051B23}"/>
              </a:ext>
            </a:extLst>
          </p:cNvPr>
          <p:cNvSpPr>
            <a:spLocks noGrp="1"/>
          </p:cNvSpPr>
          <p:nvPr/>
        </p:nvSpPr>
        <p:spPr>
          <a:xfrm>
            <a:off x="1619250" y="5476875"/>
            <a:ext cx="8953500" cy="590550"/>
          </a:xfrm>
          <a:prstGeom prst="rect">
            <a:avLst/>
          </a:prstGeom>
          <a:solidFill>
            <a:srgbClr val="D9F1FC"/>
          </a:solidFill>
          <a:ln w="0">
            <a:noFill/>
            <a:prstDash val="solid"/>
          </a:ln>
        </p:spPr>
        <p:txBody>
          <a:bodyPr/>
          <a:lstStyle/>
          <a:p>
            <a:endParaRPr lang="de-DE"/>
          </a:p>
        </p:txBody>
      </p:sp>
      <p:sp>
        <p:nvSpPr>
          <p:cNvPr id="8" name="close">
            <a:extLst>
              <a:ext uri="{FF2B5EF4-FFF2-40B4-BE49-F238E27FC236}">
                <a16:creationId xmlns:a16="http://schemas.microsoft.com/office/drawing/2014/main" id="{EE22D417-D124-40DA-8860-968B71E2A941}"/>
              </a:ext>
            </a:extLst>
          </p:cNvPr>
          <p:cNvSpPr>
            <a:spLocks noGrp="1"/>
          </p:cNvSpPr>
          <p:nvPr/>
        </p:nvSpPr>
        <p:spPr>
          <a:xfrm>
            <a:off x="1857375" y="5572125"/>
            <a:ext cx="8477250" cy="400050"/>
          </a:xfrm>
          <a:prstGeom prst="rect">
            <a:avLst/>
          </a:prstGeom>
          <a:noFill/>
          <a:ln w="0">
            <a:noFill/>
            <a:prstDash val="solid"/>
          </a:ln>
        </p:spPr>
        <p:txBody>
          <a:bodyPr lIns="0" tIns="0" rIns="0" bIns="0" anchor="ctr">
            <a:normAutofit fontScale="92500" lnSpcReduction="20000"/>
          </a:bodyPr>
          <a:lstStyle/>
          <a:p>
            <a:pPr algn="ctr">
              <a:defRPr sz="1725" b="1">
                <a:solidFill>
                  <a:srgbClr val="111111"/>
                </a:solidFill>
                <a:latin typeface="Arial"/>
                <a:ea typeface="Arial"/>
                <a:cs typeface="Arial"/>
              </a:defRPr>
            </a:pPr>
            <a:r>
              <a:rPr lang="en-US" sz="1600" b="1">
                <a:solidFill>
                  <a:srgbClr val="111111"/>
                </a:solidFill>
                <a:latin typeface="Arial"/>
                <a:ea typeface="Arial"/>
                <a:cs typeface="Arial"/>
              </a:rPr>
              <a:t>Use tiles large enough for complete text lines and overlap enough to protect words at tile boundaries.</a:t>
            </a:r>
            <a:endParaRPr sz="1600" b="1">
              <a:solidFill>
                <a:srgbClr val="111111"/>
              </a:solidFill>
              <a:latin typeface="Arial"/>
              <a:ea typeface="Arial"/>
              <a:cs typeface="Arial"/>
            </a:endParaRPr>
          </a:p>
        </p:txBody>
      </p:sp>
    </p:spTree>
    <p:extLst>
      <p:ext uri="{BB962C8B-B14F-4D97-AF65-F5344CB8AC3E}">
        <p14:creationId xmlns:p14="http://schemas.microsoft.com/office/powerpoint/2010/main" val="2436797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069E491-B3F9-4526-9695-834BAF584EEB}"/>
              </a:ext>
            </a:extLst>
          </p:cNvPr>
          <p:cNvSpPr>
            <a:spLocks noGrp="1"/>
          </p:cNvSpPr>
          <p:nvPr/>
        </p:nvSpPr>
        <p:spPr>
          <a:xfrm>
            <a:off x="419100" y="304800"/>
            <a:ext cx="10953750" cy="838200"/>
          </a:xfrm>
          <a:prstGeom prst="rect">
            <a:avLst/>
          </a:prstGeom>
          <a:noFill/>
          <a:ln w="0">
            <a:noFill/>
            <a:prstDash val="solid"/>
          </a:ln>
        </p:spPr>
        <p:txBody>
          <a:bodyPr lIns="0" tIns="0" rIns="0" bIns="0" anchor="ctr">
            <a:normAutofit/>
          </a:bodyPr>
          <a:lstStyle/>
          <a:p>
            <a:pPr algn="l">
              <a:defRPr sz="3000" b="0">
                <a:solidFill>
                  <a:srgbClr val="111111"/>
                </a:solidFill>
                <a:latin typeface="Arial"/>
                <a:ea typeface="Arial"/>
                <a:cs typeface="Arial"/>
              </a:defRPr>
            </a:pPr>
            <a:r>
              <a:rPr lang="en-US" sz="3000" b="0">
                <a:solidFill>
                  <a:srgbClr val="111111"/>
                </a:solidFill>
                <a:latin typeface="Arial"/>
                <a:ea typeface="Arial"/>
                <a:cs typeface="Arial"/>
              </a:rPr>
              <a:t>Orient once, then run OCR tile by tile</a:t>
            </a:r>
            <a:endParaRPr sz="3000" b="0">
              <a:solidFill>
                <a:srgbClr val="111111"/>
              </a:solidFill>
              <a:latin typeface="Arial"/>
              <a:ea typeface="Arial"/>
              <a:cs typeface="Arial"/>
            </a:endParaRPr>
          </a:p>
        </p:txBody>
      </p:sp>
      <p:sp>
        <p:nvSpPr>
          <p:cNvPr id="2" name="page">
            <a:extLst>
              <a:ext uri="{FF2B5EF4-FFF2-40B4-BE49-F238E27FC236}">
                <a16:creationId xmlns:a16="http://schemas.microsoft.com/office/drawing/2014/main" id="{3825909B-D561-42F9-A43B-5F801A5B897B}"/>
              </a:ext>
            </a:extLst>
          </p:cNvPr>
          <p:cNvSpPr>
            <a:spLocks noGrp="1"/>
          </p:cNvSpPr>
          <p:nvPr/>
        </p:nvSpPr>
        <p:spPr>
          <a:xfrm>
            <a:off x="11334750" y="6362700"/>
            <a:ext cx="457200" cy="190500"/>
          </a:xfrm>
          <a:prstGeom prst="rect">
            <a:avLst/>
          </a:prstGeom>
          <a:noFill/>
          <a:ln w="0">
            <a:noFill/>
            <a:prstDash val="solid"/>
          </a:ln>
        </p:spPr>
        <p:txBody>
          <a:bodyPr lIns="0" tIns="0" rIns="0" bIns="0" anchor="ctr">
            <a:normAutofit/>
          </a:bodyPr>
          <a:lstStyle/>
          <a:p>
            <a:pPr algn="r">
              <a:defRPr sz="975" b="0">
                <a:solidFill>
                  <a:srgbClr val="62666D"/>
                </a:solidFill>
                <a:latin typeface="Arial"/>
                <a:ea typeface="Arial"/>
                <a:cs typeface="Arial"/>
              </a:defRPr>
            </a:pPr>
            <a:r>
              <a:rPr lang="de-DE" sz="975" b="0">
                <a:solidFill>
                  <a:srgbClr val="62666D"/>
                </a:solidFill>
                <a:latin typeface="Arial"/>
                <a:ea typeface="Arial"/>
                <a:cs typeface="Arial"/>
              </a:rPr>
              <a:t>28</a:t>
            </a:r>
            <a:endParaRPr sz="975" b="0">
              <a:solidFill>
                <a:srgbClr val="62666D"/>
              </a:solidFill>
              <a:latin typeface="Arial"/>
              <a:ea typeface="Arial"/>
              <a:cs typeface="Arial"/>
            </a:endParaRPr>
          </a:p>
        </p:txBody>
      </p:sp>
      <p:sp>
        <p:nvSpPr>
          <p:cNvPr id="3" name="lead">
            <a:extLst>
              <a:ext uri="{FF2B5EF4-FFF2-40B4-BE49-F238E27FC236}">
                <a16:creationId xmlns:a16="http://schemas.microsoft.com/office/drawing/2014/main" id="{F1465E7D-ECEA-430C-A5F1-59852B1B2114}"/>
              </a:ext>
            </a:extLst>
          </p:cNvPr>
          <p:cNvSpPr>
            <a:spLocks noGrp="1"/>
          </p:cNvSpPr>
          <p:nvPr/>
        </p:nvSpPr>
        <p:spPr>
          <a:xfrm>
            <a:off x="419100" y="1381125"/>
            <a:ext cx="10763250" cy="685800"/>
          </a:xfrm>
          <a:prstGeom prst="rect">
            <a:avLst/>
          </a:prstGeom>
          <a:noFill/>
          <a:ln w="0">
            <a:noFill/>
            <a:prstDash val="solid"/>
          </a:ln>
        </p:spPr>
        <p:txBody>
          <a:bodyPr lIns="0" tIns="0" rIns="0" bIns="0" anchor="ctr">
            <a:normAutofit/>
          </a:bodyPr>
          <a:lstStyle/>
          <a:p>
            <a:pPr algn="l">
              <a:defRPr sz="2025" b="1">
                <a:solidFill>
                  <a:srgbClr val="111111"/>
                </a:solidFill>
                <a:latin typeface="Arial"/>
                <a:ea typeface="Arial"/>
                <a:cs typeface="Arial"/>
              </a:defRPr>
            </a:pPr>
            <a:r>
              <a:rPr lang="en-US" sz="2025" b="1">
                <a:solidFill>
                  <a:srgbClr val="111111"/>
                </a:solidFill>
                <a:latin typeface="Arial"/>
                <a:ea typeface="Arial"/>
                <a:cs typeface="Arial"/>
              </a:rPr>
              <a:t>Determine orientation on the complete page before cropping; individual tiles often contain too little context for reliable classification.</a:t>
            </a:r>
            <a:endParaRPr sz="2025" b="1">
              <a:solidFill>
                <a:srgbClr val="111111"/>
              </a:solidFill>
              <a:latin typeface="Arial"/>
              <a:ea typeface="Arial"/>
              <a:cs typeface="Arial"/>
            </a:endParaRPr>
          </a:p>
        </p:txBody>
      </p:sp>
      <p:sp>
        <p:nvSpPr>
          <p:cNvPr id="4" name="Gerader Verbinder 3">
            <a:extLst>
              <a:ext uri="{FF2B5EF4-FFF2-40B4-BE49-F238E27FC236}">
                <a16:creationId xmlns:a16="http://schemas.microsoft.com/office/drawing/2014/main" id="{6752E34C-2C2D-4C5F-B677-C11A2B5830D6}"/>
              </a:ext>
            </a:extLst>
          </p:cNvPr>
          <p:cNvSpPr>
            <a:spLocks noGrp="1"/>
          </p:cNvSpPr>
          <p:nvPr/>
        </p:nvSpPr>
        <p:spPr>
          <a:xfrm>
            <a:off x="419100" y="2286000"/>
            <a:ext cx="10915650" cy="0"/>
          </a:xfrm>
          <a:prstGeom prst="line">
            <a:avLst/>
          </a:prstGeom>
          <a:noFill/>
          <a:ln w="19050">
            <a:solidFill>
              <a:srgbClr val="B8BCC4"/>
            </a:solidFill>
            <a:prstDash val="solid"/>
          </a:ln>
        </p:spPr>
        <p:txBody>
          <a:bodyPr/>
          <a:lstStyle/>
          <a:p>
            <a:endParaRPr lang="de-DE"/>
          </a:p>
        </p:txBody>
      </p:sp>
      <p:sp>
        <p:nvSpPr>
          <p:cNvPr id="5" name="more">
            <a:extLst>
              <a:ext uri="{FF2B5EF4-FFF2-40B4-BE49-F238E27FC236}">
                <a16:creationId xmlns:a16="http://schemas.microsoft.com/office/drawing/2014/main" id="{A4C6B123-D80D-4AA6-8478-6AF77A23DD40}"/>
              </a:ext>
            </a:extLst>
          </p:cNvPr>
          <p:cNvSpPr>
            <a:spLocks noGrp="1"/>
          </p:cNvSpPr>
          <p:nvPr/>
        </p:nvSpPr>
        <p:spPr>
          <a:xfrm>
            <a:off x="419100" y="2619375"/>
            <a:ext cx="10763250" cy="400050"/>
          </a:xfrm>
          <a:prstGeom prst="rect">
            <a:avLst/>
          </a:prstGeom>
          <a:noFill/>
          <a:ln w="0">
            <a:noFill/>
            <a:prstDash val="solid"/>
          </a:ln>
        </p:spPr>
        <p:txBody>
          <a:bodyPr lIns="0" tIns="0" rIns="0" bIns="0" anchor="ctr">
            <a:normAutofit/>
          </a:bodyPr>
          <a:lstStyle/>
          <a:p>
            <a:pPr algn="l">
              <a:defRPr sz="1875" b="1">
                <a:solidFill>
                  <a:srgbClr val="3D8DFF"/>
                </a:solidFill>
                <a:latin typeface="Arial"/>
                <a:ea typeface="Arial"/>
                <a:cs typeface="Arial"/>
              </a:defRPr>
            </a:pPr>
            <a:r>
              <a:rPr lang="de-DE" sz="1875" b="1">
                <a:solidFill>
                  <a:srgbClr val="3D8DFF"/>
                </a:solidFill>
                <a:latin typeface="Arial"/>
                <a:ea typeface="Arial"/>
                <a:cs typeface="Arial"/>
              </a:rPr>
              <a:t>Processing sequence</a:t>
            </a:r>
            <a:endParaRPr sz="1875" b="1" dirty="0">
              <a:solidFill>
                <a:srgbClr val="3D8DFF"/>
              </a:solidFill>
              <a:latin typeface="Arial"/>
              <a:ea typeface="Arial"/>
              <a:cs typeface="Arial"/>
            </a:endParaRPr>
          </a:p>
        </p:txBody>
      </p:sp>
      <p:sp>
        <p:nvSpPr>
          <p:cNvPr id="6" name="options">
            <a:extLst>
              <a:ext uri="{FF2B5EF4-FFF2-40B4-BE49-F238E27FC236}">
                <a16:creationId xmlns:a16="http://schemas.microsoft.com/office/drawing/2014/main" id="{6FE77658-BD25-49B2-AD2A-058621BC8F35}"/>
              </a:ext>
            </a:extLst>
          </p:cNvPr>
          <p:cNvSpPr>
            <a:spLocks noGrp="1"/>
          </p:cNvSpPr>
          <p:nvPr/>
        </p:nvSpPr>
        <p:spPr>
          <a:xfrm>
            <a:off x="419100" y="3190875"/>
            <a:ext cx="10763250" cy="2095500"/>
          </a:xfrm>
          <a:prstGeom prst="rect">
            <a:avLst/>
          </a:prstGeom>
          <a:noFill/>
          <a:ln w="0">
            <a:noFill/>
            <a:prstDash val="solid"/>
          </a:ln>
        </p:spPr>
        <p:txBody>
          <a:bodyPr lIns="0" tIns="0" rIns="0" bIns="0" anchor="ctr">
            <a:normAutofit/>
          </a:bodyPr>
          <a:lstStyle/>
          <a:p>
            <a:pPr algn="l">
              <a:defRPr sz="1725" b="0">
                <a:solidFill>
                  <a:srgbClr val="111111"/>
                </a:solidFill>
                <a:latin typeface="Consolas"/>
                <a:ea typeface="Consolas"/>
                <a:cs typeface="Consolas"/>
              </a:defRPr>
            </a:pPr>
            <a:r>
              <a:rPr lang="en-US" sz="1500" b="0">
                <a:solidFill>
                  <a:srgbClr val="111111"/>
                </a:solidFill>
                <a:latin typeface="Consolas"/>
                <a:ea typeface="Consolas"/>
                <a:cs typeface="Consolas"/>
              </a:rPr>
              <a:t>1  Load the complete TIFF image
2  Classify page orientation: 0° / 90° / 180° / 270°
3  Rotate the complete image
4  Generate overlapping tiles
5  Run PaddleOCR predict() with orientation disabled
6  Add tile offsets and merge duplicate detections</a:t>
            </a:r>
            <a:endParaRPr sz="1500" b="0">
              <a:solidFill>
                <a:srgbClr val="111111"/>
              </a:solidFill>
              <a:latin typeface="Consolas"/>
              <a:ea typeface="Consolas"/>
              <a:cs typeface="Consolas"/>
            </a:endParaRPr>
          </a:p>
        </p:txBody>
      </p:sp>
      <p:sp>
        <p:nvSpPr>
          <p:cNvPr id="7" name="close-box">
            <a:extLst>
              <a:ext uri="{FF2B5EF4-FFF2-40B4-BE49-F238E27FC236}">
                <a16:creationId xmlns:a16="http://schemas.microsoft.com/office/drawing/2014/main" id="{0496B13B-5211-4515-9E61-F218AC051B23}"/>
              </a:ext>
            </a:extLst>
          </p:cNvPr>
          <p:cNvSpPr>
            <a:spLocks noGrp="1"/>
          </p:cNvSpPr>
          <p:nvPr/>
        </p:nvSpPr>
        <p:spPr>
          <a:xfrm>
            <a:off x="1619250" y="5476875"/>
            <a:ext cx="8953500" cy="590550"/>
          </a:xfrm>
          <a:prstGeom prst="rect">
            <a:avLst/>
          </a:prstGeom>
          <a:solidFill>
            <a:srgbClr val="D9F1FC"/>
          </a:solidFill>
          <a:ln w="0">
            <a:noFill/>
            <a:prstDash val="solid"/>
          </a:ln>
        </p:spPr>
        <p:txBody>
          <a:bodyPr/>
          <a:lstStyle/>
          <a:p>
            <a:endParaRPr lang="de-DE"/>
          </a:p>
        </p:txBody>
      </p:sp>
      <p:sp>
        <p:nvSpPr>
          <p:cNvPr id="8" name="close">
            <a:extLst>
              <a:ext uri="{FF2B5EF4-FFF2-40B4-BE49-F238E27FC236}">
                <a16:creationId xmlns:a16="http://schemas.microsoft.com/office/drawing/2014/main" id="{EE22D417-D124-40DA-8860-968B71E2A941}"/>
              </a:ext>
            </a:extLst>
          </p:cNvPr>
          <p:cNvSpPr>
            <a:spLocks noGrp="1"/>
          </p:cNvSpPr>
          <p:nvPr/>
        </p:nvSpPr>
        <p:spPr>
          <a:xfrm>
            <a:off x="1857375" y="5572125"/>
            <a:ext cx="8477250" cy="400050"/>
          </a:xfrm>
          <a:prstGeom prst="rect">
            <a:avLst/>
          </a:prstGeom>
          <a:noFill/>
          <a:ln w="0">
            <a:noFill/>
            <a:prstDash val="solid"/>
          </a:ln>
        </p:spPr>
        <p:txBody>
          <a:bodyPr lIns="0" tIns="0" rIns="0" bIns="0" anchor="ctr">
            <a:normAutofit fontScale="92500" lnSpcReduction="10000"/>
          </a:bodyPr>
          <a:lstStyle/>
          <a:p>
            <a:pPr algn="ctr">
              <a:defRPr sz="1725" b="1">
                <a:solidFill>
                  <a:srgbClr val="111111"/>
                </a:solidFill>
                <a:latin typeface="Arial"/>
                <a:ea typeface="Arial"/>
                <a:cs typeface="Arial"/>
              </a:defRPr>
            </a:pPr>
            <a:r>
              <a:rPr lang="en-US" sz="1500" b="1">
                <a:solidFill>
                  <a:srgbClr val="111111"/>
                </a:solidFill>
                <a:latin typeface="Arial"/>
                <a:ea typeface="Arial"/>
                <a:cs typeface="Arial"/>
              </a:rPr>
              <a:t>Merged boxes use the oriented page coordinates; transform them back only if the original TIFF coordinate system is required.</a:t>
            </a:r>
            <a:endParaRPr sz="1500" b="1">
              <a:solidFill>
                <a:srgbClr val="111111"/>
              </a:solidFill>
              <a:latin typeface="Arial"/>
              <a:ea typeface="Arial"/>
              <a:cs typeface="Arial"/>
            </a:endParaRPr>
          </a:p>
        </p:txBody>
      </p:sp>
    </p:spTree>
    <p:extLst>
      <p:ext uri="{BB962C8B-B14F-4D97-AF65-F5344CB8AC3E}">
        <p14:creationId xmlns:p14="http://schemas.microsoft.com/office/powerpoint/2010/main" val="24485681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19"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691FB6-3C45-4C51-8DBC-662F652A786F}">
  <we:reference id="wa200010215" version="2.0.0.1" store="en-US" storeType="OMEX"/>
  <we:alternateReferences>
    <we:reference id="wa200010215" version="2.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3953</Words>
  <Application>Microsoft Office PowerPoint</Application>
  <DocSecurity>0</DocSecurity>
  <PresentationFormat>Breitbild</PresentationFormat>
  <Paragraphs>487</Paragraphs>
  <Slides>28</Slides>
  <Notes>28</Notes>
  <HiddenSlides>3</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28</vt:i4>
      </vt:variant>
    </vt:vector>
  </HeadingPairs>
  <TitlesOfParts>
    <vt:vector size="32" baseType="lpstr">
      <vt:lpstr>Arial</vt:lpstr>
      <vt:lpstr>Calibri</vt:lpstr>
      <vt:lpstr>Consolas</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Katharina Simbeck</cp:lastModifiedBy>
  <cp:revision>8</cp:revision>
  <dcterms:created xsi:type="dcterms:W3CDTF">2026-09-18T09:24:12Z</dcterms:created>
  <dcterms:modified xsi:type="dcterms:W3CDTF">2026-09-29T06:19:17Z</dcterms:modified>
</cp:coreProperties>
</file>